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3" r:id="rId3"/>
    <p:sldId id="266" r:id="rId4"/>
    <p:sldId id="265" r:id="rId5"/>
    <p:sldId id="258" r:id="rId6"/>
    <p:sldId id="271" r:id="rId7"/>
    <p:sldId id="260" r:id="rId8"/>
    <p:sldId id="257" r:id="rId9"/>
    <p:sldId id="272" r:id="rId10"/>
    <p:sldId id="262" r:id="rId11"/>
    <p:sldId id="261" r:id="rId12"/>
    <p:sldId id="269" r:id="rId13"/>
    <p:sldId id="270" r:id="rId14"/>
    <p:sldId id="268" r:id="rId15"/>
    <p:sldId id="267" r:id="rId16"/>
    <p:sldId id="273" r:id="rId17"/>
    <p:sldId id="264" r:id="rId18"/>
    <p:sldId id="259"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46"/>
  </p:normalViewPr>
  <p:slideViewPr>
    <p:cSldViewPr snapToGrid="0">
      <p:cViewPr>
        <p:scale>
          <a:sx n="83" d="100"/>
          <a:sy n="83" d="100"/>
        </p:scale>
        <p:origin x="116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3553425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622036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‹Nr.›</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5125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3134484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3429218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920227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3719180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150653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602193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‹Nr.›</a:t>
            </a:fld>
            <a:endParaRPr lang="en-US"/>
          </a:p>
        </p:txBody>
      </p:sp>
    </p:spTree>
    <p:extLst>
      <p:ext uri="{BB962C8B-B14F-4D97-AF65-F5344CB8AC3E}">
        <p14:creationId xmlns:p14="http://schemas.microsoft.com/office/powerpoint/2010/main" val="172637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6/9/25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‹Nr.›</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1134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6/9/25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‹Nr.›</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4130687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5" name="Picture 2">
            <a:extLst>
              <a:ext uri="{FF2B5EF4-FFF2-40B4-BE49-F238E27FC236}">
                <a16:creationId xmlns:a16="http://schemas.microsoft.com/office/drawing/2014/main" id="{44CD67AC-E04B-4BC9-34CA-859D62273938}"/>
              </a:ext>
            </a:extLst>
          </p:cNvPr>
          <p:cNvPicPr>
            <a:picLocks noChangeAspect="1"/>
          </p:cNvPicPr>
          <p:nvPr/>
        </p:nvPicPr>
        <p:blipFill>
          <a:blip r:embed="rId2"/>
          <a:srcRect t="38445" b="5305"/>
          <a:stretch>
            <a:fillRect/>
          </a:stretch>
        </p:blipFill>
        <p:spPr>
          <a:xfrm>
            <a:off x="20" y="10"/>
            <a:ext cx="12191979" cy="6857990"/>
          </a:xfrm>
          <a:prstGeom prst="rect">
            <a:avLst/>
          </a:prstGeom>
        </p:spPr>
      </p:pic>
      <p:sp>
        <p:nvSpPr>
          <p:cNvPr id="16" name="Rectangle 9">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el 1">
            <a:extLst>
              <a:ext uri="{FF2B5EF4-FFF2-40B4-BE49-F238E27FC236}">
                <a16:creationId xmlns:a16="http://schemas.microsoft.com/office/drawing/2014/main" id="{7EEF2CED-6DCA-E936-4DFE-518C63423B9D}"/>
              </a:ext>
            </a:extLst>
          </p:cNvPr>
          <p:cNvSpPr>
            <a:spLocks noGrp="1"/>
          </p:cNvSpPr>
          <p:nvPr>
            <p:ph type="ctrTitle"/>
          </p:nvPr>
        </p:nvSpPr>
        <p:spPr>
          <a:xfrm>
            <a:off x="438910" y="978408"/>
            <a:ext cx="4795819" cy="3969960"/>
          </a:xfrm>
        </p:spPr>
        <p:txBody>
          <a:bodyPr anchor="t">
            <a:normAutofit/>
          </a:bodyPr>
          <a:lstStyle/>
          <a:p>
            <a:r>
              <a:rPr lang="de-DE" sz="4600"/>
              <a:t>Spielesammlung</a:t>
            </a:r>
          </a:p>
        </p:txBody>
      </p:sp>
      <p:sp>
        <p:nvSpPr>
          <p:cNvPr id="17" name="Rectangle 11">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8339370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DA58-94FF-F5DD-83C6-3B79192DAA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ABC856-0B0B-D9A6-B56A-F9A944D1F511}"/>
              </a:ext>
            </a:extLst>
          </p:cNvPr>
          <p:cNvSpPr>
            <a:spLocks noGrp="1"/>
          </p:cNvSpPr>
          <p:nvPr>
            <p:ph type="title"/>
          </p:nvPr>
        </p:nvSpPr>
        <p:spPr/>
        <p:txBody>
          <a:bodyPr/>
          <a:lstStyle/>
          <a:p>
            <a:r>
              <a:rPr lang="de-DE" dirty="0"/>
              <a:t>Code-Namen</a:t>
            </a:r>
          </a:p>
        </p:txBody>
      </p:sp>
    </p:spTree>
    <p:extLst>
      <p:ext uri="{BB962C8B-B14F-4D97-AF65-F5344CB8AC3E}">
        <p14:creationId xmlns:p14="http://schemas.microsoft.com/office/powerpoint/2010/main" val="293785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963AA6-B1B4-6C70-392D-013BD45384F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92AEFE8-1EB5-E9D4-B0F4-285B79C84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5E059CD-AC24-48C0-3EF3-F8C7F65E0C2C}"/>
              </a:ext>
            </a:extLst>
          </p:cNvPr>
          <p:cNvSpPr>
            <a:spLocks noGrp="1"/>
          </p:cNvSpPr>
          <p:nvPr>
            <p:ph type="title"/>
          </p:nvPr>
        </p:nvSpPr>
        <p:spPr>
          <a:xfrm>
            <a:off x="387371" y="-102727"/>
            <a:ext cx="5029200" cy="1463040"/>
          </a:xfrm>
        </p:spPr>
        <p:txBody>
          <a:bodyPr>
            <a:normAutofit/>
          </a:bodyPr>
          <a:lstStyle/>
          <a:p>
            <a:r>
              <a:rPr lang="de-DE" dirty="0"/>
              <a:t>Codename</a:t>
            </a:r>
          </a:p>
        </p:txBody>
      </p:sp>
      <p:sp>
        <p:nvSpPr>
          <p:cNvPr id="19" name="Rectangle 18">
            <a:extLst>
              <a:ext uri="{FF2B5EF4-FFF2-40B4-BE49-F238E27FC236}">
                <a16:creationId xmlns:a16="http://schemas.microsoft.com/office/drawing/2014/main" id="{E53C5806-FD36-70A2-7BC8-F5ED613D7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F696CC14-AD47-2510-0B50-02D90FF0D96C}"/>
              </a:ext>
            </a:extLst>
          </p:cNvPr>
          <p:cNvSpPr>
            <a:spLocks noGrp="1"/>
          </p:cNvSpPr>
          <p:nvPr>
            <p:ph idx="1"/>
          </p:nvPr>
        </p:nvSpPr>
        <p:spPr>
          <a:xfrm>
            <a:off x="460040" y="2715006"/>
            <a:ext cx="4957208" cy="1188006"/>
          </a:xfrm>
        </p:spPr>
        <p:txBody>
          <a:bodyPr>
            <a:normAutofit/>
          </a:bodyPr>
          <a:lstStyle/>
          <a:p>
            <a:pPr marL="0" indent="0">
              <a:buNone/>
            </a:pPr>
            <a:r>
              <a:rPr lang="de-DE" sz="1600" b="1" dirty="0"/>
              <a:t>Aufgabe: </a:t>
            </a:r>
            <a:r>
              <a:rPr lang="de-DE" sz="1600" dirty="0"/>
              <a:t>Schreibe auf ein Blatt deinen Namen, deine erst, zweit und Drittwahl, falte das Blatt und gib es ab.</a:t>
            </a:r>
          </a:p>
          <a:p>
            <a:pPr marL="0" indent="0">
              <a:buNone/>
            </a:pPr>
            <a:r>
              <a:rPr lang="de-DE" sz="1600" b="1" dirty="0">
                <a:solidFill>
                  <a:srgbClr val="FF0000"/>
                </a:solidFill>
              </a:rPr>
              <a:t>Lass es niemanden sehen!!!</a:t>
            </a:r>
          </a:p>
        </p:txBody>
      </p:sp>
      <p:sp>
        <p:nvSpPr>
          <p:cNvPr id="3" name="Gefaltete Ecke 2">
            <a:extLst>
              <a:ext uri="{FF2B5EF4-FFF2-40B4-BE49-F238E27FC236}">
                <a16:creationId xmlns:a16="http://schemas.microsoft.com/office/drawing/2014/main" id="{92D7DBEC-21B6-D7F7-BE77-C45CFF2EA5FB}"/>
              </a:ext>
            </a:extLst>
          </p:cNvPr>
          <p:cNvSpPr/>
          <p:nvPr/>
        </p:nvSpPr>
        <p:spPr>
          <a:xfrm>
            <a:off x="779708" y="3788936"/>
            <a:ext cx="4062984" cy="2337539"/>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b="1" dirty="0"/>
              <a:t>Mein Name: _____________________</a:t>
            </a:r>
          </a:p>
          <a:p>
            <a:endParaRPr lang="de-DE" sz="1600" dirty="0"/>
          </a:p>
          <a:p>
            <a:r>
              <a:rPr lang="de-DE" sz="1600" dirty="0"/>
              <a:t>Ich würde gerne folgenden Alias wählen: </a:t>
            </a:r>
          </a:p>
          <a:p>
            <a:r>
              <a:rPr lang="de-DE" sz="1600" dirty="0" err="1"/>
              <a:t>Erstwahl</a:t>
            </a:r>
            <a:r>
              <a:rPr lang="de-DE" sz="1600" dirty="0"/>
              <a:t>: ________________</a:t>
            </a:r>
          </a:p>
          <a:p>
            <a:r>
              <a:rPr lang="de-DE" sz="1600" dirty="0"/>
              <a:t>Zweitwahl: ______________</a:t>
            </a:r>
          </a:p>
          <a:p>
            <a:r>
              <a:rPr lang="de-DE" sz="1600" dirty="0"/>
              <a:t>Drittwahl: ________________</a:t>
            </a:r>
          </a:p>
        </p:txBody>
      </p:sp>
      <p:graphicFrame>
        <p:nvGraphicFramePr>
          <p:cNvPr id="4" name="Tabelle 3">
            <a:extLst>
              <a:ext uri="{FF2B5EF4-FFF2-40B4-BE49-F238E27FC236}">
                <a16:creationId xmlns:a16="http://schemas.microsoft.com/office/drawing/2014/main" id="{3CB062FA-73E7-EA67-E7E2-634D4EE8B76C}"/>
              </a:ext>
            </a:extLst>
          </p:cNvPr>
          <p:cNvGraphicFramePr>
            <a:graphicFrameLocks noGrp="1"/>
          </p:cNvGraphicFramePr>
          <p:nvPr>
            <p:extLst>
              <p:ext uri="{D42A27DB-BD31-4B8C-83A1-F6EECF244321}">
                <p14:modId xmlns:p14="http://schemas.microsoft.com/office/powerpoint/2010/main" val="2812548640"/>
              </p:ext>
            </p:extLst>
          </p:nvPr>
        </p:nvGraphicFramePr>
        <p:xfrm>
          <a:off x="5622400" y="0"/>
          <a:ext cx="6652948" cy="6807835"/>
        </p:xfrm>
        <a:graphic>
          <a:graphicData uri="http://schemas.openxmlformats.org/drawingml/2006/table">
            <a:tbl>
              <a:tblPr firstRow="1" firstCol="1" bandRow="1">
                <a:tableStyleId>{5C22544A-7EE6-4342-B048-85BDC9FD1C3A}</a:tableStyleId>
              </a:tblPr>
              <a:tblGrid>
                <a:gridCol w="1873129">
                  <a:extLst>
                    <a:ext uri="{9D8B030D-6E8A-4147-A177-3AD203B41FA5}">
                      <a16:colId xmlns:a16="http://schemas.microsoft.com/office/drawing/2014/main" val="4268910757"/>
                    </a:ext>
                  </a:extLst>
                </a:gridCol>
                <a:gridCol w="1615814">
                  <a:extLst>
                    <a:ext uri="{9D8B030D-6E8A-4147-A177-3AD203B41FA5}">
                      <a16:colId xmlns:a16="http://schemas.microsoft.com/office/drawing/2014/main" val="321966385"/>
                    </a:ext>
                  </a:extLst>
                </a:gridCol>
                <a:gridCol w="3164005">
                  <a:extLst>
                    <a:ext uri="{9D8B030D-6E8A-4147-A177-3AD203B41FA5}">
                      <a16:colId xmlns:a16="http://schemas.microsoft.com/office/drawing/2014/main" val="1579334919"/>
                    </a:ext>
                  </a:extLst>
                </a:gridCol>
              </a:tblGrid>
              <a:tr h="180000">
                <a:tc>
                  <a:txBody>
                    <a:bodyPr/>
                    <a:lstStyle/>
                    <a:p>
                      <a:pPr>
                        <a:lnSpc>
                          <a:spcPct val="115000"/>
                        </a:lnSpc>
                        <a:spcAft>
                          <a:spcPts val="1000"/>
                        </a:spcAft>
                        <a:buNone/>
                      </a:pPr>
                      <a:r>
                        <a:rPr lang="de-DE" sz="1200" noProof="0" dirty="0">
                          <a:solidFill>
                            <a:schemeClr val="tx1"/>
                          </a:solidFill>
                          <a:effectLst/>
                        </a:rPr>
                        <a:t>Name</a:t>
                      </a:r>
                      <a:endParaRPr lang="de-DE" sz="1200" noProof="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200" noProof="0" dirty="0">
                          <a:solidFill>
                            <a:schemeClr val="tx1"/>
                          </a:solidFill>
                          <a:effectLst/>
                        </a:rPr>
                        <a:t>Fachgebiet</a:t>
                      </a:r>
                      <a:endParaRPr lang="de-DE" sz="1200" noProof="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200" noProof="0" dirty="0">
                          <a:solidFill>
                            <a:schemeClr val="tx1"/>
                          </a:solidFill>
                          <a:effectLst/>
                        </a:rPr>
                        <a:t>Warum bekannt </a:t>
                      </a:r>
                      <a:endParaRPr lang="de-DE" sz="1200" noProof="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4289048468"/>
                  </a:ext>
                </a:extLst>
              </a:tr>
              <a:tr h="180000">
                <a:tc>
                  <a:txBody>
                    <a:bodyPr/>
                    <a:lstStyle/>
                    <a:p>
                      <a:pPr>
                        <a:lnSpc>
                          <a:spcPct val="115000"/>
                        </a:lnSpc>
                        <a:spcAft>
                          <a:spcPts val="1000"/>
                        </a:spcAft>
                        <a:buNone/>
                      </a:pPr>
                      <a:r>
                        <a:rPr lang="de-DE" sz="1200" noProof="0" dirty="0">
                          <a:effectLst/>
                        </a:rPr>
                        <a:t>Albert Einstein</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Physik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Relativitätstheorie, bekannt aus Schulbüchern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3191727160"/>
                  </a:ext>
                </a:extLst>
              </a:tr>
              <a:tr h="180000">
                <a:tc>
                  <a:txBody>
                    <a:bodyPr/>
                    <a:lstStyle/>
                    <a:p>
                      <a:pPr>
                        <a:lnSpc>
                          <a:spcPct val="115000"/>
                        </a:lnSpc>
                        <a:spcAft>
                          <a:spcPts val="1000"/>
                        </a:spcAft>
                        <a:buNone/>
                      </a:pPr>
                      <a:r>
                        <a:rPr lang="de-DE" sz="1200" noProof="0" dirty="0">
                          <a:effectLst/>
                        </a:rPr>
                        <a:t>Marie Curie</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Physik/Chemie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Radioaktivität, Nobelpreise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3855705631"/>
                  </a:ext>
                </a:extLst>
              </a:tr>
              <a:tr h="180000">
                <a:tc>
                  <a:txBody>
                    <a:bodyPr/>
                    <a:lstStyle/>
                    <a:p>
                      <a:pPr>
                        <a:lnSpc>
                          <a:spcPct val="115000"/>
                        </a:lnSpc>
                        <a:spcAft>
                          <a:spcPts val="1000"/>
                        </a:spcAft>
                        <a:buNone/>
                      </a:pPr>
                      <a:r>
                        <a:rPr lang="de-DE" sz="1200" noProof="0" dirty="0">
                          <a:effectLst/>
                        </a:rPr>
                        <a:t>Isaac Newton</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Physik/Mathematik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Schwerkraft, Apfel-Geschichte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861310221"/>
                  </a:ext>
                </a:extLst>
              </a:tr>
              <a:tr h="180000">
                <a:tc>
                  <a:txBody>
                    <a:bodyPr/>
                    <a:lstStyle/>
                    <a:p>
                      <a:pPr>
                        <a:lnSpc>
                          <a:spcPct val="115000"/>
                        </a:lnSpc>
                        <a:spcAft>
                          <a:spcPts val="1000"/>
                        </a:spcAft>
                        <a:buNone/>
                      </a:pPr>
                      <a:r>
                        <a:rPr lang="de-DE" sz="1200" noProof="0" dirty="0">
                          <a:effectLst/>
                        </a:rPr>
                        <a:t>Galileo Galilei</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Astronomie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Erde bewegt sich, Teleskop</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292615773"/>
                  </a:ext>
                </a:extLst>
              </a:tr>
              <a:tr h="180000">
                <a:tc>
                  <a:txBody>
                    <a:bodyPr/>
                    <a:lstStyle/>
                    <a:p>
                      <a:pPr>
                        <a:lnSpc>
                          <a:spcPct val="115000"/>
                        </a:lnSpc>
                        <a:spcAft>
                          <a:spcPts val="1000"/>
                        </a:spcAft>
                        <a:buNone/>
                      </a:pPr>
                      <a:r>
                        <a:rPr lang="de-DE" sz="1200" noProof="0" dirty="0">
                          <a:effectLst/>
                        </a:rPr>
                        <a:t>Alexander von Humboldt</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Naturforschung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Entdecker, Namensgeber vieler Schulen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3934355201"/>
                  </a:ext>
                </a:extLst>
              </a:tr>
              <a:tr h="180000">
                <a:tc>
                  <a:txBody>
                    <a:bodyPr/>
                    <a:lstStyle/>
                    <a:p>
                      <a:pPr>
                        <a:lnSpc>
                          <a:spcPct val="115000"/>
                        </a:lnSpc>
                        <a:spcAft>
                          <a:spcPts val="1000"/>
                        </a:spcAft>
                        <a:buNone/>
                      </a:pPr>
                      <a:r>
                        <a:rPr lang="de-DE" sz="1200" noProof="0" dirty="0">
                          <a:effectLst/>
                        </a:rPr>
                        <a:t>Stephen Hawking</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Kosmologie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Schwarze Löcher, Rollstuhl, Popkultur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81655672"/>
                  </a:ext>
                </a:extLst>
              </a:tr>
              <a:tr h="180000">
                <a:tc>
                  <a:txBody>
                    <a:bodyPr/>
                    <a:lstStyle/>
                    <a:p>
                      <a:pPr>
                        <a:lnSpc>
                          <a:spcPct val="115000"/>
                        </a:lnSpc>
                        <a:spcAft>
                          <a:spcPts val="1000"/>
                        </a:spcAft>
                        <a:buNone/>
                      </a:pPr>
                      <a:r>
                        <a:rPr lang="de-DE" sz="1200" noProof="0" dirty="0">
                          <a:effectLst/>
                        </a:rPr>
                        <a:t>Carl Friedrich Gauß</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Mathematik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Mathe-Genie, Formeln in der Schule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323831615"/>
                  </a:ext>
                </a:extLst>
              </a:tr>
              <a:tr h="180000">
                <a:tc>
                  <a:txBody>
                    <a:bodyPr/>
                    <a:lstStyle/>
                    <a:p>
                      <a:pPr>
                        <a:lnSpc>
                          <a:spcPct val="115000"/>
                        </a:lnSpc>
                        <a:spcAft>
                          <a:spcPts val="1000"/>
                        </a:spcAft>
                        <a:buNone/>
                      </a:pPr>
                      <a:r>
                        <a:rPr lang="de-DE" sz="1200" noProof="0" dirty="0">
                          <a:effectLst/>
                        </a:rPr>
                        <a:t>Leonardo da Vinci</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Kunst/Wissenschaft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Erfinder, Mona Lisa, oft in Kinderlexika</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3014814454"/>
                  </a:ext>
                </a:extLst>
              </a:tr>
              <a:tr h="180000">
                <a:tc>
                  <a:txBody>
                    <a:bodyPr/>
                    <a:lstStyle/>
                    <a:p>
                      <a:pPr>
                        <a:lnSpc>
                          <a:spcPct val="115000"/>
                        </a:lnSpc>
                        <a:spcAft>
                          <a:spcPts val="1000"/>
                        </a:spcAft>
                        <a:buNone/>
                      </a:pPr>
                      <a:r>
                        <a:rPr lang="de-DE" sz="1200" noProof="0" dirty="0">
                          <a:effectLst/>
                        </a:rPr>
                        <a:t>Jane Goodall</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Biologie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err="1">
                          <a:effectLst/>
                        </a:rPr>
                        <a:t>Schimpansenforschung</a:t>
                      </a:r>
                      <a:r>
                        <a:rPr lang="de-DE" sz="1100" noProof="0" dirty="0">
                          <a:effectLst/>
                        </a:rPr>
                        <a:t>, Tierdokus</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4018501063"/>
                  </a:ext>
                </a:extLst>
              </a:tr>
              <a:tr h="180000">
                <a:tc>
                  <a:txBody>
                    <a:bodyPr/>
                    <a:lstStyle/>
                    <a:p>
                      <a:pPr>
                        <a:lnSpc>
                          <a:spcPct val="115000"/>
                        </a:lnSpc>
                        <a:spcAft>
                          <a:spcPts val="1000"/>
                        </a:spcAft>
                        <a:buNone/>
                      </a:pPr>
                      <a:r>
                        <a:rPr lang="de-DE" sz="1200" noProof="0" dirty="0">
                          <a:effectLst/>
                        </a:rPr>
                        <a:t>Gregor Mendel</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Genetik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Vererbung mit Erbsen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720193618"/>
                  </a:ext>
                </a:extLst>
              </a:tr>
              <a:tr h="180000">
                <a:tc>
                  <a:txBody>
                    <a:bodyPr/>
                    <a:lstStyle/>
                    <a:p>
                      <a:pPr>
                        <a:lnSpc>
                          <a:spcPct val="115000"/>
                        </a:lnSpc>
                        <a:spcAft>
                          <a:spcPts val="1000"/>
                        </a:spcAft>
                        <a:buNone/>
                      </a:pPr>
                      <a:r>
                        <a:rPr lang="de-DE" sz="1200" noProof="0" dirty="0">
                          <a:effectLst/>
                        </a:rPr>
                        <a:t>Ada Lovelace</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Informatik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Erste Programmiererin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53565745"/>
                  </a:ext>
                </a:extLst>
              </a:tr>
              <a:tr h="180000">
                <a:tc>
                  <a:txBody>
                    <a:bodyPr/>
                    <a:lstStyle/>
                    <a:p>
                      <a:pPr>
                        <a:lnSpc>
                          <a:spcPct val="115000"/>
                        </a:lnSpc>
                        <a:spcAft>
                          <a:spcPts val="1000"/>
                        </a:spcAft>
                        <a:buNone/>
                      </a:pPr>
                      <a:r>
                        <a:rPr lang="de-DE" sz="1200" noProof="0" dirty="0">
                          <a:effectLst/>
                        </a:rPr>
                        <a:t>Alan Turing</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Informatik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Turingmaschine, Enigma</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012391522"/>
                  </a:ext>
                </a:extLst>
              </a:tr>
              <a:tr h="180000">
                <a:tc>
                  <a:txBody>
                    <a:bodyPr/>
                    <a:lstStyle/>
                    <a:p>
                      <a:pPr>
                        <a:lnSpc>
                          <a:spcPct val="115000"/>
                        </a:lnSpc>
                        <a:spcAft>
                          <a:spcPts val="1000"/>
                        </a:spcAft>
                        <a:buNone/>
                      </a:pPr>
                      <a:r>
                        <a:rPr lang="de-DE" sz="1200" noProof="0" dirty="0">
                          <a:effectLst/>
                        </a:rPr>
                        <a:t>Tim Berners-Lee</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Informatik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Erfinder des World Wide Web</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719988095"/>
                  </a:ext>
                </a:extLst>
              </a:tr>
              <a:tr h="180000">
                <a:tc>
                  <a:txBody>
                    <a:bodyPr/>
                    <a:lstStyle/>
                    <a:p>
                      <a:pPr>
                        <a:lnSpc>
                          <a:spcPct val="115000"/>
                        </a:lnSpc>
                        <a:spcAft>
                          <a:spcPts val="1000"/>
                        </a:spcAft>
                        <a:buNone/>
                      </a:pPr>
                      <a:r>
                        <a:rPr lang="de-DE" sz="1200" noProof="0" dirty="0">
                          <a:effectLst/>
                        </a:rPr>
                        <a:t>Konrad Zuse</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Informatik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Erbauer des ersten Computers</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519411723"/>
                  </a:ext>
                </a:extLst>
              </a:tr>
              <a:tr h="180000">
                <a:tc>
                  <a:txBody>
                    <a:bodyPr/>
                    <a:lstStyle/>
                    <a:p>
                      <a:pPr>
                        <a:lnSpc>
                          <a:spcPct val="115000"/>
                        </a:lnSpc>
                        <a:spcAft>
                          <a:spcPts val="1000"/>
                        </a:spcAft>
                        <a:buNone/>
                      </a:pPr>
                      <a:r>
                        <a:rPr lang="de-DE" sz="1200" noProof="0" dirty="0">
                          <a:effectLst/>
                        </a:rPr>
                        <a:t>Emmy Noether</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Mathematik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Abstrakte Algebra, Noether-Theorem</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897514281"/>
                  </a:ext>
                </a:extLst>
              </a:tr>
              <a:tr h="180000">
                <a:tc>
                  <a:txBody>
                    <a:bodyPr/>
                    <a:lstStyle/>
                    <a:p>
                      <a:pPr>
                        <a:lnSpc>
                          <a:spcPct val="115000"/>
                        </a:lnSpc>
                        <a:spcAft>
                          <a:spcPts val="1000"/>
                        </a:spcAft>
                        <a:buNone/>
                      </a:pPr>
                      <a:r>
                        <a:rPr lang="de-DE" sz="1200" noProof="0" dirty="0">
                          <a:effectLst/>
                        </a:rPr>
                        <a:t>Anne Frank</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Zeitgeschichte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Tagebuch, Schulstoff</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409048185"/>
                  </a:ext>
                </a:extLst>
              </a:tr>
              <a:tr h="180000">
                <a:tc>
                  <a:txBody>
                    <a:bodyPr/>
                    <a:lstStyle/>
                    <a:p>
                      <a:pPr>
                        <a:lnSpc>
                          <a:spcPct val="115000"/>
                        </a:lnSpc>
                        <a:spcAft>
                          <a:spcPts val="1000"/>
                        </a:spcAft>
                        <a:buNone/>
                      </a:pPr>
                      <a:r>
                        <a:rPr lang="de-DE" sz="1200" noProof="0" dirty="0">
                          <a:effectLst/>
                        </a:rPr>
                        <a:t>Martin Luther King Jr.</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Geschichte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Bürgerrechte, Ethik-Unterricht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176515482"/>
                  </a:ext>
                </a:extLst>
              </a:tr>
              <a:tr h="180000">
                <a:tc>
                  <a:txBody>
                    <a:bodyPr/>
                    <a:lstStyle/>
                    <a:p>
                      <a:pPr>
                        <a:lnSpc>
                          <a:spcPct val="115000"/>
                        </a:lnSpc>
                        <a:spcAft>
                          <a:spcPts val="1000"/>
                        </a:spcAft>
                        <a:buNone/>
                      </a:pPr>
                      <a:r>
                        <a:rPr lang="de-DE" sz="1200" noProof="0" dirty="0">
                          <a:effectLst/>
                        </a:rPr>
                        <a:t>Astrid Lindgren</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Kinderliteratur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Pippi Langstrumpf, Kinderrechte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306954337"/>
                  </a:ext>
                </a:extLst>
              </a:tr>
              <a:tr h="180000">
                <a:tc>
                  <a:txBody>
                    <a:bodyPr/>
                    <a:lstStyle/>
                    <a:p>
                      <a:pPr>
                        <a:lnSpc>
                          <a:spcPct val="115000"/>
                        </a:lnSpc>
                        <a:spcAft>
                          <a:spcPts val="1000"/>
                        </a:spcAft>
                        <a:buNone/>
                      </a:pPr>
                      <a:r>
                        <a:rPr lang="de-DE" sz="1200" noProof="0" dirty="0">
                          <a:effectLst/>
                        </a:rPr>
                        <a:t>Neil Armstrong</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Raumfahrt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Erster Mensch auf dem Mond</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4008518493"/>
                  </a:ext>
                </a:extLst>
              </a:tr>
              <a:tr h="180000">
                <a:tc>
                  <a:txBody>
                    <a:bodyPr/>
                    <a:lstStyle/>
                    <a:p>
                      <a:pPr>
                        <a:lnSpc>
                          <a:spcPct val="115000"/>
                        </a:lnSpc>
                        <a:spcAft>
                          <a:spcPts val="1000"/>
                        </a:spcAft>
                        <a:buNone/>
                      </a:pPr>
                      <a:r>
                        <a:rPr lang="de-DE" sz="1200" noProof="0" dirty="0">
                          <a:effectLst/>
                        </a:rPr>
                        <a:t>Rosa Parks</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Geschichte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Bürgerrechtsbewegung, Vorbild</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2406185296"/>
                  </a:ext>
                </a:extLst>
              </a:tr>
              <a:tr h="180000">
                <a:tc>
                  <a:txBody>
                    <a:bodyPr/>
                    <a:lstStyle/>
                    <a:p>
                      <a:pPr>
                        <a:lnSpc>
                          <a:spcPct val="115000"/>
                        </a:lnSpc>
                        <a:spcAft>
                          <a:spcPts val="1000"/>
                        </a:spcAft>
                        <a:buNone/>
                      </a:pPr>
                      <a:r>
                        <a:rPr lang="de-DE" sz="1200" noProof="0" dirty="0">
                          <a:effectLst/>
                        </a:rPr>
                        <a:t>Robert Koch</a:t>
                      </a:r>
                      <a:endParaRPr lang="de-DE" sz="12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Medizin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tc>
                  <a:txBody>
                    <a:bodyPr/>
                    <a:lstStyle/>
                    <a:p>
                      <a:pPr>
                        <a:lnSpc>
                          <a:spcPct val="115000"/>
                        </a:lnSpc>
                        <a:spcAft>
                          <a:spcPts val="1000"/>
                        </a:spcAft>
                        <a:buNone/>
                      </a:pPr>
                      <a:r>
                        <a:rPr lang="de-DE" sz="1100" noProof="0" dirty="0">
                          <a:effectLst/>
                        </a:rPr>
                        <a:t>Bakterienforschung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24793" marR="24793" marT="0" marB="0"/>
                </a:tc>
                <a:extLst>
                  <a:ext uri="{0D108BD9-81ED-4DB2-BD59-A6C34878D82A}">
                    <a16:rowId xmlns:a16="http://schemas.microsoft.com/office/drawing/2014/main" val="1019857655"/>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Alexander Fleming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Medizin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Penicillin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968516"/>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Florence Nightingale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Pflege/Medizin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Reform der Krankenpflege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64754458"/>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May-Britt Moser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Neurowissenschaften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Nobelpreis, Gehirnforschung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35324394"/>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Albert Schweitzer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Medizin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Friedensnobelpreis, Afrika-Arzt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69252237"/>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Harald Lesch</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Wissenschaft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Terra X, YouTube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77268010"/>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Joachim Hecker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Technik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Experimente in 'Sendung mit der Maus'</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92030674"/>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Benjamin Franklin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Physik, Erfindung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Blitzableiter und den Franklin-Ofen erfunden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47085197"/>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Johannes Kepler</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050" i="1" noProof="0" dirty="0">
                          <a:effectLst/>
                          <a:latin typeface="Aptos" panose="020B0004020202020204" pitchFamily="34" charset="0"/>
                          <a:ea typeface="MS Mincho" panose="02020609040205080304" pitchFamily="49" charset="-128"/>
                          <a:cs typeface="Times New Roman" panose="02020603050405020304" pitchFamily="18" charset="0"/>
                        </a:rPr>
                        <a:t>Astronomie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Keplerschen Gesetze zur Planetenbewegung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74545022"/>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Michael Faraday</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i="1" noProof="0" dirty="0">
                          <a:effectLst/>
                          <a:latin typeface="Aptos" panose="020B0004020202020204" pitchFamily="34" charset="0"/>
                          <a:ea typeface="MS Mincho" panose="02020609040205080304" pitchFamily="49" charset="-128"/>
                          <a:cs typeface="Times New Roman" panose="02020603050405020304" pitchFamily="18" charset="0"/>
                        </a:rPr>
                        <a:t>Physik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Elektromagnetismus (Generatoren, Motoren)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33422913"/>
                  </a:ext>
                </a:extLst>
              </a:tr>
              <a:tr h="180000">
                <a:tc>
                  <a:txBody>
                    <a:bodyPr/>
                    <a:lstStyle/>
                    <a:p>
                      <a:pPr>
                        <a:lnSpc>
                          <a:spcPct val="115000"/>
                        </a:lnSpc>
                        <a:spcAft>
                          <a:spcPts val="1000"/>
                        </a:spcAft>
                        <a:buNone/>
                      </a:pPr>
                      <a:r>
                        <a:rPr lang="de-DE" sz="1100" b="1" noProof="0" dirty="0">
                          <a:effectLst/>
                          <a:latin typeface="Aptos" panose="020B0004020202020204" pitchFamily="34" charset="0"/>
                          <a:ea typeface="MS Mincho" panose="02020609040205080304" pitchFamily="49" charset="-128"/>
                          <a:cs typeface="Times New Roman" panose="02020603050405020304" pitchFamily="18" charset="0"/>
                        </a:rPr>
                        <a:t>Alfred Wegener</a:t>
                      </a:r>
                      <a:endParaRPr lang="de-DE" sz="1100" b="1"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Geowissenschaften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Begründer der Theorie der Kontinentaldrift</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21025894"/>
                  </a:ext>
                </a:extLst>
              </a:tr>
              <a:tr h="180000">
                <a:tc>
                  <a:txBody>
                    <a:bodyPr/>
                    <a:lstStyle/>
                    <a:p>
                      <a:pPr>
                        <a:lnSpc>
                          <a:spcPct val="115000"/>
                        </a:lnSpc>
                        <a:spcAft>
                          <a:spcPts val="1000"/>
                        </a:spcAft>
                        <a:buNone/>
                      </a:pPr>
                      <a:r>
                        <a:rPr lang="de-DE" sz="1100" b="1" noProof="0" dirty="0">
                          <a:effectLst/>
                          <a:latin typeface="Aptos" panose="020B0004020202020204" pitchFamily="34" charset="0"/>
                          <a:ea typeface="MS Mincho" panose="02020609040205080304" pitchFamily="49" charset="-128"/>
                          <a:cs typeface="Times New Roman" panose="02020603050405020304" pitchFamily="18" charset="0"/>
                        </a:rPr>
                        <a:t>Johannes Gutenberg</a:t>
                      </a:r>
                      <a:endParaRPr lang="de-DE" sz="1100" b="1"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Technik/Geschichte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Erfinder des Buchdrucks</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47836502"/>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Eratosthenes</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Mathematik / Geografie</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Berechnete als Erster recht genau den Erdumfang</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09599982"/>
                  </a:ext>
                </a:extLst>
              </a:tr>
              <a:tr h="180000">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Barbara McClintock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Genetik</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e-DE" sz="1100" noProof="0" dirty="0">
                          <a:effectLst/>
                          <a:latin typeface="Aptos" panose="020B0004020202020204" pitchFamily="34" charset="0"/>
                          <a:ea typeface="MS Mincho" panose="02020609040205080304" pitchFamily="49" charset="-128"/>
                          <a:cs typeface="Times New Roman" panose="02020603050405020304" pitchFamily="18" charset="0"/>
                        </a:rPr>
                        <a:t>Entdeckte springende Gene – Nobelpreisträgerin</a:t>
                      </a:r>
                      <a:endParaRPr lang="de-DE" sz="1100" noProof="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63778547"/>
                  </a:ext>
                </a:extLst>
              </a:tr>
            </a:tbl>
          </a:graphicData>
        </a:graphic>
      </p:graphicFrame>
      <p:sp>
        <p:nvSpPr>
          <p:cNvPr id="5" name="Content Placeholder 13">
            <a:extLst>
              <a:ext uri="{FF2B5EF4-FFF2-40B4-BE49-F238E27FC236}">
                <a16:creationId xmlns:a16="http://schemas.microsoft.com/office/drawing/2014/main" id="{532D0CD1-D83F-6208-00F4-AF4C4CADC26A}"/>
              </a:ext>
            </a:extLst>
          </p:cNvPr>
          <p:cNvSpPr txBox="1">
            <a:spLocks/>
          </p:cNvSpPr>
          <p:nvPr/>
        </p:nvSpPr>
        <p:spPr>
          <a:xfrm>
            <a:off x="517870" y="6157950"/>
            <a:ext cx="4841549" cy="73152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400" b="1" dirty="0"/>
              <a:t>Bonus: </a:t>
            </a:r>
            <a:r>
              <a:rPr lang="de-DE" sz="1400" dirty="0"/>
              <a:t>Informiere dich ganz kurz im Internet, über die drei Personen, die du gewählt hast. </a:t>
            </a:r>
          </a:p>
        </p:txBody>
      </p:sp>
      <p:pic>
        <p:nvPicPr>
          <p:cNvPr id="8" name="Grafik 7">
            <a:extLst>
              <a:ext uri="{FF2B5EF4-FFF2-40B4-BE49-F238E27FC236}">
                <a16:creationId xmlns:a16="http://schemas.microsoft.com/office/drawing/2014/main" id="{71EA132A-D9D7-64B7-68FD-8FBB13409795}"/>
              </a:ext>
            </a:extLst>
          </p:cNvPr>
          <p:cNvPicPr>
            <a:picLocks noChangeAspect="1"/>
          </p:cNvPicPr>
          <p:nvPr/>
        </p:nvPicPr>
        <p:blipFill>
          <a:blip r:embed="rId2"/>
          <a:srcRect b="19211"/>
          <a:stretch>
            <a:fillRect/>
          </a:stretch>
        </p:blipFill>
        <p:spPr>
          <a:xfrm>
            <a:off x="517381" y="760107"/>
            <a:ext cx="4081802" cy="1852172"/>
          </a:xfrm>
          <a:prstGeom prst="rect">
            <a:avLst/>
          </a:prstGeom>
        </p:spPr>
      </p:pic>
    </p:spTree>
    <p:extLst>
      <p:ext uri="{BB962C8B-B14F-4D97-AF65-F5344CB8AC3E}">
        <p14:creationId xmlns:p14="http://schemas.microsoft.com/office/powerpoint/2010/main" val="1916724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E1305-8AB1-CAF6-EFD4-FF5E53B8A8E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053263-507C-A891-7BA4-F8D4300F2663}"/>
              </a:ext>
            </a:extLst>
          </p:cNvPr>
          <p:cNvSpPr>
            <a:spLocks noGrp="1"/>
          </p:cNvSpPr>
          <p:nvPr>
            <p:ph type="title"/>
          </p:nvPr>
        </p:nvSpPr>
        <p:spPr/>
        <p:txBody>
          <a:bodyPr/>
          <a:lstStyle/>
          <a:p>
            <a:r>
              <a:rPr lang="de-DE" dirty="0"/>
              <a:t>Namen lernen</a:t>
            </a:r>
          </a:p>
        </p:txBody>
      </p:sp>
    </p:spTree>
    <p:extLst>
      <p:ext uri="{BB962C8B-B14F-4D97-AF65-F5344CB8AC3E}">
        <p14:creationId xmlns:p14="http://schemas.microsoft.com/office/powerpoint/2010/main" val="3418146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E0517-EC38-71AC-0A80-6F1F2EFB5F5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46AC322-30FA-F6D7-E209-B8F693C92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A3A018B-46D8-EFF5-7678-5148D5D18359}"/>
              </a:ext>
            </a:extLst>
          </p:cNvPr>
          <p:cNvSpPr>
            <a:spLocks noGrp="1"/>
          </p:cNvSpPr>
          <p:nvPr>
            <p:ph type="title"/>
          </p:nvPr>
        </p:nvSpPr>
        <p:spPr>
          <a:xfrm>
            <a:off x="521208" y="978408"/>
            <a:ext cx="5029200" cy="1463040"/>
          </a:xfrm>
        </p:spPr>
        <p:txBody>
          <a:bodyPr>
            <a:normAutofit/>
          </a:bodyPr>
          <a:lstStyle/>
          <a:p>
            <a:r>
              <a:rPr lang="de-DE" dirty="0"/>
              <a:t>Zip-</a:t>
            </a:r>
            <a:r>
              <a:rPr lang="de-DE" dirty="0" err="1"/>
              <a:t>Zap</a:t>
            </a:r>
            <a:endParaRPr lang="de-DE" dirty="0"/>
          </a:p>
        </p:txBody>
      </p:sp>
      <p:sp>
        <p:nvSpPr>
          <p:cNvPr id="19" name="Rectangle 18">
            <a:extLst>
              <a:ext uri="{FF2B5EF4-FFF2-40B4-BE49-F238E27FC236}">
                <a16:creationId xmlns:a16="http://schemas.microsoft.com/office/drawing/2014/main" id="{58A543D3-59B6-304A-373D-69AF1B8E2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2E9D2E6F-2BBB-D90B-B608-2DDF8287CF36}"/>
              </a:ext>
            </a:extLst>
          </p:cNvPr>
          <p:cNvSpPr>
            <a:spLocks noGrp="1"/>
          </p:cNvSpPr>
          <p:nvPr>
            <p:ph idx="1"/>
          </p:nvPr>
        </p:nvSpPr>
        <p:spPr>
          <a:xfrm>
            <a:off x="521208" y="2000250"/>
            <a:ext cx="5501276" cy="4345686"/>
          </a:xfrm>
        </p:spPr>
        <p:txBody>
          <a:bodyPr>
            <a:normAutofit fontScale="92500" lnSpcReduction="10000"/>
          </a:bodyPr>
          <a:lstStyle/>
          <a:p>
            <a:pPr marL="0" indent="0" algn="just">
              <a:buNone/>
            </a:pPr>
            <a:r>
              <a:rPr lang="de-DE" dirty="0"/>
              <a:t>Der Spielleiter steht in der Mitte des Stuhlkreises. Er geht auf eine Person zu und sagt </a:t>
            </a:r>
            <a:r>
              <a:rPr lang="de-DE" b="1" dirty="0">
                <a:solidFill>
                  <a:srgbClr val="00B050"/>
                </a:solidFill>
              </a:rPr>
              <a:t>"ZIP" </a:t>
            </a:r>
            <a:r>
              <a:rPr lang="de-DE" dirty="0"/>
              <a:t>oder </a:t>
            </a:r>
            <a:r>
              <a:rPr lang="de-DE" b="1" dirty="0">
                <a:solidFill>
                  <a:srgbClr val="00B050"/>
                </a:solidFill>
              </a:rPr>
              <a:t>"ZAP". </a:t>
            </a:r>
            <a:r>
              <a:rPr lang="de-DE" dirty="0"/>
              <a:t>Wenn der Spielleiter "ZIP" sagt, muss der angesprochenen Spieler schnell den Namen seines linken Nachbarn nennen. Bei "ZAP" muss er schnell den Namen seines rechten Nachbarn sagen.</a:t>
            </a:r>
          </a:p>
          <a:p>
            <a:pPr marL="0" indent="0" algn="just">
              <a:buNone/>
            </a:pPr>
            <a:r>
              <a:rPr lang="de-DE" dirty="0"/>
              <a:t>Wenn er dies schnell und richtig schafft, geht es einfach weiter, macht der angesprochene einen Fehler oder ist zu langsam muss er selbst in die Mitte. </a:t>
            </a:r>
          </a:p>
          <a:p>
            <a:pPr marL="0" indent="0" algn="just">
              <a:buNone/>
            </a:pPr>
            <a:r>
              <a:rPr lang="de-DE" dirty="0"/>
              <a:t>Damit die Nachbarn wechseln und man nicht immer nur die gleichen Leute nennen muss gibt es noch </a:t>
            </a:r>
            <a:r>
              <a:rPr lang="de-DE" b="1" dirty="0">
                <a:solidFill>
                  <a:srgbClr val="00B050"/>
                </a:solidFill>
              </a:rPr>
              <a:t>"ZIP-ZAP", </a:t>
            </a:r>
            <a:r>
              <a:rPr lang="de-DE" dirty="0"/>
              <a:t>dann müssen alle Spieler die Plätze wechseln. </a:t>
            </a:r>
          </a:p>
          <a:p>
            <a:pPr marL="0" indent="0" algn="just">
              <a:buNone/>
            </a:pPr>
            <a:r>
              <a:rPr lang="de-DE" i="1" dirty="0"/>
              <a:t>Bei dem Befehl "Zip-</a:t>
            </a:r>
            <a:r>
              <a:rPr lang="de-DE" i="1" dirty="0" err="1"/>
              <a:t>Zap</a:t>
            </a:r>
            <a:r>
              <a:rPr lang="de-DE" i="1" dirty="0"/>
              <a:t>" kann die Regel eingeführt werden "ihr müsst mindestens 3 Stühle weiter gehen".</a:t>
            </a:r>
            <a:endParaRPr lang="de-DE" dirty="0"/>
          </a:p>
        </p:txBody>
      </p:sp>
      <p:pic>
        <p:nvPicPr>
          <p:cNvPr id="7" name="Grafik 6">
            <a:extLst>
              <a:ext uri="{FF2B5EF4-FFF2-40B4-BE49-F238E27FC236}">
                <a16:creationId xmlns:a16="http://schemas.microsoft.com/office/drawing/2014/main" id="{D0AB3F03-8739-4D1D-3976-051850AAFDF6}"/>
              </a:ext>
            </a:extLst>
          </p:cNvPr>
          <p:cNvPicPr>
            <a:picLocks noChangeAspect="1"/>
          </p:cNvPicPr>
          <p:nvPr/>
        </p:nvPicPr>
        <p:blipFill>
          <a:blip r:embed="rId2"/>
          <a:srcRect l="7419"/>
          <a:stretch>
            <a:fillRect/>
          </a:stretch>
        </p:blipFill>
        <p:spPr>
          <a:xfrm>
            <a:off x="6959600" y="2775729"/>
            <a:ext cx="4944533" cy="4005582"/>
          </a:xfrm>
          <a:prstGeom prst="rect">
            <a:avLst/>
          </a:prstGeom>
        </p:spPr>
      </p:pic>
      <p:pic>
        <p:nvPicPr>
          <p:cNvPr id="9" name="Grafik 8">
            <a:extLst>
              <a:ext uri="{FF2B5EF4-FFF2-40B4-BE49-F238E27FC236}">
                <a16:creationId xmlns:a16="http://schemas.microsoft.com/office/drawing/2014/main" id="{2AA3DA16-C547-1A9D-EA9C-ED4995FD2A7C}"/>
              </a:ext>
            </a:extLst>
          </p:cNvPr>
          <p:cNvPicPr>
            <a:picLocks noChangeAspect="1"/>
          </p:cNvPicPr>
          <p:nvPr/>
        </p:nvPicPr>
        <p:blipFill>
          <a:blip r:embed="rId3"/>
          <a:stretch>
            <a:fillRect/>
          </a:stretch>
        </p:blipFill>
        <p:spPr>
          <a:xfrm>
            <a:off x="7670343" y="436631"/>
            <a:ext cx="3258600" cy="2090778"/>
          </a:xfrm>
          <a:prstGeom prst="rect">
            <a:avLst/>
          </a:prstGeom>
        </p:spPr>
      </p:pic>
    </p:spTree>
    <p:extLst>
      <p:ext uri="{BB962C8B-B14F-4D97-AF65-F5344CB8AC3E}">
        <p14:creationId xmlns:p14="http://schemas.microsoft.com/office/powerpoint/2010/main" val="2922667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24F89C-8BE2-2EB3-6874-3418DB9C28E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1D54B13-9FAD-B7C7-57A2-BA2BD54F5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8C25FFA-CA34-7FC6-2EC7-3207B8970DCC}"/>
              </a:ext>
            </a:extLst>
          </p:cNvPr>
          <p:cNvSpPr>
            <a:spLocks noGrp="1"/>
          </p:cNvSpPr>
          <p:nvPr>
            <p:ph type="title"/>
          </p:nvPr>
        </p:nvSpPr>
        <p:spPr>
          <a:xfrm>
            <a:off x="521208" y="978408"/>
            <a:ext cx="5029200" cy="1463040"/>
          </a:xfrm>
        </p:spPr>
        <p:txBody>
          <a:bodyPr>
            <a:normAutofit/>
          </a:bodyPr>
          <a:lstStyle/>
          <a:p>
            <a:r>
              <a:rPr lang="de-DE" dirty="0"/>
              <a:t>Kennst du mich?</a:t>
            </a:r>
          </a:p>
        </p:txBody>
      </p:sp>
      <p:sp>
        <p:nvSpPr>
          <p:cNvPr id="19" name="Rectangle 18">
            <a:extLst>
              <a:ext uri="{FF2B5EF4-FFF2-40B4-BE49-F238E27FC236}">
                <a16:creationId xmlns:a16="http://schemas.microsoft.com/office/drawing/2014/main" id="{E242720F-F47D-D2A4-E5E5-543692ADF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D483A2DB-B065-43C5-F263-EBAE8537CAA6}"/>
              </a:ext>
            </a:extLst>
          </p:cNvPr>
          <p:cNvSpPr>
            <a:spLocks noGrp="1"/>
          </p:cNvSpPr>
          <p:nvPr>
            <p:ph idx="1"/>
          </p:nvPr>
        </p:nvSpPr>
        <p:spPr>
          <a:xfrm>
            <a:off x="521208" y="2000250"/>
            <a:ext cx="5501276" cy="4345686"/>
          </a:xfrm>
        </p:spPr>
        <p:txBody>
          <a:bodyPr>
            <a:normAutofit fontScale="70000" lnSpcReduction="20000"/>
          </a:bodyPr>
          <a:lstStyle/>
          <a:p>
            <a:pPr marL="0" indent="0">
              <a:buNone/>
            </a:pPr>
            <a:r>
              <a:rPr lang="de-DE" dirty="0"/>
              <a:t>Die Kinder sitzen im Stuhlkreis</a:t>
            </a:r>
            <a:r>
              <a:rPr lang="de-DE" b="1" dirty="0"/>
              <a:t>. </a:t>
            </a:r>
            <a:r>
              <a:rPr lang="de-DE" dirty="0"/>
              <a:t>Die Spielleitung liest eine Frage vor und alle stehen auf, auf die die Frage zutrifft. Bei jeder Frage kann bei den Stehenden nachgefragt werden, wenn die Kinder etwas mehr darüber wissen wollen.</a:t>
            </a:r>
          </a:p>
          <a:p>
            <a:pPr marL="457200" lvl="1" indent="0">
              <a:buNone/>
            </a:pPr>
            <a:r>
              <a:rPr lang="de-DE" i="1" dirty="0"/>
              <a:t>1.      Alle, die ein E in ihrem Anfangsbuchstaben haben…..stehen auf.</a:t>
            </a:r>
          </a:p>
          <a:p>
            <a:pPr marL="457200" lvl="1" indent="0">
              <a:buNone/>
            </a:pPr>
            <a:r>
              <a:rPr lang="de-DE" i="1" dirty="0"/>
              <a:t>2.      Alle, die in diesem Jahr schon Geburtstag hatten, stehen auf.</a:t>
            </a:r>
          </a:p>
          <a:p>
            <a:pPr marL="457200" lvl="1" indent="0">
              <a:buNone/>
            </a:pPr>
            <a:r>
              <a:rPr lang="de-DE" i="1" dirty="0"/>
              <a:t>3.      Alle, die mehr als 2 Geschwister haben, stehen auf.</a:t>
            </a:r>
          </a:p>
          <a:p>
            <a:pPr marL="457200" lvl="1" indent="0">
              <a:buNone/>
            </a:pPr>
            <a:r>
              <a:rPr lang="de-DE" i="1" dirty="0"/>
              <a:t>4.      Alle, die heute Morgen schon ein Lied gesungen haben …..</a:t>
            </a:r>
          </a:p>
          <a:p>
            <a:pPr marL="457200" lvl="1" indent="0">
              <a:buNone/>
            </a:pPr>
            <a:r>
              <a:rPr lang="de-DE" i="1" dirty="0"/>
              <a:t>5.      Alle, die schon einmal mit dem Flugzeug geflogen sind</a:t>
            </a:r>
          </a:p>
          <a:p>
            <a:pPr marL="457200" lvl="1" indent="0">
              <a:buNone/>
            </a:pPr>
            <a:r>
              <a:rPr lang="de-DE" i="1" dirty="0"/>
              <a:t>6.      Alle, die etwas Rotes in ihrer Kleidung haben.</a:t>
            </a:r>
          </a:p>
          <a:p>
            <a:pPr marL="457200" lvl="1" indent="0">
              <a:buNone/>
            </a:pPr>
            <a:r>
              <a:rPr lang="de-DE" i="1" dirty="0"/>
              <a:t>7.      Alle, die Schuhe mit Schuhbänder anhaben.</a:t>
            </a:r>
          </a:p>
          <a:p>
            <a:pPr marL="457200" lvl="1" indent="0">
              <a:buNone/>
            </a:pPr>
            <a:r>
              <a:rPr lang="de-DE" i="1" dirty="0"/>
              <a:t>8.      Alle, die mehr als 4 Buchstaben in ihrem Vornamen haben.</a:t>
            </a:r>
          </a:p>
          <a:p>
            <a:pPr marL="457200" lvl="1" indent="0">
              <a:buNone/>
            </a:pPr>
            <a:r>
              <a:rPr lang="de-DE" i="1" dirty="0"/>
              <a:t>9.      Alle, die schon einmal eine Verletzung hatten.</a:t>
            </a:r>
          </a:p>
          <a:p>
            <a:pPr marL="457200" lvl="1" indent="0">
              <a:buNone/>
            </a:pPr>
            <a:r>
              <a:rPr lang="de-DE" i="1" dirty="0"/>
              <a:t>10.  Ale, die am Wochenende gern lange schlafen.</a:t>
            </a:r>
          </a:p>
          <a:p>
            <a:pPr marL="457200" lvl="1" indent="0">
              <a:buNone/>
            </a:pPr>
            <a:r>
              <a:rPr lang="de-DE" i="1" dirty="0"/>
              <a:t>11.  Alle, die schon einmal etwas Aufregendes erlebt haben.</a:t>
            </a:r>
          </a:p>
          <a:p>
            <a:pPr marL="457200" lvl="1" indent="0">
              <a:buNone/>
            </a:pPr>
            <a:r>
              <a:rPr lang="de-DE" i="1" dirty="0"/>
              <a:t>12.  Alle, die ein Kuscheltier haben.</a:t>
            </a:r>
          </a:p>
          <a:p>
            <a:pPr marL="457200" lvl="1" indent="0">
              <a:buNone/>
            </a:pPr>
            <a:r>
              <a:rPr lang="de-DE" i="1" dirty="0"/>
              <a:t>13.  Alle, die gern Eis essen.</a:t>
            </a:r>
          </a:p>
          <a:p>
            <a:pPr marL="457200" lvl="1" indent="0">
              <a:buNone/>
            </a:pPr>
            <a:r>
              <a:rPr lang="de-DE" i="1" dirty="0"/>
              <a:t>14.  Alle, wo am Wochenende gegrillt wurde.</a:t>
            </a:r>
          </a:p>
          <a:p>
            <a:pPr marL="457200" lvl="1" indent="0">
              <a:buNone/>
            </a:pPr>
            <a:r>
              <a:rPr lang="de-DE" i="1" dirty="0"/>
              <a:t>15.  Alle, die ein Haustier zu Hause haben</a:t>
            </a:r>
          </a:p>
          <a:p>
            <a:pPr marL="457200" lvl="1" indent="0">
              <a:buNone/>
            </a:pPr>
            <a:r>
              <a:rPr lang="de-DE" i="1" dirty="0"/>
              <a:t>16.  Alle, die gern Pizza essen</a:t>
            </a:r>
          </a:p>
        </p:txBody>
      </p:sp>
      <p:pic>
        <p:nvPicPr>
          <p:cNvPr id="9" name="Grafik 8">
            <a:extLst>
              <a:ext uri="{FF2B5EF4-FFF2-40B4-BE49-F238E27FC236}">
                <a16:creationId xmlns:a16="http://schemas.microsoft.com/office/drawing/2014/main" id="{08DC6D52-6610-DD1D-C735-48D9F106FC84}"/>
              </a:ext>
            </a:extLst>
          </p:cNvPr>
          <p:cNvPicPr>
            <a:picLocks noChangeAspect="1"/>
          </p:cNvPicPr>
          <p:nvPr/>
        </p:nvPicPr>
        <p:blipFill>
          <a:blip r:embed="rId2"/>
          <a:stretch>
            <a:fillRect/>
          </a:stretch>
        </p:blipFill>
        <p:spPr>
          <a:xfrm>
            <a:off x="7670343" y="436631"/>
            <a:ext cx="3258600" cy="2090778"/>
          </a:xfrm>
          <a:prstGeom prst="rect">
            <a:avLst/>
          </a:prstGeom>
        </p:spPr>
      </p:pic>
    </p:spTree>
    <p:extLst>
      <p:ext uri="{BB962C8B-B14F-4D97-AF65-F5344CB8AC3E}">
        <p14:creationId xmlns:p14="http://schemas.microsoft.com/office/powerpoint/2010/main" val="242127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879E-923D-0681-3E72-1C1432BAA6C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10B5CF-E381-0F91-CFA6-111CB55BA7AE}"/>
              </a:ext>
            </a:extLst>
          </p:cNvPr>
          <p:cNvSpPr>
            <a:spLocks noGrp="1"/>
          </p:cNvSpPr>
          <p:nvPr>
            <p:ph type="title"/>
          </p:nvPr>
        </p:nvSpPr>
        <p:spPr/>
        <p:txBody>
          <a:bodyPr/>
          <a:lstStyle/>
          <a:p>
            <a:r>
              <a:rPr lang="de-DE" dirty="0"/>
              <a:t>Reden, Erzählen, Gemeinschaft</a:t>
            </a:r>
            <a:br>
              <a:rPr lang="de-DE" dirty="0"/>
            </a:br>
            <a:endParaRPr lang="de-DE" dirty="0"/>
          </a:p>
        </p:txBody>
      </p:sp>
    </p:spTree>
    <p:extLst>
      <p:ext uri="{BB962C8B-B14F-4D97-AF65-F5344CB8AC3E}">
        <p14:creationId xmlns:p14="http://schemas.microsoft.com/office/powerpoint/2010/main" val="1228902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86B831E-CC60-3EE3-9E95-F6B08211F6AB}"/>
              </a:ext>
            </a:extLst>
          </p:cNvPr>
          <p:cNvSpPr>
            <a:spLocks noGrp="1"/>
          </p:cNvSpPr>
          <p:nvPr>
            <p:ph type="title"/>
          </p:nvPr>
        </p:nvSpPr>
        <p:spPr>
          <a:xfrm>
            <a:off x="521208" y="978408"/>
            <a:ext cx="5029200" cy="1463040"/>
          </a:xfrm>
        </p:spPr>
        <p:txBody>
          <a:bodyPr>
            <a:normAutofit/>
          </a:bodyPr>
          <a:lstStyle/>
          <a:p>
            <a:r>
              <a:rPr lang="de-DE" dirty="0"/>
              <a:t>123 Spiel</a:t>
            </a:r>
          </a:p>
        </p:txBody>
      </p:sp>
      <p:sp>
        <p:nvSpPr>
          <p:cNvPr id="19" name="Rectangle 18">
            <a:extLst>
              <a:ext uri="{FF2B5EF4-FFF2-40B4-BE49-F238E27FC236}">
                <a16:creationId xmlns:a16="http://schemas.microsoft.com/office/drawing/2014/main" id="{5219862E-7186-427C-8292-92687AF4E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F4113567-737E-668A-B7E5-48173D2240C6}"/>
              </a:ext>
            </a:extLst>
          </p:cNvPr>
          <p:cNvSpPr>
            <a:spLocks noGrp="1"/>
          </p:cNvSpPr>
          <p:nvPr>
            <p:ph idx="1"/>
          </p:nvPr>
        </p:nvSpPr>
        <p:spPr>
          <a:xfrm>
            <a:off x="521208" y="2000250"/>
            <a:ext cx="5501276" cy="4345686"/>
          </a:xfrm>
        </p:spPr>
        <p:txBody>
          <a:bodyPr>
            <a:normAutofit/>
          </a:bodyPr>
          <a:lstStyle/>
          <a:p>
            <a:pPr marL="0" indent="0">
              <a:buNone/>
            </a:pPr>
            <a:r>
              <a:rPr lang="de-DE" dirty="0"/>
              <a:t>Bei diesem Spiel ist die gesamte Gruppe leise. Die Gruppe muss versuchen, ohne Absprache, bis zur Zahl 20 (oder höher) zu zählen. </a:t>
            </a:r>
          </a:p>
          <a:p>
            <a:pPr marL="0" indent="0">
              <a:buNone/>
            </a:pPr>
            <a:r>
              <a:rPr lang="de-DE" dirty="0"/>
              <a:t>Die Spieler müssen einfach die Zahl reinrufen, doch wenn zwei Spieler dieselbe Zahl gleichzeitig reinrufen muss die ganze Gruppe von vorn anfangen.</a:t>
            </a:r>
          </a:p>
        </p:txBody>
      </p:sp>
      <p:pic>
        <p:nvPicPr>
          <p:cNvPr id="3" name="Grafik 2">
            <a:extLst>
              <a:ext uri="{FF2B5EF4-FFF2-40B4-BE49-F238E27FC236}">
                <a16:creationId xmlns:a16="http://schemas.microsoft.com/office/drawing/2014/main" id="{149D80A0-8139-8549-C366-801F76956366}"/>
              </a:ext>
            </a:extLst>
          </p:cNvPr>
          <p:cNvPicPr>
            <a:picLocks noChangeAspect="1"/>
          </p:cNvPicPr>
          <p:nvPr/>
        </p:nvPicPr>
        <p:blipFill>
          <a:blip r:embed="rId2"/>
          <a:stretch>
            <a:fillRect/>
          </a:stretch>
        </p:blipFill>
        <p:spPr>
          <a:xfrm>
            <a:off x="8126735" y="2710251"/>
            <a:ext cx="3876692" cy="3876692"/>
          </a:xfrm>
          <a:prstGeom prst="rect">
            <a:avLst/>
          </a:prstGeom>
        </p:spPr>
      </p:pic>
      <p:pic>
        <p:nvPicPr>
          <p:cNvPr id="8" name="Grafik 7">
            <a:extLst>
              <a:ext uri="{FF2B5EF4-FFF2-40B4-BE49-F238E27FC236}">
                <a16:creationId xmlns:a16="http://schemas.microsoft.com/office/drawing/2014/main" id="{8C9B709E-64F5-1741-AC2C-CEAF69DEAD23}"/>
              </a:ext>
            </a:extLst>
          </p:cNvPr>
          <p:cNvPicPr>
            <a:picLocks noChangeAspect="1"/>
          </p:cNvPicPr>
          <p:nvPr/>
        </p:nvPicPr>
        <p:blipFill>
          <a:blip r:embed="rId3"/>
          <a:stretch>
            <a:fillRect/>
          </a:stretch>
        </p:blipFill>
        <p:spPr>
          <a:xfrm>
            <a:off x="9918485" y="204978"/>
            <a:ext cx="2084942" cy="2084942"/>
          </a:xfrm>
          <a:prstGeom prst="rect">
            <a:avLst/>
          </a:prstGeom>
        </p:spPr>
      </p:pic>
      <p:pic>
        <p:nvPicPr>
          <p:cNvPr id="9" name="Grafik 8">
            <a:extLst>
              <a:ext uri="{FF2B5EF4-FFF2-40B4-BE49-F238E27FC236}">
                <a16:creationId xmlns:a16="http://schemas.microsoft.com/office/drawing/2014/main" id="{287A1588-2A79-67F9-3A68-566FE2791C16}"/>
              </a:ext>
            </a:extLst>
          </p:cNvPr>
          <p:cNvPicPr>
            <a:picLocks noChangeAspect="1"/>
          </p:cNvPicPr>
          <p:nvPr/>
        </p:nvPicPr>
        <p:blipFill>
          <a:blip r:embed="rId4"/>
          <a:stretch>
            <a:fillRect/>
          </a:stretch>
        </p:blipFill>
        <p:spPr>
          <a:xfrm>
            <a:off x="5539053" y="4290823"/>
            <a:ext cx="2363470" cy="2363470"/>
          </a:xfrm>
          <a:prstGeom prst="rect">
            <a:avLst/>
          </a:prstGeom>
        </p:spPr>
      </p:pic>
    </p:spTree>
    <p:extLst>
      <p:ext uri="{BB962C8B-B14F-4D97-AF65-F5344CB8AC3E}">
        <p14:creationId xmlns:p14="http://schemas.microsoft.com/office/powerpoint/2010/main" val="1880973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E06847-C26C-F63E-2DD6-CE6A239455C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696961B-EDCA-9532-9255-BF5B900DA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5E23D39-EA05-068B-0C43-B9EB831B2081}"/>
              </a:ext>
            </a:extLst>
          </p:cNvPr>
          <p:cNvSpPr>
            <a:spLocks noGrp="1"/>
          </p:cNvSpPr>
          <p:nvPr>
            <p:ph type="title"/>
          </p:nvPr>
        </p:nvSpPr>
        <p:spPr>
          <a:xfrm>
            <a:off x="521208" y="978408"/>
            <a:ext cx="5029200" cy="1463040"/>
          </a:xfrm>
        </p:spPr>
        <p:txBody>
          <a:bodyPr>
            <a:normAutofit/>
          </a:bodyPr>
          <a:lstStyle/>
          <a:p>
            <a:r>
              <a:rPr lang="de-DE" dirty="0"/>
              <a:t>20 Sekunden</a:t>
            </a:r>
          </a:p>
        </p:txBody>
      </p:sp>
      <p:sp>
        <p:nvSpPr>
          <p:cNvPr id="19" name="Rectangle 18">
            <a:extLst>
              <a:ext uri="{FF2B5EF4-FFF2-40B4-BE49-F238E27FC236}">
                <a16:creationId xmlns:a16="http://schemas.microsoft.com/office/drawing/2014/main" id="{D4379A71-842F-EAF6-B158-CEE488F0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nhaltsplatzhalter 3" descr="Ein Bild, das Logo, Kreis, Design, Symbol enthält.&#10;&#10;KI-generierte Inhalte können fehlerhaft sein.">
            <a:extLst>
              <a:ext uri="{FF2B5EF4-FFF2-40B4-BE49-F238E27FC236}">
                <a16:creationId xmlns:a16="http://schemas.microsoft.com/office/drawing/2014/main" id="{EDCD1C5E-5D9B-0E1F-6382-378D16A94891}"/>
              </a:ext>
            </a:extLst>
          </p:cNvPr>
          <p:cNvPicPr>
            <a:picLocks noChangeAspect="1"/>
          </p:cNvPicPr>
          <p:nvPr/>
        </p:nvPicPr>
        <p:blipFill>
          <a:blip r:embed="rId2"/>
          <a:stretch>
            <a:fillRect/>
          </a:stretch>
        </p:blipFill>
        <p:spPr>
          <a:xfrm>
            <a:off x="6829491" y="509816"/>
            <a:ext cx="1929384" cy="1929384"/>
          </a:xfrm>
          <a:prstGeom prst="rect">
            <a:avLst/>
          </a:prstGeom>
        </p:spPr>
      </p:pic>
      <p:pic>
        <p:nvPicPr>
          <p:cNvPr id="5" name="Grafik 4" descr="Ein Bild, das Uhr, Text enthält.&#10;&#10;KI-generierte Inhalte können fehlerhaft sein.">
            <a:extLst>
              <a:ext uri="{FF2B5EF4-FFF2-40B4-BE49-F238E27FC236}">
                <a16:creationId xmlns:a16="http://schemas.microsoft.com/office/drawing/2014/main" id="{5EE4B7CD-6F01-5614-B2E2-3D1AF5CB6C35}"/>
              </a:ext>
            </a:extLst>
          </p:cNvPr>
          <p:cNvPicPr>
            <a:picLocks noChangeAspect="1"/>
          </p:cNvPicPr>
          <p:nvPr/>
        </p:nvPicPr>
        <p:blipFill>
          <a:blip r:embed="rId3"/>
          <a:stretch>
            <a:fillRect/>
          </a:stretch>
        </p:blipFill>
        <p:spPr>
          <a:xfrm>
            <a:off x="9083828" y="509816"/>
            <a:ext cx="1962506" cy="1929384"/>
          </a:xfrm>
          <a:prstGeom prst="rect">
            <a:avLst/>
          </a:prstGeom>
        </p:spPr>
      </p:pic>
      <p:sp>
        <p:nvSpPr>
          <p:cNvPr id="14" name="Content Placeholder 13">
            <a:extLst>
              <a:ext uri="{FF2B5EF4-FFF2-40B4-BE49-F238E27FC236}">
                <a16:creationId xmlns:a16="http://schemas.microsoft.com/office/drawing/2014/main" id="{301451D5-75CD-20A9-85E6-C7043FA19ED9}"/>
              </a:ext>
            </a:extLst>
          </p:cNvPr>
          <p:cNvSpPr>
            <a:spLocks noGrp="1"/>
          </p:cNvSpPr>
          <p:nvPr>
            <p:ph idx="1"/>
          </p:nvPr>
        </p:nvSpPr>
        <p:spPr>
          <a:xfrm>
            <a:off x="521208" y="2000250"/>
            <a:ext cx="5501276" cy="4345686"/>
          </a:xfrm>
        </p:spPr>
        <p:txBody>
          <a:bodyPr>
            <a:normAutofit/>
          </a:bodyPr>
          <a:lstStyle/>
          <a:p>
            <a:pPr marL="0" indent="0" algn="just">
              <a:buNone/>
            </a:pPr>
            <a:r>
              <a:rPr lang="de-DE" dirty="0"/>
              <a:t>Der erste Spieler beginnt, 20 Sekunden lang eine frei erfundene </a:t>
            </a:r>
            <a:r>
              <a:rPr lang="de-DE" b="1" dirty="0">
                <a:solidFill>
                  <a:srgbClr val="00B050"/>
                </a:solidFill>
              </a:rPr>
              <a:t>Geschichte</a:t>
            </a:r>
            <a:r>
              <a:rPr lang="de-DE" dirty="0"/>
              <a:t> zu erzählen. Spieler 2 hat danach 20 Sekunden Zeit, diese Geschichte wild erfunden weiterzuerzählen. Spieler 3 übernimmt die Grundidee und führt die Geschichte auch wieder 20 Sekunden lang weiter ... Der letzte Spieler oder der Spielleiter hat die Aufgabe, die Geschichte zu Ende zu führen.</a:t>
            </a:r>
          </a:p>
          <a:p>
            <a:pPr marL="0" indent="0" algn="just">
              <a:buNone/>
            </a:pPr>
            <a:r>
              <a:rPr lang="de-DE" i="1" dirty="0"/>
              <a:t>Variation: Zum Ende der gemeinsamen Geschichte, macht jeder eine Zeichnung ein Bild dazu.</a:t>
            </a:r>
          </a:p>
          <a:p>
            <a:pPr algn="just"/>
            <a:endParaRPr lang="en-US" dirty="0"/>
          </a:p>
        </p:txBody>
      </p:sp>
      <p:pic>
        <p:nvPicPr>
          <p:cNvPr id="6" name="Grafik 5" descr="Ein Bild, das Zeichnung, Kunst, Cartoon, Text enthält.&#10;&#10;KI-generierte Inhalte können fehlerhaft sein.">
            <a:extLst>
              <a:ext uri="{FF2B5EF4-FFF2-40B4-BE49-F238E27FC236}">
                <a16:creationId xmlns:a16="http://schemas.microsoft.com/office/drawing/2014/main" id="{61CF3BA6-C8C6-16FF-1743-51269E67ACFA}"/>
              </a:ext>
            </a:extLst>
          </p:cNvPr>
          <p:cNvPicPr>
            <a:picLocks noChangeAspect="1"/>
          </p:cNvPicPr>
          <p:nvPr/>
        </p:nvPicPr>
        <p:blipFill>
          <a:blip r:embed="rId4"/>
          <a:stretch>
            <a:fillRect/>
          </a:stretch>
        </p:blipFill>
        <p:spPr>
          <a:xfrm>
            <a:off x="6169518" y="2775730"/>
            <a:ext cx="5513832" cy="3570206"/>
          </a:xfrm>
          <a:prstGeom prst="rect">
            <a:avLst/>
          </a:prstGeom>
        </p:spPr>
      </p:pic>
    </p:spTree>
    <p:extLst>
      <p:ext uri="{BB962C8B-B14F-4D97-AF65-F5344CB8AC3E}">
        <p14:creationId xmlns:p14="http://schemas.microsoft.com/office/powerpoint/2010/main" val="2943972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7D61-C93F-BFAA-1EF9-27B7E059F2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AE83F70-3312-B8A7-5B8A-0BF5009F5DC7}"/>
              </a:ext>
            </a:extLst>
          </p:cNvPr>
          <p:cNvSpPr>
            <a:spLocks noGrp="1"/>
          </p:cNvSpPr>
          <p:nvPr>
            <p:ph type="title"/>
          </p:nvPr>
        </p:nvSpPr>
        <p:spPr/>
        <p:txBody>
          <a:bodyPr/>
          <a:lstStyle/>
          <a:p>
            <a:r>
              <a:rPr lang="de-DE" dirty="0"/>
              <a:t>Mathe</a:t>
            </a:r>
          </a:p>
        </p:txBody>
      </p:sp>
    </p:spTree>
    <p:extLst>
      <p:ext uri="{BB962C8B-B14F-4D97-AF65-F5344CB8AC3E}">
        <p14:creationId xmlns:p14="http://schemas.microsoft.com/office/powerpoint/2010/main" val="2219621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FD84-0A6D-2A8F-218B-B3E220161F4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4EA5A2-DADB-9CAE-783D-0E8323E1109A}"/>
              </a:ext>
            </a:extLst>
          </p:cNvPr>
          <p:cNvSpPr>
            <a:spLocks noGrp="1"/>
          </p:cNvSpPr>
          <p:nvPr>
            <p:ph type="title"/>
          </p:nvPr>
        </p:nvSpPr>
        <p:spPr/>
        <p:txBody>
          <a:bodyPr/>
          <a:lstStyle/>
          <a:p>
            <a:r>
              <a:rPr lang="de-DE" dirty="0"/>
              <a:t>Bewegung, im Kreis</a:t>
            </a:r>
          </a:p>
        </p:txBody>
      </p:sp>
    </p:spTree>
    <p:extLst>
      <p:ext uri="{BB962C8B-B14F-4D97-AF65-F5344CB8AC3E}">
        <p14:creationId xmlns:p14="http://schemas.microsoft.com/office/powerpoint/2010/main" val="3970040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AAAD3C-B335-B0FC-E938-30400D1D29F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E4E11E-05CB-AE57-8052-C4E197EF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908E2AB-70D5-72E1-4D32-85F543DACA75}"/>
              </a:ext>
            </a:extLst>
          </p:cNvPr>
          <p:cNvSpPr>
            <a:spLocks noGrp="1"/>
          </p:cNvSpPr>
          <p:nvPr>
            <p:ph type="title"/>
          </p:nvPr>
        </p:nvSpPr>
        <p:spPr>
          <a:xfrm>
            <a:off x="521208" y="978408"/>
            <a:ext cx="5029200" cy="1463040"/>
          </a:xfrm>
        </p:spPr>
        <p:txBody>
          <a:bodyPr>
            <a:normAutofit/>
          </a:bodyPr>
          <a:lstStyle/>
          <a:p>
            <a:r>
              <a:rPr lang="de-DE" dirty="0"/>
              <a:t>2 Dinge überholen</a:t>
            </a:r>
          </a:p>
        </p:txBody>
      </p:sp>
      <p:sp>
        <p:nvSpPr>
          <p:cNvPr id="19" name="Rectangle 18">
            <a:extLst>
              <a:ext uri="{FF2B5EF4-FFF2-40B4-BE49-F238E27FC236}">
                <a16:creationId xmlns:a16="http://schemas.microsoft.com/office/drawing/2014/main" id="{00655722-2EC9-CFB4-6173-672D00A0B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9F8B1601-B8FD-A6E6-7AB5-6671EF527A56}"/>
              </a:ext>
            </a:extLst>
          </p:cNvPr>
          <p:cNvSpPr>
            <a:spLocks noGrp="1"/>
          </p:cNvSpPr>
          <p:nvPr>
            <p:ph idx="1"/>
          </p:nvPr>
        </p:nvSpPr>
        <p:spPr>
          <a:xfrm>
            <a:off x="521208" y="2000249"/>
            <a:ext cx="5501276" cy="4857745"/>
          </a:xfrm>
        </p:spPr>
        <p:txBody>
          <a:bodyPr>
            <a:normAutofit fontScale="85000" lnSpcReduction="20000"/>
          </a:bodyPr>
          <a:lstStyle/>
          <a:p>
            <a:pPr marL="0" indent="0" algn="just">
              <a:buNone/>
            </a:pPr>
            <a:r>
              <a:rPr lang="de-DE" dirty="0"/>
              <a:t>Alle Teilnehmer sitzen im </a:t>
            </a:r>
            <a:r>
              <a:rPr lang="de-DE" b="1" dirty="0"/>
              <a:t>Kreis</a:t>
            </a:r>
            <a:r>
              <a:rPr lang="de-DE" dirty="0"/>
              <a:t> und zählen 1 – 2 ab. Gruppe 1 bekommt einen Gegenstand und Gruppe 2 auch. Alle bleiben so im Kreis sitzen.</a:t>
            </a:r>
          </a:p>
          <a:p>
            <a:pPr marL="0" indent="0" algn="just">
              <a:buNone/>
            </a:pPr>
            <a:r>
              <a:rPr lang="de-DE" dirty="0"/>
              <a:t>Die Gegenstände werden möglichst gegenüber an einen aus Gruppe 1 und aus Gruppe 2 gegeben. Sie sollen nun im Uhrzeigersinn herumgereicht werden (z.B. </a:t>
            </a:r>
            <a:r>
              <a:rPr lang="de-DE" b="1" dirty="0"/>
              <a:t>zwei unterschiedlich farbige Bälle</a:t>
            </a:r>
            <a:r>
              <a:rPr lang="de-DE" dirty="0"/>
              <a:t>). Die Gegenstände dürfen jeweils nur von den entsprechenden Gruppenmitgliedern </a:t>
            </a:r>
            <a:r>
              <a:rPr lang="de-DE" b="1" dirty="0"/>
              <a:t>weitergegeben</a:t>
            </a:r>
            <a:r>
              <a:rPr lang="de-DE" dirty="0"/>
              <a:t> werden.</a:t>
            </a:r>
          </a:p>
          <a:p>
            <a:pPr marL="0" indent="0" algn="just">
              <a:buNone/>
            </a:pPr>
            <a:r>
              <a:rPr lang="de-DE" dirty="0"/>
              <a:t>Ziel ist es, dass sich die Gegenstände überholen. </a:t>
            </a:r>
            <a:r>
              <a:rPr lang="de-DE" b="1" dirty="0">
                <a:solidFill>
                  <a:srgbClr val="00B050"/>
                </a:solidFill>
              </a:rPr>
              <a:t>Die Gruppe, deren Gegenstand den der anderen Gruppe überholt, hat gewonnen</a:t>
            </a:r>
            <a:r>
              <a:rPr lang="de-DE" dirty="0"/>
              <a:t>. In einer ersten Runde dürfen die Leute aus der gegnerischen Mannschaft die Weitergabe der Gegenstände nicht stören. In einer zweiten Runde dürfen sie stören, aber nur im Sitzen.</a:t>
            </a:r>
          </a:p>
          <a:p>
            <a:pPr marL="0" indent="0" algn="just">
              <a:buNone/>
            </a:pPr>
            <a:r>
              <a:rPr lang="de-DE" sz="1600" i="1" dirty="0"/>
              <a:t>Die Schwierigkeit und auch die Dynamik können geändert werden. Der Spielleiter kann "Richtungswechsel" rufen. Dies kann, je nachdem wie es eingesetzt wird, als unfair erachtet werden und bietet die Möglichkeit dies zu thematisieren. Es kann in jeder Mannschaft einen </a:t>
            </a:r>
            <a:r>
              <a:rPr lang="de-DE" sz="1600" i="1" dirty="0" err="1"/>
              <a:t>Teamcaptain</a:t>
            </a:r>
            <a:r>
              <a:rPr lang="de-DE" sz="1600" i="1" dirty="0"/>
              <a:t> geben der zwei Mal im Spiel "Richtungswechsel" rufen darf. Somit kommt eine taktische Komponente hinzu.</a:t>
            </a:r>
          </a:p>
        </p:txBody>
      </p:sp>
      <p:pic>
        <p:nvPicPr>
          <p:cNvPr id="4" name="Grafik 3">
            <a:extLst>
              <a:ext uri="{FF2B5EF4-FFF2-40B4-BE49-F238E27FC236}">
                <a16:creationId xmlns:a16="http://schemas.microsoft.com/office/drawing/2014/main" id="{269774E9-DE51-4FF8-0FEC-F0527043AA15}"/>
              </a:ext>
            </a:extLst>
          </p:cNvPr>
          <p:cNvPicPr>
            <a:picLocks noChangeAspect="1"/>
          </p:cNvPicPr>
          <p:nvPr/>
        </p:nvPicPr>
        <p:blipFill>
          <a:blip r:embed="rId2"/>
          <a:stretch>
            <a:fillRect/>
          </a:stretch>
        </p:blipFill>
        <p:spPr>
          <a:xfrm>
            <a:off x="6652949" y="508090"/>
            <a:ext cx="2502406" cy="2502406"/>
          </a:xfrm>
          <a:prstGeom prst="rect">
            <a:avLst/>
          </a:prstGeom>
        </p:spPr>
      </p:pic>
      <p:pic>
        <p:nvPicPr>
          <p:cNvPr id="5" name="Grafik 4">
            <a:extLst>
              <a:ext uri="{FF2B5EF4-FFF2-40B4-BE49-F238E27FC236}">
                <a16:creationId xmlns:a16="http://schemas.microsoft.com/office/drawing/2014/main" id="{1869F3EF-2EC8-049D-B448-F1C39F63CA1A}"/>
              </a:ext>
            </a:extLst>
          </p:cNvPr>
          <p:cNvPicPr>
            <a:picLocks noChangeAspect="1"/>
          </p:cNvPicPr>
          <p:nvPr/>
        </p:nvPicPr>
        <p:blipFill>
          <a:blip r:embed="rId3"/>
          <a:stretch>
            <a:fillRect/>
          </a:stretch>
        </p:blipFill>
        <p:spPr>
          <a:xfrm>
            <a:off x="7339921" y="3238490"/>
            <a:ext cx="4330871" cy="3663950"/>
          </a:xfrm>
          <a:prstGeom prst="rect">
            <a:avLst/>
          </a:prstGeom>
        </p:spPr>
      </p:pic>
    </p:spTree>
    <p:extLst>
      <p:ext uri="{BB962C8B-B14F-4D97-AF65-F5344CB8AC3E}">
        <p14:creationId xmlns:p14="http://schemas.microsoft.com/office/powerpoint/2010/main" val="1379136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360912-8E3C-B9F0-9CB9-32312B93D23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874841-34AA-BB18-9FDB-2F63CF50C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0639CF2-20CF-E39B-AFBF-4D3B774D9D1C}"/>
              </a:ext>
            </a:extLst>
          </p:cNvPr>
          <p:cNvSpPr>
            <a:spLocks noGrp="1"/>
          </p:cNvSpPr>
          <p:nvPr>
            <p:ph type="title"/>
          </p:nvPr>
        </p:nvSpPr>
        <p:spPr>
          <a:xfrm>
            <a:off x="521208" y="978408"/>
            <a:ext cx="5029200" cy="1463040"/>
          </a:xfrm>
        </p:spPr>
        <p:txBody>
          <a:bodyPr>
            <a:normAutofit/>
          </a:bodyPr>
          <a:lstStyle/>
          <a:p>
            <a:r>
              <a:rPr lang="de-DE" dirty="0"/>
              <a:t>2 Dinge überholen</a:t>
            </a:r>
          </a:p>
        </p:txBody>
      </p:sp>
      <p:sp>
        <p:nvSpPr>
          <p:cNvPr id="19" name="Rectangle 18">
            <a:extLst>
              <a:ext uri="{FF2B5EF4-FFF2-40B4-BE49-F238E27FC236}">
                <a16:creationId xmlns:a16="http://schemas.microsoft.com/office/drawing/2014/main" id="{3AFB0D41-3BAE-6B5B-3CE2-93B37902C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fik 2">
            <a:extLst>
              <a:ext uri="{FF2B5EF4-FFF2-40B4-BE49-F238E27FC236}">
                <a16:creationId xmlns:a16="http://schemas.microsoft.com/office/drawing/2014/main" id="{200F9887-BFAC-C733-936D-D3C97D72660F}"/>
              </a:ext>
            </a:extLst>
          </p:cNvPr>
          <p:cNvPicPr>
            <a:picLocks noChangeAspect="1"/>
          </p:cNvPicPr>
          <p:nvPr/>
        </p:nvPicPr>
        <p:blipFill>
          <a:blip r:embed="rId2"/>
          <a:stretch>
            <a:fillRect/>
          </a:stretch>
        </p:blipFill>
        <p:spPr>
          <a:xfrm>
            <a:off x="6641593" y="1460500"/>
            <a:ext cx="5029199" cy="4601182"/>
          </a:xfrm>
          <a:prstGeom prst="rect">
            <a:avLst/>
          </a:prstGeom>
        </p:spPr>
      </p:pic>
      <p:sp>
        <p:nvSpPr>
          <p:cNvPr id="6" name="Inhaltsplatzhalter 5">
            <a:extLst>
              <a:ext uri="{FF2B5EF4-FFF2-40B4-BE49-F238E27FC236}">
                <a16:creationId xmlns:a16="http://schemas.microsoft.com/office/drawing/2014/main" id="{023CAB13-5BB4-232A-0308-12E7803E14A6}"/>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524911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80660-E5ED-3209-60F3-239691ACC7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DA8773-789D-0914-03CE-87837E702D5E}"/>
              </a:ext>
            </a:extLst>
          </p:cNvPr>
          <p:cNvSpPr>
            <a:spLocks noGrp="1"/>
          </p:cNvSpPr>
          <p:nvPr>
            <p:ph type="title"/>
          </p:nvPr>
        </p:nvSpPr>
        <p:spPr/>
        <p:txBody>
          <a:bodyPr/>
          <a:lstStyle/>
          <a:p>
            <a:r>
              <a:rPr lang="de-DE" dirty="0"/>
              <a:t>Bewegung, aber am Platz</a:t>
            </a:r>
          </a:p>
        </p:txBody>
      </p:sp>
    </p:spTree>
    <p:extLst>
      <p:ext uri="{BB962C8B-B14F-4D97-AF65-F5344CB8AC3E}">
        <p14:creationId xmlns:p14="http://schemas.microsoft.com/office/powerpoint/2010/main" val="692241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C3F4B8-7111-B192-118D-066F2E0896E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298FB0D-2F1C-FAB9-3B9E-D2EDD7D05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D96C234-2DAE-F2EE-62AC-232481223503}"/>
              </a:ext>
            </a:extLst>
          </p:cNvPr>
          <p:cNvSpPr>
            <a:spLocks noGrp="1"/>
          </p:cNvSpPr>
          <p:nvPr>
            <p:ph type="title"/>
          </p:nvPr>
        </p:nvSpPr>
        <p:spPr>
          <a:xfrm>
            <a:off x="521208" y="978408"/>
            <a:ext cx="5029200" cy="1463040"/>
          </a:xfrm>
        </p:spPr>
        <p:txBody>
          <a:bodyPr>
            <a:normAutofit/>
          </a:bodyPr>
          <a:lstStyle/>
          <a:p>
            <a:r>
              <a:rPr lang="de-DE" dirty="0"/>
              <a:t>Miris Klatschen</a:t>
            </a:r>
          </a:p>
        </p:txBody>
      </p:sp>
      <p:sp>
        <p:nvSpPr>
          <p:cNvPr id="19" name="Rectangle 18">
            <a:extLst>
              <a:ext uri="{FF2B5EF4-FFF2-40B4-BE49-F238E27FC236}">
                <a16:creationId xmlns:a16="http://schemas.microsoft.com/office/drawing/2014/main" id="{4BFB9AB6-1E86-9677-20AD-AA86B4BA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8A5514B9-F28F-B6F0-0864-8108BCF52109}"/>
              </a:ext>
            </a:extLst>
          </p:cNvPr>
          <p:cNvSpPr>
            <a:spLocks noGrp="1"/>
          </p:cNvSpPr>
          <p:nvPr>
            <p:ph idx="1"/>
          </p:nvPr>
        </p:nvSpPr>
        <p:spPr>
          <a:xfrm>
            <a:off x="521208" y="2000250"/>
            <a:ext cx="5501276" cy="4345686"/>
          </a:xfrm>
        </p:spPr>
        <p:txBody>
          <a:bodyPr>
            <a:normAutofit/>
          </a:bodyPr>
          <a:lstStyle/>
          <a:p>
            <a:pPr marL="0" indent="0" algn="just">
              <a:buNone/>
            </a:pPr>
            <a:r>
              <a:rPr lang="de-DE" dirty="0"/>
              <a:t>Zwei Spieler stehen sich gegenüber. Sie klatschen gleichzeitig in die Hände, dann wählt jeder eine Richtung spontan aus: </a:t>
            </a:r>
            <a:r>
              <a:rPr lang="de-DE" b="1" dirty="0">
                <a:solidFill>
                  <a:srgbClr val="00B050"/>
                </a:solidFill>
              </a:rPr>
              <a:t>Links, Rechts, Oben</a:t>
            </a:r>
            <a:r>
              <a:rPr lang="de-DE" dirty="0"/>
              <a:t>.</a:t>
            </a:r>
          </a:p>
          <a:p>
            <a:pPr marL="0" indent="0" algn="just">
              <a:buNone/>
            </a:pPr>
            <a:r>
              <a:rPr lang="de-DE" dirty="0"/>
              <a:t>Wählen beide zufällig </a:t>
            </a:r>
            <a:r>
              <a:rPr lang="de-DE" i="1" dirty="0">
                <a:solidFill>
                  <a:schemeClr val="accent2">
                    <a:lumMod val="75000"/>
                  </a:schemeClr>
                </a:solidFill>
              </a:rPr>
              <a:t>unterschiedliche Richtungen</a:t>
            </a:r>
            <a:r>
              <a:rPr lang="de-DE" dirty="0"/>
              <a:t>, geht das Spiel weiter, sie klatschen in die Hände, wählen eine Richtung etc.</a:t>
            </a:r>
          </a:p>
          <a:p>
            <a:pPr marL="0" indent="0" algn="just">
              <a:buNone/>
            </a:pPr>
            <a:r>
              <a:rPr lang="de-DE" dirty="0"/>
              <a:t>Wählen beide zufällig die </a:t>
            </a:r>
            <a:r>
              <a:rPr lang="de-DE" i="1" dirty="0">
                <a:solidFill>
                  <a:schemeClr val="accent2">
                    <a:lumMod val="75000"/>
                  </a:schemeClr>
                </a:solidFill>
              </a:rPr>
              <a:t>gleiche Richtung </a:t>
            </a:r>
            <a:r>
              <a:rPr lang="de-DE" dirty="0"/>
              <a:t>klatschen sie in die Hände und klatschen sich dann einmal gegenseitig ab. Dann geht es normal weiter.</a:t>
            </a:r>
          </a:p>
        </p:txBody>
      </p:sp>
      <p:pic>
        <p:nvPicPr>
          <p:cNvPr id="11" name="Grafik 10">
            <a:extLst>
              <a:ext uri="{FF2B5EF4-FFF2-40B4-BE49-F238E27FC236}">
                <a16:creationId xmlns:a16="http://schemas.microsoft.com/office/drawing/2014/main" id="{5BC493C8-52AF-3074-D2DA-97D3E30E5496}"/>
              </a:ext>
            </a:extLst>
          </p:cNvPr>
          <p:cNvPicPr>
            <a:picLocks noChangeAspect="1"/>
          </p:cNvPicPr>
          <p:nvPr/>
        </p:nvPicPr>
        <p:blipFill>
          <a:blip r:embed="rId2"/>
          <a:stretch>
            <a:fillRect/>
          </a:stretch>
        </p:blipFill>
        <p:spPr>
          <a:xfrm>
            <a:off x="7149592" y="2000250"/>
            <a:ext cx="5039360" cy="2480310"/>
          </a:xfrm>
          <a:prstGeom prst="rect">
            <a:avLst/>
          </a:prstGeom>
        </p:spPr>
      </p:pic>
    </p:spTree>
    <p:extLst>
      <p:ext uri="{BB962C8B-B14F-4D97-AF65-F5344CB8AC3E}">
        <p14:creationId xmlns:p14="http://schemas.microsoft.com/office/powerpoint/2010/main" val="353070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1BA670-6A81-CA71-1492-9E9E60B9255E}"/>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66D05AF-E539-C01D-7849-B2ADEF193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F3009BC-4158-AE23-2BE4-C40122D095D6}"/>
              </a:ext>
            </a:extLst>
          </p:cNvPr>
          <p:cNvSpPr>
            <a:spLocks noGrp="1"/>
          </p:cNvSpPr>
          <p:nvPr>
            <p:ph type="title"/>
          </p:nvPr>
        </p:nvSpPr>
        <p:spPr>
          <a:xfrm>
            <a:off x="521208" y="978408"/>
            <a:ext cx="5029200" cy="1463040"/>
          </a:xfrm>
        </p:spPr>
        <p:txBody>
          <a:bodyPr>
            <a:normAutofit/>
          </a:bodyPr>
          <a:lstStyle/>
          <a:p>
            <a:r>
              <a:rPr lang="de-DE" dirty="0"/>
              <a:t>Falsche Bewegung</a:t>
            </a:r>
          </a:p>
        </p:txBody>
      </p:sp>
      <p:sp>
        <p:nvSpPr>
          <p:cNvPr id="19" name="Rectangle 18">
            <a:extLst>
              <a:ext uri="{FF2B5EF4-FFF2-40B4-BE49-F238E27FC236}">
                <a16:creationId xmlns:a16="http://schemas.microsoft.com/office/drawing/2014/main" id="{A7077D14-26B1-CDC1-4DDF-15883E0D8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3BD435D0-F43D-E0B6-D785-5444A04E8D87}"/>
              </a:ext>
            </a:extLst>
          </p:cNvPr>
          <p:cNvSpPr>
            <a:spLocks noGrp="1"/>
          </p:cNvSpPr>
          <p:nvPr>
            <p:ph idx="1"/>
          </p:nvPr>
        </p:nvSpPr>
        <p:spPr>
          <a:xfrm>
            <a:off x="521208" y="2000250"/>
            <a:ext cx="5501276" cy="4345686"/>
          </a:xfrm>
        </p:spPr>
        <p:txBody>
          <a:bodyPr>
            <a:normAutofit lnSpcReduction="10000"/>
          </a:bodyPr>
          <a:lstStyle/>
          <a:p>
            <a:pPr marL="0" indent="0" algn="just">
              <a:buNone/>
            </a:pPr>
            <a:r>
              <a:rPr lang="de-DE" dirty="0"/>
              <a:t>Alle Spieler stehen an ihren Plätzen (dann muss eine Reihenfolge festgelegt werden).</a:t>
            </a:r>
          </a:p>
          <a:p>
            <a:pPr marL="0" indent="0" algn="just">
              <a:buNone/>
            </a:pPr>
            <a:r>
              <a:rPr lang="de-DE" dirty="0"/>
              <a:t>Der Leiter steht mit im Kreis und beginnt eine Bewegung vorzumachen. Er hüpft zum Beispiel. Der nächste in der Reihe fragt ihn dann </a:t>
            </a:r>
            <a:r>
              <a:rPr lang="de-DE" i="1" dirty="0">
                <a:solidFill>
                  <a:schemeClr val="accent2">
                    <a:lumMod val="75000"/>
                  </a:schemeClr>
                </a:solidFill>
              </a:rPr>
              <a:t>"was machst du da?"</a:t>
            </a:r>
            <a:r>
              <a:rPr lang="de-DE" dirty="0"/>
              <a:t> darauf muss er mit einer </a:t>
            </a:r>
            <a:r>
              <a:rPr lang="de-DE" b="1" dirty="0">
                <a:solidFill>
                  <a:srgbClr val="00B050"/>
                </a:solidFill>
              </a:rPr>
              <a:t>falschen Behauptung </a:t>
            </a:r>
            <a:r>
              <a:rPr lang="de-DE" dirty="0"/>
              <a:t>antworten. Er sagt zum Beispiel "Ich putze mir die Zähne". </a:t>
            </a:r>
          </a:p>
          <a:p>
            <a:pPr marL="0" indent="0" algn="just">
              <a:buNone/>
            </a:pPr>
            <a:r>
              <a:rPr lang="de-DE" dirty="0"/>
              <a:t>Nun muss der Spieler der gefragt hat die Bewegung zum Zähneputzen machen. Dann wird er vom nächsten Spieler gefragt </a:t>
            </a:r>
            <a:r>
              <a:rPr lang="de-DE" i="1" dirty="0">
                <a:solidFill>
                  <a:schemeClr val="accent2">
                    <a:lumMod val="75000"/>
                  </a:schemeClr>
                </a:solidFill>
              </a:rPr>
              <a:t>"was machst du da?" </a:t>
            </a:r>
            <a:r>
              <a:rPr lang="de-DE" dirty="0"/>
              <a:t>darauf antwortet er wieder etwas anderes, </a:t>
            </a:r>
            <a:r>
              <a:rPr lang="de-DE" dirty="0" err="1"/>
              <a:t>zb</a:t>
            </a:r>
            <a:r>
              <a:rPr lang="de-DE" dirty="0"/>
              <a:t>. "Ich Jogge".</a:t>
            </a:r>
          </a:p>
          <a:p>
            <a:pPr marL="0" indent="0" algn="just">
              <a:buNone/>
            </a:pPr>
            <a:r>
              <a:rPr lang="de-DE" dirty="0"/>
              <a:t>So geht es immer weiter.</a:t>
            </a:r>
          </a:p>
        </p:txBody>
      </p:sp>
      <p:pic>
        <p:nvPicPr>
          <p:cNvPr id="7" name="Grafik 6" descr="Ein Bild, das Cartoon, Clipart enthält.&#10;&#10;KI-generierte Inhalte können fehlerhaft sein.">
            <a:extLst>
              <a:ext uri="{FF2B5EF4-FFF2-40B4-BE49-F238E27FC236}">
                <a16:creationId xmlns:a16="http://schemas.microsoft.com/office/drawing/2014/main" id="{8F854DC0-1465-5ACE-2B42-6DF236282109}"/>
              </a:ext>
            </a:extLst>
          </p:cNvPr>
          <p:cNvPicPr>
            <a:picLocks noChangeAspect="1"/>
          </p:cNvPicPr>
          <p:nvPr/>
        </p:nvPicPr>
        <p:blipFill>
          <a:blip r:embed="rId2"/>
          <a:stretch>
            <a:fillRect/>
          </a:stretch>
        </p:blipFill>
        <p:spPr>
          <a:xfrm>
            <a:off x="6883218" y="978408"/>
            <a:ext cx="2222500" cy="2438400"/>
          </a:xfrm>
          <a:prstGeom prst="rect">
            <a:avLst/>
          </a:prstGeom>
        </p:spPr>
      </p:pic>
      <p:pic>
        <p:nvPicPr>
          <p:cNvPr id="9" name="Grafik 8" descr="Ein Bild, das Cartoon, Clipart enthält.&#10;&#10;KI-generierte Inhalte können fehlerhaft sein.">
            <a:extLst>
              <a:ext uri="{FF2B5EF4-FFF2-40B4-BE49-F238E27FC236}">
                <a16:creationId xmlns:a16="http://schemas.microsoft.com/office/drawing/2014/main" id="{298A37A1-9256-2304-F806-6BFAE2CF1367}"/>
              </a:ext>
            </a:extLst>
          </p:cNvPr>
          <p:cNvPicPr>
            <a:picLocks noChangeAspect="1"/>
          </p:cNvPicPr>
          <p:nvPr/>
        </p:nvPicPr>
        <p:blipFill>
          <a:blip r:embed="rId3"/>
          <a:stretch>
            <a:fillRect/>
          </a:stretch>
        </p:blipFill>
        <p:spPr>
          <a:xfrm>
            <a:off x="9362076" y="3945636"/>
            <a:ext cx="2247900" cy="2400300"/>
          </a:xfrm>
          <a:prstGeom prst="rect">
            <a:avLst/>
          </a:prstGeom>
        </p:spPr>
      </p:pic>
    </p:spTree>
    <p:extLst>
      <p:ext uri="{BB962C8B-B14F-4D97-AF65-F5344CB8AC3E}">
        <p14:creationId xmlns:p14="http://schemas.microsoft.com/office/powerpoint/2010/main" val="2941736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A9DB-D45D-EF28-C238-296D9F6C8F8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2D3A89-825E-5D14-82DD-8F8C80C621B1}"/>
              </a:ext>
            </a:extLst>
          </p:cNvPr>
          <p:cNvSpPr>
            <a:spLocks noGrp="1"/>
          </p:cNvSpPr>
          <p:nvPr>
            <p:ph type="title"/>
          </p:nvPr>
        </p:nvSpPr>
        <p:spPr/>
        <p:txBody>
          <a:bodyPr/>
          <a:lstStyle/>
          <a:p>
            <a:r>
              <a:rPr lang="de-DE" dirty="0"/>
              <a:t>Exit-Tickets, Üben, etc.</a:t>
            </a:r>
          </a:p>
        </p:txBody>
      </p:sp>
    </p:spTree>
    <p:extLst>
      <p:ext uri="{BB962C8B-B14F-4D97-AF65-F5344CB8AC3E}">
        <p14:creationId xmlns:p14="http://schemas.microsoft.com/office/powerpoint/2010/main" val="3518779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7DBDD8-7514-5AE9-4B39-C86218C5D65B}"/>
              </a:ext>
            </a:extLst>
          </p:cNvPr>
          <p:cNvSpPr>
            <a:spLocks noGrp="1"/>
          </p:cNvSpPr>
          <p:nvPr>
            <p:ph type="title"/>
          </p:nvPr>
        </p:nvSpPr>
        <p:spPr/>
        <p:txBody>
          <a:bodyPr/>
          <a:lstStyle/>
          <a:p>
            <a:r>
              <a:rPr lang="de-DE" dirty="0"/>
              <a:t>Viel Bewegung</a:t>
            </a:r>
          </a:p>
        </p:txBody>
      </p:sp>
    </p:spTree>
    <p:extLst>
      <p:ext uri="{BB962C8B-B14F-4D97-AF65-F5344CB8AC3E}">
        <p14:creationId xmlns:p14="http://schemas.microsoft.com/office/powerpoint/2010/main" val="158178938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0</TotalTime>
  <Words>1252</Words>
  <Application>Microsoft Macintosh PowerPoint</Application>
  <PresentationFormat>Breitbild</PresentationFormat>
  <Paragraphs>168</Paragraphs>
  <Slides>18</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18</vt:i4>
      </vt:variant>
    </vt:vector>
  </HeadingPairs>
  <TitlesOfParts>
    <vt:vector size="24" baseType="lpstr">
      <vt:lpstr>Aptos</vt:lpstr>
      <vt:lpstr>Arial</vt:lpstr>
      <vt:lpstr>Bierstadt</vt:lpstr>
      <vt:lpstr>Cambria</vt:lpstr>
      <vt:lpstr>Neue Haas Grotesk Text Pro</vt:lpstr>
      <vt:lpstr>GestaltVTI</vt:lpstr>
      <vt:lpstr>Spielesammlung</vt:lpstr>
      <vt:lpstr>Code-Namen</vt:lpstr>
      <vt:lpstr>Codename</vt:lpstr>
      <vt:lpstr>Namen lernen</vt:lpstr>
      <vt:lpstr>Zip-Zap</vt:lpstr>
      <vt:lpstr>Kennst du mich?</vt:lpstr>
      <vt:lpstr>Reden, Erzählen, Gemeinschaft </vt:lpstr>
      <vt:lpstr>123 Spiel</vt:lpstr>
      <vt:lpstr>20 Sekunden</vt:lpstr>
      <vt:lpstr>Mathe</vt:lpstr>
      <vt:lpstr>Bewegung, im Kreis</vt:lpstr>
      <vt:lpstr>2 Dinge überholen</vt:lpstr>
      <vt:lpstr>2 Dinge überholen</vt:lpstr>
      <vt:lpstr>Bewegung, aber am Platz</vt:lpstr>
      <vt:lpstr>Miris Klatschen</vt:lpstr>
      <vt:lpstr>Falsche Bewegung</vt:lpstr>
      <vt:lpstr>Exit-Tickets, Üben, etc.</vt:lpstr>
      <vt:lpstr>Viel Bewegung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 Vera</dc:creator>
  <cp:lastModifiedBy>Christ Vera</cp:lastModifiedBy>
  <cp:revision>10</cp:revision>
  <dcterms:created xsi:type="dcterms:W3CDTF">2025-06-06T10:09:26Z</dcterms:created>
  <dcterms:modified xsi:type="dcterms:W3CDTF">2025-06-09T06:42:08Z</dcterms:modified>
</cp:coreProperties>
</file>