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2" r:id="rId3"/>
    <p:sldId id="325" r:id="rId4"/>
    <p:sldId id="326" r:id="rId5"/>
    <p:sldId id="327" r:id="rId6"/>
    <p:sldId id="328" r:id="rId7"/>
    <p:sldId id="329" r:id="rId8"/>
    <p:sldId id="311" r:id="rId9"/>
    <p:sldId id="313" r:id="rId10"/>
    <p:sldId id="31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26469-31D9-3E32-1BD6-AEA0FC46C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5A7F64-5EDE-4C2B-173D-F6F5061D9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D50134-8B19-0EB5-EDF1-E4216C7A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DA29B4-8008-2CB5-F4FB-54B51A39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11F3FD-EFD6-ADEF-F2C1-681BE6A1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85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32AB0-7166-B8BF-A416-7ABA3A91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A57AF3-9ACC-7489-270B-B0EB0FB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15AE05-8396-336C-5365-28B467FC1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568B90-DF6C-C67C-DC3E-EA720A5D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022E57-F614-7B55-8C23-E016685E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26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3057F-8B56-7D15-D5E7-51EF0998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322D5-4ED7-7883-43FD-893D9B4E0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A1EA21-5FBC-572B-E144-89DB7A5C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DA45B5-0100-CEC3-6DCC-206EC94F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D7990-424F-B2A6-17C2-4DF8E8EF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83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E1F7B5-EF2B-B2C1-64A3-8B3D433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0EF192-19A6-7B3B-BDC9-18FCCADBA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16BFA5-C8B5-CE89-714E-337E630A9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FD96C8-964A-B0B8-D718-C661A68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629D68-FB41-199E-63CC-AFA436AC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34789C-2940-82EF-11C7-163B46DC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06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B0DB2-0A6D-DBED-FD4A-5FF1D4A2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231BF2-BC50-2B39-76C5-745E325B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6D628D-3478-72A9-3354-E3891EDCA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7BB91B-9D4D-4BF5-09D8-A1DDA6555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5A2EBC-9F98-EB3D-0683-42DCB334C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A3300D-9B69-5B24-59E9-07576710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6D84F62-4281-2E51-9E19-DA6D5B0D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574202-72F0-4F2C-E633-BB7CEA8E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91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9D0B6-8EAE-3AF5-5D8A-718DD60B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C2B23B-2176-3E3B-22C5-277FA35C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C797C1-D645-5594-2871-96ED249F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1A286D-0D8C-9FF4-E105-2B9772CE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24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FAD28BF-F563-1FEA-8EB2-70396EC4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ADF821-B6F9-C7E3-1410-5A1EDFA4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2765CA-EBA2-FA16-C49B-3EDFD650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35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9C20D-1594-8733-A1A2-75399D5D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40DEB-A63F-B4F4-314C-21105322E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9D4D33-13AA-6F99-73E8-F507BA7B1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3B3E21-7D73-FDB7-CC8A-A3BA0F09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49235-910F-ABCC-8ACC-0292DE4D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2B2AA6-B173-DFAD-B7A3-60E58852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79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CA18D-DAF2-80BF-513E-535419E7C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B50B475-0457-3DF4-31EB-67DD1851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250181-5966-A179-6445-8937EEE5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3776D7-7CC9-9310-6A60-C263B6EF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03590F-C401-FF33-34E4-BF45E7A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55AEC5-8229-D759-9557-B2D73041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04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6D00A-7D0C-07C8-7376-24AD5A9D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D2582E-B21C-F125-9397-370C9A08A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DAB772-7A73-4786-72BB-80315A2A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90B79E-4AEA-2CC6-334C-F6FD3978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FB5B38-FD72-EC81-84C9-CC05A0BF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95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CD87453-CF31-E471-5AAA-F1F555326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728573-5F7D-9265-251A-250E27FD8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A3523E-11BD-5506-F670-D9D571D1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A7D419-2424-479C-01E2-D84AC359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1B3409-70B6-D173-A87A-719470EE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59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DC5693-5F2A-088F-89AC-D5D497B0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CDB50E-A1B8-4303-A906-32164B78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FFBA3F-3BE6-98FF-3E8E-994740201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D16E7-A59D-B548-8DBA-568C1B65890F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143E6-17FE-A6B0-1921-AB56189AA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2DA3F5-8FA6-73F4-11A9-21BA2D1CA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29B0-FD05-E24F-AE3B-7713A6115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79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976FA8-4B57-DD4B-3D9F-9357B7791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A83673-6DD8-A3D7-B41E-FA2B5F232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7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9ABAA6-6009-FBFE-7847-5A8F2034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0" y="258438"/>
            <a:ext cx="11500239" cy="9086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168FB0-1D91-0BB4-5859-B75BC3A61F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5" r="3249"/>
          <a:stretch/>
        </p:blipFill>
        <p:spPr>
          <a:xfrm>
            <a:off x="601578" y="2501488"/>
            <a:ext cx="11244541" cy="209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3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AC17A94-0091-7537-9ACD-18BB25CF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3" y="2462120"/>
            <a:ext cx="11566047" cy="259114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6217C58-1115-6259-8099-0583265AB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80" y="258438"/>
            <a:ext cx="11500239" cy="9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83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6217C58-1115-6259-8099-0583265A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0" y="258438"/>
            <a:ext cx="11500239" cy="90862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B6CCE8D-EC05-E218-8809-D1761BA1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80" y="2014985"/>
            <a:ext cx="11266501" cy="382033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11C39180-212E-25AC-036A-E1E5DD922596}"/>
              </a:ext>
            </a:extLst>
          </p:cNvPr>
          <p:cNvSpPr/>
          <p:nvPr/>
        </p:nvSpPr>
        <p:spPr>
          <a:xfrm>
            <a:off x="5594684" y="3429000"/>
            <a:ext cx="6251435" cy="2574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52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6217C58-1115-6259-8099-0583265A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0" y="258438"/>
            <a:ext cx="11500239" cy="90862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B6CCE8D-EC05-E218-8809-D1761BA1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80" y="2014985"/>
            <a:ext cx="11266501" cy="38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2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4ECE1E6-0E66-4787-86AE-A662A548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04" y="2573247"/>
            <a:ext cx="11835496" cy="171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EEEE7F9-7FF9-7990-5305-8CBFB2910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8" y="790575"/>
            <a:ext cx="10901363" cy="494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7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>
            <a:extLst>
              <a:ext uri="{FF2B5EF4-FFF2-40B4-BE49-F238E27FC236}">
                <a16:creationId xmlns:a16="http://schemas.microsoft.com/office/drawing/2014/main" id="{92494F34-0502-98DE-363A-E637C88995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806C9F-287B-D9CC-6587-4623C31A4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5144172"/>
            <a:ext cx="4343400" cy="19304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0798F2E4-784A-8597-91F0-63644A618DF2}"/>
              </a:ext>
            </a:extLst>
          </p:cNvPr>
          <p:cNvSpPr/>
          <p:nvPr/>
        </p:nvSpPr>
        <p:spPr>
          <a:xfrm>
            <a:off x="1013660" y="403144"/>
            <a:ext cx="10469479" cy="46568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fontAlgn="base"/>
            <a:r>
              <a:rPr lang="de-DE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Sicherheitsziele der Informatik</a:t>
            </a:r>
          </a:p>
          <a:p>
            <a:pPr algn="l" rtl="0" fontAlgn="base"/>
            <a:endParaRPr lang="de-DE" sz="3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/>
            <a:r>
              <a:rPr lang="de-DE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Vertraulichkeit</a:t>
            </a:r>
            <a:r>
              <a:rPr lang="de-DE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Nur diejenigen, die die Nachricht lesen sollen, können dies auch.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/>
            <a:endParaRPr lang="de-DE" sz="4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de-DE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Integrität</a:t>
            </a:r>
            <a:r>
              <a:rPr lang="de-DE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Die Nachricht soll nicht geändert werden durch Dritte (Eve).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/>
            <a:endParaRPr lang="de-DE" sz="4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de-DE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Authentizität</a:t>
            </a:r>
            <a:r>
              <a:rPr lang="de-DE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Der angebliche Versender muss auch der tatsächliche sein.</a:t>
            </a:r>
          </a:p>
          <a:p>
            <a:pPr algn="l" rtl="0" fontAlgn="base"/>
            <a:r>
              <a:rPr lang="de-DE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de-DE" sz="4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de-DE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Verbindlichkeit/Nicht-</a:t>
            </a:r>
            <a:r>
              <a:rPr lang="de-DE" sz="24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Abstreitbarkeit</a:t>
            </a:r>
            <a:r>
              <a:rPr lang="de-DE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Alice kann im Nachhinein nicht abstreiten, dass die Nachricht von ihr kam.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de-DE" sz="4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32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C34FAEA-48AB-BDD3-9634-B010CA165D16}"/>
              </a:ext>
            </a:extLst>
          </p:cNvPr>
          <p:cNvSpPr txBox="1"/>
          <p:nvPr/>
        </p:nvSpPr>
        <p:spPr>
          <a:xfrm>
            <a:off x="195512" y="93492"/>
            <a:ext cx="745657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Aufgabe 2</a:t>
            </a:r>
            <a:endParaRPr lang="de-DE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e-DE" sz="20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Finde vier Situationen aus dem alltäglichen Leben, in denen der Computer keine Rolle spielt und in denen ebenfalls Sicherheitsprobleme bei der Kommunikation auftreten können.</a:t>
            </a:r>
            <a:endParaRPr lang="de-DE" sz="2000" kern="1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sz="20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Beschreibe jeweils kurz</a:t>
            </a:r>
            <a:r>
              <a:rPr lang="de-DE" sz="2000" kern="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</a:t>
            </a:r>
            <a:endParaRPr lang="de-DE" sz="2000" kern="1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de-DE" sz="20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 Situationen,</a:t>
            </a:r>
            <a:endParaRPr lang="de-DE" sz="2000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de-DE" sz="20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 möglichen Sicherheitsprobleme und</a:t>
            </a:r>
            <a:endParaRPr lang="de-DE" sz="2000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de-DE" sz="20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welche Sicherheitsziele nicht erreicht werden.</a:t>
            </a:r>
            <a:endParaRPr lang="de-DE" sz="2000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926186-0697-A401-BBC2-D7392B6FE463}"/>
              </a:ext>
            </a:extLst>
          </p:cNvPr>
          <p:cNvSpPr txBox="1"/>
          <p:nvPr/>
        </p:nvSpPr>
        <p:spPr>
          <a:xfrm>
            <a:off x="2637923" y="3153415"/>
            <a:ext cx="92733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fontAlgn="base"/>
            <a:r>
              <a:rPr lang="de-DE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Mögliche Lösung</a:t>
            </a:r>
          </a:p>
          <a:p>
            <a:pPr marL="685800" fontAlgn="base"/>
            <a:endParaRPr lang="de-DE" sz="2400" b="1" dirty="0">
              <a:solidFill>
                <a:srgbClr val="0070C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143000" indent="-457200" fontAlgn="base">
              <a:buFont typeface="+mj-lt"/>
              <a:buAutoNum type="arabicPeriod"/>
            </a:pP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Brief wird abgefangen -&gt; </a:t>
            </a:r>
            <a:r>
              <a:rPr lang="de-DE" sz="24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Vert</a:t>
            </a: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 I Verb </a:t>
            </a:r>
            <a:endParaRPr lang="de-DE" sz="24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indent="-457200" fontAlgn="base">
              <a:buFont typeface="+mj-lt"/>
              <a:buAutoNum type="arabicPeriod"/>
            </a:pP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Missverständnis: Infos werden falsch weitergegeben -&gt; I A </a:t>
            </a:r>
            <a:endParaRPr lang="de-DE" sz="24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indent="-457200" fontAlgn="base">
              <a:buFont typeface="+mj-lt"/>
              <a:buAutoNum type="arabicPeriod"/>
            </a:pP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Enkeltrick -&gt; A </a:t>
            </a:r>
            <a:endParaRPr lang="de-DE" sz="24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indent="-457200" fontAlgn="base">
              <a:buFont typeface="+mj-lt"/>
              <a:buAutoNum type="arabicPeriod"/>
            </a:pPr>
            <a:r>
              <a:rPr lang="de-DE" sz="24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Klassiches</a:t>
            </a: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Gespräch, das abgehört wird -&gt; V </a:t>
            </a:r>
            <a:endParaRPr lang="de-DE" sz="24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indent="-457200" fontAlgn="base">
              <a:buFont typeface="+mj-lt"/>
              <a:buAutoNum type="arabicPeriod"/>
            </a:pPr>
            <a:r>
              <a:rPr lang="de-DE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Autounfall: Jemand fährt Fahrradfahrer an und begeht Fahrerflucht, streitet dies ab -&gt; Verbindlichkeit </a:t>
            </a:r>
            <a:endParaRPr lang="de-DE" sz="24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0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C34FAEA-48AB-BDD3-9634-B010CA165D16}"/>
              </a:ext>
            </a:extLst>
          </p:cNvPr>
          <p:cNvSpPr txBox="1"/>
          <p:nvPr/>
        </p:nvSpPr>
        <p:spPr>
          <a:xfrm>
            <a:off x="195511" y="626677"/>
            <a:ext cx="52186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Aufgabe 3</a:t>
            </a:r>
            <a:endParaRPr lang="de-DE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de-DE" sz="18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Stelle dir vor, dass Eve bei einer Nachricht zwischen den Kommunikationspartnern Alice und Bob die Integrität unterwandert.</a:t>
            </a:r>
            <a:endParaRPr lang="de-DE" sz="1800" kern="1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de-DE" sz="1800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de-DE" sz="1800" kern="1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just"/>
            <a:r>
              <a:rPr lang="de-DE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Beschreibe einen denkbaren Fall in dem Eve einen Vorteil hätte, einen Teil der Nachricht zu löschen und …</a:t>
            </a:r>
            <a:endParaRPr lang="de-DE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926186-0697-A401-BBC2-D7392B6FE463}"/>
              </a:ext>
            </a:extLst>
          </p:cNvPr>
          <p:cNvSpPr txBox="1"/>
          <p:nvPr/>
        </p:nvSpPr>
        <p:spPr>
          <a:xfrm>
            <a:off x="5719012" y="1959509"/>
            <a:ext cx="47364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DE" b="1" dirty="0">
                <a:solidFill>
                  <a:srgbClr val="0070C0"/>
                </a:solidFill>
              </a:rPr>
              <a:t>Mögliche Lösung: </a:t>
            </a:r>
            <a:r>
              <a:rPr lang="de-DE" dirty="0">
                <a:solidFill>
                  <a:srgbClr val="0070C0"/>
                </a:solidFill>
              </a:rPr>
              <a:t>Alice/Bob schreiben etwas schlechtes über Eve.</a:t>
            </a:r>
          </a:p>
          <a:p>
            <a:pPr fontAlgn="base"/>
            <a:r>
              <a:rPr lang="de-DE" dirty="0">
                <a:solidFill>
                  <a:srgbClr val="0070C0"/>
                </a:solidFill>
              </a:rPr>
              <a:t>Missverständnisse verhindern/verursachen -&gt; Streit erzeugen/verhindern 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D964A59-B306-11ED-32B7-777F761A658C}"/>
              </a:ext>
            </a:extLst>
          </p:cNvPr>
          <p:cNvSpPr txBox="1"/>
          <p:nvPr/>
        </p:nvSpPr>
        <p:spPr>
          <a:xfrm>
            <a:off x="604586" y="3698162"/>
            <a:ext cx="4809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de-DE" kern="1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beschreibe einen denkbaren Fall in dem Eve einen Vorteil davon hätte, der Nachricht etwas hinzuzufügen bzw. einen Teil zu ändern.</a:t>
            </a:r>
            <a:endParaRPr lang="de-DE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D78878-C45B-8450-09EC-D39005ECB822}"/>
              </a:ext>
            </a:extLst>
          </p:cNvPr>
          <p:cNvSpPr txBox="1"/>
          <p:nvPr/>
        </p:nvSpPr>
        <p:spPr>
          <a:xfrm>
            <a:off x="5818774" y="3714661"/>
            <a:ext cx="4937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DE" b="1" dirty="0">
                <a:solidFill>
                  <a:srgbClr val="0070C0"/>
                </a:solidFill>
              </a:rPr>
              <a:t>Mögliche Lösung: </a:t>
            </a:r>
            <a:endParaRPr lang="de-DE" dirty="0">
              <a:solidFill>
                <a:srgbClr val="0070C0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A+B wollen sich verabreden, Eve ändert Datum -&gt; beide fühlen sich versetzt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Streit kann verhindert/verursacht werden -&gt; Missverständnisse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"Du schuldest Eve 5 Euro" -&gt; Eve zieht eigenen Nutzen daraus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"Ich hasse die Farbe rot" auf Ethnie beziehen </a:t>
            </a:r>
          </a:p>
        </p:txBody>
      </p:sp>
    </p:spTree>
    <p:extLst>
      <p:ext uri="{BB962C8B-B14F-4D97-AF65-F5344CB8AC3E}">
        <p14:creationId xmlns:p14="http://schemas.microsoft.com/office/powerpoint/2010/main" val="219876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Breitbild</PresentationFormat>
  <Paragraphs>34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Segoe UI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1</cp:revision>
  <dcterms:created xsi:type="dcterms:W3CDTF">2026-02-09T09:43:59Z</dcterms:created>
  <dcterms:modified xsi:type="dcterms:W3CDTF">2026-02-09T09:44:12Z</dcterms:modified>
</cp:coreProperties>
</file>