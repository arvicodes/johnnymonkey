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86491"/>
  </p:normalViewPr>
  <p:slideViewPr>
    <p:cSldViewPr snapToGrid="0">
      <p:cViewPr varScale="1">
        <p:scale>
          <a:sx n="95" d="100"/>
          <a:sy n="95" d="100"/>
        </p:scale>
        <p:origin x="8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B18EC-3EA1-6347-9943-D7AD55E4F9CE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334BD-055A-1842-A3B3-08C2DC2107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2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334BD-055A-1842-A3B3-08C2DC2107C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790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710F6-CC44-0300-EC52-FFD9E3BDA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39B8D6-CADF-20B2-101B-2246097BB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8443DD-1595-C759-87CE-E55CD53E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60F9D-8E91-FDD1-6F63-D42069B5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DCA0CF-18FB-F224-D7AA-D45F6996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15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0354F-5DD9-8B18-1612-BA117F81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11BB26-DB98-CF0C-8B2A-8ADA0F2A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E6FC95-E315-1B4F-CF2B-C98DCB01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0D243F-E34B-BB8B-0EB3-8916F9E9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659D07-AF27-177D-5B70-9EBD9F4F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29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5E280-C2E1-8F3E-18EE-E332F6D2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7A75EF-A1F4-3979-9B40-CA76D71B5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510101-9B7E-EBB1-F841-11B7EC66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EE7FB-6FE6-9331-C719-4830F83B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383038-54AC-9C5D-D992-00C93BB5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17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BFC8D-76C5-10EF-E3F4-D18FAA52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412469-5812-3966-D28D-A340D9A52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48674B-BC9E-0CEA-F553-9110DD492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565302-2F84-6AD6-DDA6-E82E9EB3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06F8FE-0A10-3AD4-E823-575E2398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C3FC94-E7FD-4985-CCF2-75CD800E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3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ECA00-D7C6-9D76-37E6-ADA8D177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30784A-36A8-1C02-C5BA-BEDC614AB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197CD2-BA1B-A882-A4EA-6C2978671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3B9A37-1F74-7EDC-0576-2A3EC195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28D8FF-5CDA-0E9A-06E1-E481080C5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068C4C3-105A-B70B-745B-829D2BFB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B8E965-1F18-2E14-97E0-BB7FACA9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48C572-A23E-3EFF-2E95-BFD80A58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6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85768-4056-790E-F012-D1946C0D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CD43EA-2050-AA9E-6A7D-B707B794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558B8-1A39-B545-6C24-52CCF328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B85D17-4420-D873-AAEB-5186F2B9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96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3FC8ED-CE1C-60D0-F2D8-6527659F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59C2C2-897E-1925-B8FE-73F8AE4C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9C77D1-970A-9457-8AFC-B7DCBB1B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61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F9173-B9E6-8392-FAEA-6170E039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CB5EA-4184-E971-573A-B2336CAD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6387F2-11BF-69ED-974A-18940F179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F0C4CB-169E-1FD3-EC4D-7C5184A4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56E753-2C51-F7F9-5567-E7D16BD2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995A05-279E-640E-2B19-16935EAB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11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60A42-5A97-A4AE-890F-362ECD05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D78EF2-6D8C-AFED-67B5-80AFD5B5C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54DBDA-FB3F-732A-B1B1-CEB5E2E26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7A5BD-8FC4-517E-E327-79346B93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3F66EE-48E6-12F3-E0FA-E10E2482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0E95C9-820E-29FB-BEBE-F9C2D3D6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31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787BB-28BD-9D9A-9FE0-E6488318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E36C0C8-5974-07E8-8BD2-DEE253FB4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BE228-84C4-E987-08FC-6E1F70B1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A516E9-A624-116D-F1DB-0084CF55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B2C91C-8648-3F3E-07E0-992920D1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87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A8D2AA-A712-F6B9-A719-339F98A6A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1E37D0-471E-ADFB-E606-403B3A27D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F74D94-1B8D-E543-4DF7-013D1EF8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8D8215-38C2-5321-6653-7E5CE50F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C2DB87-71C8-7952-6650-022F5EB1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8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63C805-C9ED-3758-1C67-00812301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2D4FA1-3E81-0AEB-B3C6-69E46AF32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22CD0A-A21C-1B14-1766-FC309B32F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F7714A-63E6-9D97-9EAA-B2BA5EDB8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377FB-26B2-D54A-0E02-19BD3EE60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Muster, Quadrat, Symmetrie, Rechteck enthält.&#10;&#10;KI-generierte Inhalte können fehlerhaft sein.">
            <a:extLst>
              <a:ext uri="{FF2B5EF4-FFF2-40B4-BE49-F238E27FC236}">
                <a16:creationId xmlns:a16="http://schemas.microsoft.com/office/drawing/2014/main" id="{07B78164-A787-DC94-9E4A-4F3E5479C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72" y="319741"/>
            <a:ext cx="3378200" cy="33782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6FE4B31-5532-D5EF-1183-39BA5E28C41C}"/>
              </a:ext>
            </a:extLst>
          </p:cNvPr>
          <p:cNvSpPr txBox="1"/>
          <p:nvPr/>
        </p:nvSpPr>
        <p:spPr>
          <a:xfrm>
            <a:off x="4773704" y="4907304"/>
            <a:ext cx="69863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b="1" dirty="0"/>
              <a:t>Verschiedene Größen/Versionen: </a:t>
            </a:r>
          </a:p>
          <a:p>
            <a:pPr algn="just"/>
            <a:r>
              <a:rPr lang="de-DE" dirty="0"/>
              <a:t>mehr Module = mehr Daten </a:t>
            </a:r>
            <a:r>
              <a:rPr lang="de-DE" sz="1600" i="1" dirty="0">
                <a:sym typeface="Wingdings" pitchFamily="2" charset="2"/>
              </a:rPr>
              <a:t></a:t>
            </a:r>
            <a:r>
              <a:rPr lang="de-DE" sz="1600" i="1" dirty="0"/>
              <a:t> Wie  viele genau? </a:t>
            </a:r>
          </a:p>
          <a:p>
            <a:pPr algn="just"/>
            <a:endParaRPr lang="de-DE" i="1" dirty="0"/>
          </a:p>
          <a:p>
            <a:pPr algn="just"/>
            <a:r>
              <a:rPr lang="de-DE" b="1" dirty="0"/>
              <a:t>Alignment-Pattern </a:t>
            </a:r>
            <a:r>
              <a:rPr lang="de-DE" dirty="0"/>
              <a:t>bieten</a:t>
            </a:r>
            <a:r>
              <a:rPr lang="de-DE" b="1" dirty="0"/>
              <a:t> </a:t>
            </a:r>
            <a:r>
              <a:rPr lang="de-DE" dirty="0"/>
              <a:t>in höheren Versionen Orientierungspunkte</a:t>
            </a:r>
          </a:p>
          <a:p>
            <a:pPr algn="just"/>
            <a:endParaRPr lang="de-DE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39927961-9F4F-D337-7219-FE233D60D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382324"/>
              </p:ext>
            </p:extLst>
          </p:nvPr>
        </p:nvGraphicFramePr>
        <p:xfrm>
          <a:off x="209832" y="209006"/>
          <a:ext cx="3837730" cy="636660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74363">
                  <a:extLst>
                    <a:ext uri="{9D8B030D-6E8A-4147-A177-3AD203B41FA5}">
                      <a16:colId xmlns:a16="http://schemas.microsoft.com/office/drawing/2014/main" val="3061652348"/>
                    </a:ext>
                  </a:extLst>
                </a:gridCol>
                <a:gridCol w="2263367">
                  <a:extLst>
                    <a:ext uri="{9D8B030D-6E8A-4147-A177-3AD203B41FA5}">
                      <a16:colId xmlns:a16="http://schemas.microsoft.com/office/drawing/2014/main" val="2985872496"/>
                    </a:ext>
                  </a:extLst>
                </a:gridCol>
              </a:tblGrid>
              <a:tr h="8596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 dirty="0">
                          <a:effectLst/>
                        </a:rPr>
                        <a:t>Barcode</a:t>
                      </a:r>
                      <a:endParaRPr lang="de-DE" sz="28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 dirty="0">
                          <a:effectLst/>
                        </a:rPr>
                        <a:t>QR-Code</a:t>
                      </a:r>
                      <a:endParaRPr lang="de-DE" sz="28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2606596854"/>
                  </a:ext>
                </a:extLst>
              </a:tr>
              <a:tr h="5753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1D</a:t>
                      </a:r>
                      <a:endParaRPr lang="de-DE" sz="1200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2D </a:t>
                      </a:r>
                      <a:endParaRPr lang="de-DE" sz="1200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243129640"/>
                  </a:ext>
                </a:extLst>
              </a:tr>
              <a:tr h="7729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nur</a:t>
                      </a:r>
                      <a:r>
                        <a:rPr lang="en-US" sz="1200" dirty="0">
                          <a:effectLst/>
                        </a:rPr>
                        <a:t> 13 </a:t>
                      </a:r>
                      <a:r>
                        <a:rPr lang="en-US" sz="1200" dirty="0" err="1">
                          <a:effectLst/>
                        </a:rPr>
                        <a:t>Ziffern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de-D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bis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zu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mehrere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tausend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Zeichen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7030A0"/>
                          </a:solidFill>
                          <a:effectLst/>
                        </a:rPr>
                        <a:t>-- </a:t>
                      </a:r>
                      <a:r>
                        <a:rPr lang="en-US" sz="1200" b="1" dirty="0" err="1">
                          <a:solidFill>
                            <a:srgbClr val="7030A0"/>
                          </a:solidFill>
                          <a:effectLst/>
                        </a:rPr>
                        <a:t>viel</a:t>
                      </a:r>
                      <a:r>
                        <a:rPr lang="en-US" sz="1200" b="1" dirty="0">
                          <a:solidFill>
                            <a:srgbClr val="7030A0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7030A0"/>
                          </a:solidFill>
                          <a:effectLst/>
                        </a:rPr>
                        <a:t>höhere</a:t>
                      </a:r>
                      <a:r>
                        <a:rPr lang="en-US" sz="1200" b="1" dirty="0">
                          <a:solidFill>
                            <a:srgbClr val="7030A0"/>
                          </a:solidFill>
                          <a:effectLst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7030A0"/>
                          </a:solidFill>
                          <a:effectLst/>
                        </a:rPr>
                        <a:t>Informationsdichte</a:t>
                      </a:r>
                      <a:endParaRPr lang="en-US" sz="12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705292664"/>
                  </a:ext>
                </a:extLst>
              </a:tr>
              <a:tr h="7593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Zahlen</a:t>
                      </a:r>
                      <a:endParaRPr lang="de-D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Zahlen, </a:t>
                      </a:r>
                      <a:r>
                        <a:rPr lang="en-US" sz="1200" dirty="0" err="1">
                          <a:effectLst/>
                        </a:rPr>
                        <a:t>Buchstaben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Sonderzeichen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Binär</a:t>
                      </a:r>
                      <a:endParaRPr lang="de-D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2777850356"/>
                  </a:ext>
                </a:extLst>
              </a:tr>
              <a:tr h="9427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nur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eine</a:t>
                      </a:r>
                      <a:r>
                        <a:rPr lang="en-US" sz="1200" dirty="0">
                          <a:effectLst/>
                        </a:rPr>
                        <a:t> Ziffer </a:t>
                      </a:r>
                      <a:r>
                        <a:rPr lang="en-US" sz="1200" dirty="0" err="1">
                          <a:effectLst/>
                        </a:rPr>
                        <a:t>korrigierbar</a:t>
                      </a:r>
                      <a:endParaRPr lang="en-US" sz="1200" dirty="0">
                        <a:effectLst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bessere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Fehlerkorrektur</a:t>
                      </a:r>
                      <a:r>
                        <a:rPr lang="en-US" sz="1200" dirty="0">
                          <a:effectLst/>
                        </a:rPr>
                        <a:t>?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i="1" dirty="0">
                          <a:effectLst/>
                        </a:rPr>
                        <a:t>(</a:t>
                      </a:r>
                      <a:r>
                        <a:rPr lang="en-US" sz="1100" i="1" dirty="0" err="1">
                          <a:effectLst/>
                        </a:rPr>
                        <a:t>tatsächlich</a:t>
                      </a:r>
                      <a:r>
                        <a:rPr lang="en-US" sz="1100" i="1" dirty="0">
                          <a:effectLst/>
                        </a:rPr>
                        <a:t>: bis </a:t>
                      </a:r>
                      <a:r>
                        <a:rPr lang="en-US" sz="1100" i="1" dirty="0" err="1">
                          <a:effectLst/>
                        </a:rPr>
                        <a:t>zu</a:t>
                      </a:r>
                      <a:r>
                        <a:rPr lang="en-US" sz="1100" i="1" dirty="0">
                          <a:effectLst/>
                        </a:rPr>
                        <a:t> 30 % </a:t>
                      </a:r>
                      <a:r>
                        <a:rPr lang="en-US" sz="1100" i="1" dirty="0" err="1">
                          <a:effectLst/>
                        </a:rPr>
                        <a:t>Beschädigung</a:t>
                      </a:r>
                      <a:r>
                        <a:rPr lang="en-US" sz="1100" i="1" dirty="0">
                          <a:effectLst/>
                        </a:rPr>
                        <a:t> </a:t>
                      </a:r>
                      <a:r>
                        <a:rPr lang="en-US" sz="1100" i="1" dirty="0" err="1">
                          <a:effectLst/>
                        </a:rPr>
                        <a:t>korrigierbar</a:t>
                      </a:r>
                      <a:r>
                        <a:rPr lang="en-US" sz="1100" i="1" dirty="0">
                          <a:effectLst/>
                        </a:rPr>
                        <a:t> )</a:t>
                      </a: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4067742167"/>
                  </a:ext>
                </a:extLst>
              </a:tr>
              <a:tr h="12321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Produktnummern</a:t>
                      </a:r>
                      <a:r>
                        <a:rPr lang="en-US" sz="1200" dirty="0">
                          <a:effectLst/>
                        </a:rPr>
                        <a:t>, Kasse, Lager</a:t>
                      </a:r>
                      <a:endParaRPr lang="de-D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Links, WLAN-</a:t>
                      </a:r>
                      <a:r>
                        <a:rPr lang="en-US" sz="1200" dirty="0" err="1">
                          <a:effectLst/>
                        </a:rPr>
                        <a:t>Zugang</a:t>
                      </a:r>
                      <a:r>
                        <a:rPr lang="en-US" sz="1200" dirty="0">
                          <a:effectLst/>
                        </a:rPr>
                        <a:t>, Tickets, </a:t>
                      </a:r>
                      <a:r>
                        <a:rPr lang="en-US" sz="1200" dirty="0" err="1">
                          <a:effectLst/>
                        </a:rPr>
                        <a:t>Zahlungen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Werbung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Visitenkarten</a:t>
                      </a:r>
                      <a:r>
                        <a:rPr lang="en-US" sz="1200" dirty="0">
                          <a:effectLst/>
                        </a:rPr>
                        <a:t>, u. v. m.</a:t>
                      </a:r>
                      <a:endParaRPr lang="de-D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3351371995"/>
                  </a:ext>
                </a:extLst>
              </a:tr>
              <a:tr h="12244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Daten sind in (zentralen oder lokalen) Datenbank gespeichert</a:t>
                      </a:r>
                      <a:endParaRPr lang="de-DE" sz="12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de-DE" sz="1200" b="1" dirty="0">
                          <a:solidFill>
                            <a:srgbClr val="7030A0"/>
                          </a:solidFill>
                          <a:effectLst/>
                        </a:rPr>
                        <a:t>Daten befinden sich direkt im QR-Code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(es ist kein externer Zugriff nötig)</a:t>
                      </a:r>
                      <a:endParaRPr lang="de-DE" sz="12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304" marR="87304" marT="0" marB="0" anchor="ctr"/>
                </a:tc>
                <a:extLst>
                  <a:ext uri="{0D108BD9-81ED-4DB2-BD59-A6C34878D82A}">
                    <a16:rowId xmlns:a16="http://schemas.microsoft.com/office/drawing/2014/main" val="4087317471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D1F11FDC-910B-2834-8129-6DD2FD577513}"/>
              </a:ext>
            </a:extLst>
          </p:cNvPr>
          <p:cNvSpPr txBox="1"/>
          <p:nvPr/>
        </p:nvSpPr>
        <p:spPr>
          <a:xfrm>
            <a:off x="9439917" y="140726"/>
            <a:ext cx="18826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FF0000"/>
                </a:solidFill>
              </a:rPr>
              <a:t>Markierungen zur Orientierung: </a:t>
            </a:r>
          </a:p>
          <a:p>
            <a:pPr algn="ctr"/>
            <a:r>
              <a:rPr lang="de-DE" sz="1400" b="1" dirty="0">
                <a:solidFill>
                  <a:srgbClr val="FF0000"/>
                </a:solidFill>
              </a:rPr>
              <a:t>Finder-Pattern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84F724A-6837-52E5-811B-2805893A97FC}"/>
              </a:ext>
            </a:extLst>
          </p:cNvPr>
          <p:cNvSpPr/>
          <p:nvPr/>
        </p:nvSpPr>
        <p:spPr>
          <a:xfrm>
            <a:off x="8727141" y="443753"/>
            <a:ext cx="1021977" cy="102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EBEAC99-DE17-0F63-88C9-4CFEB2FBFDFF}"/>
              </a:ext>
            </a:extLst>
          </p:cNvPr>
          <p:cNvSpPr/>
          <p:nvPr/>
        </p:nvSpPr>
        <p:spPr>
          <a:xfrm>
            <a:off x="6721283" y="443753"/>
            <a:ext cx="1021977" cy="102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CEFB847-270A-481E-9B70-912C125D3048}"/>
              </a:ext>
            </a:extLst>
          </p:cNvPr>
          <p:cNvSpPr/>
          <p:nvPr/>
        </p:nvSpPr>
        <p:spPr>
          <a:xfrm>
            <a:off x="6721283" y="2433918"/>
            <a:ext cx="1021977" cy="102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56F3B6A-9435-E9AB-3E34-15A443B9114E}"/>
              </a:ext>
            </a:extLst>
          </p:cNvPr>
          <p:cNvSpPr/>
          <p:nvPr/>
        </p:nvSpPr>
        <p:spPr>
          <a:xfrm>
            <a:off x="7743260" y="1304365"/>
            <a:ext cx="983881" cy="161364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5F32479-D819-996C-5ADE-91A5AAF32829}"/>
              </a:ext>
            </a:extLst>
          </p:cNvPr>
          <p:cNvSpPr/>
          <p:nvPr/>
        </p:nvSpPr>
        <p:spPr>
          <a:xfrm rot="16200000">
            <a:off x="7170638" y="1861295"/>
            <a:ext cx="983881" cy="161364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D5FB807-D547-BA34-86DE-3F40607EB7D9}"/>
              </a:ext>
            </a:extLst>
          </p:cNvPr>
          <p:cNvSpPr txBox="1"/>
          <p:nvPr/>
        </p:nvSpPr>
        <p:spPr>
          <a:xfrm>
            <a:off x="5803420" y="1251355"/>
            <a:ext cx="84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Timinig</a:t>
            </a:r>
            <a:r>
              <a:rPr lang="de-DE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-Streifen</a:t>
            </a:r>
            <a:r>
              <a:rPr lang="de-DE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endParaRPr lang="de-DE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0E7AECE-6AEA-59CD-273D-29F06230CE05}"/>
              </a:ext>
            </a:extLst>
          </p:cNvPr>
          <p:cNvSpPr/>
          <p:nvPr/>
        </p:nvSpPr>
        <p:spPr>
          <a:xfrm>
            <a:off x="9560859" y="1589741"/>
            <a:ext cx="188259" cy="1848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DB56D3A-2577-29FA-5C47-D6D7C20FF4CF}"/>
              </a:ext>
            </a:extLst>
          </p:cNvPr>
          <p:cNvSpPr txBox="1"/>
          <p:nvPr/>
        </p:nvSpPr>
        <p:spPr>
          <a:xfrm>
            <a:off x="9805076" y="1528269"/>
            <a:ext cx="768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chemeClr val="accent2">
                    <a:lumMod val="75000"/>
                  </a:schemeClr>
                </a:solidFill>
              </a:rPr>
              <a:t>Modul</a:t>
            </a:r>
            <a:r>
              <a:rPr lang="de-DE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endParaRPr lang="de-DE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5DDC7204-5E8D-6BDE-BD76-7154AC4F50A6}"/>
              </a:ext>
            </a:extLst>
          </p:cNvPr>
          <p:cNvCxnSpPr/>
          <p:nvPr/>
        </p:nvCxnSpPr>
        <p:spPr>
          <a:xfrm>
            <a:off x="4370294" y="0"/>
            <a:ext cx="0" cy="68580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5C741D56-4516-DCBE-0B8A-BA24A53A7B8A}"/>
              </a:ext>
            </a:extLst>
          </p:cNvPr>
          <p:cNvCxnSpPr>
            <a:cxnSpLocks/>
          </p:cNvCxnSpPr>
          <p:nvPr/>
        </p:nvCxnSpPr>
        <p:spPr>
          <a:xfrm flipH="1">
            <a:off x="4370294" y="4558553"/>
            <a:ext cx="782170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89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Macintosh PowerPoint</Application>
  <PresentationFormat>Breitbild</PresentationFormat>
  <Paragraphs>26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36</cp:revision>
  <cp:lastPrinted>2025-09-25T19:53:19Z</cp:lastPrinted>
  <dcterms:created xsi:type="dcterms:W3CDTF">2025-09-21T19:30:12Z</dcterms:created>
  <dcterms:modified xsi:type="dcterms:W3CDTF">2025-10-21T06:35:35Z</dcterms:modified>
</cp:coreProperties>
</file>