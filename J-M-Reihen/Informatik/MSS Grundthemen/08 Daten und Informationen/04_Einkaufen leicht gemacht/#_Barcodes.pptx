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60" r:id="rId4"/>
    <p:sldId id="261" r:id="rId5"/>
    <p:sldId id="259" r:id="rId6"/>
    <p:sldId id="257" r:id="rId7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317"/>
    <p:restoredTop sz="94712"/>
  </p:normalViewPr>
  <p:slideViewPr>
    <p:cSldViewPr snapToGrid="0">
      <p:cViewPr varScale="1">
        <p:scale>
          <a:sx n="85" d="100"/>
          <a:sy n="85" d="100"/>
        </p:scale>
        <p:origin x="176" y="6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DAD15C4-25F7-BC55-7778-3F4D5300AF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831E2670-6EF0-55D8-8B2B-A07817258F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E3E84CE-D213-B851-6A79-19363550BA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417DD3-1272-D44D-B4E5-254390F670F7}" type="datetimeFigureOut">
              <a:rPr lang="de-DE" smtClean="0"/>
              <a:t>05.10.25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FD6123D-68DB-61DE-076D-4A9319F2F1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7B8A77F-F6AA-D94B-4FA8-4CC18F0153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C8AB1-54FF-DF4E-A17A-AB5C26FFDEB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986245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5BC42FF-BA56-EB6D-F078-57FC7C99BE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6114D00-16CB-BE08-E360-51AB08884E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D5AADC6-32AA-9DBF-C0F5-C4732D044B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417DD3-1272-D44D-B4E5-254390F670F7}" type="datetimeFigureOut">
              <a:rPr lang="de-DE" smtClean="0"/>
              <a:t>05.10.25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825CC5D-C57A-F48E-760D-E5ED368DD6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A3B9B27-549C-3515-ED1C-FBCA6C4892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C8AB1-54FF-DF4E-A17A-AB5C26FFDEB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552883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6C0A00D-86B6-F7E8-C709-F083C01DE6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ED5BBA1-D4BE-1385-9600-139D7E9BC8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EB186F0-6EF3-EB74-7322-822FFF1D5C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417DD3-1272-D44D-B4E5-254390F670F7}" type="datetimeFigureOut">
              <a:rPr lang="de-DE" smtClean="0"/>
              <a:t>05.10.25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B07B68B-121C-1307-503A-7D761AF336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2EB3764-0CEE-401C-0966-54BB3DF2E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C8AB1-54FF-DF4E-A17A-AB5C26FFDEB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097284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DC3A824-B2ED-B684-DB85-8CB12BB35B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DF4FD5B-D7CF-7C1B-8653-D75AD684228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DB72FDDE-9160-FAD1-4B9B-FFC19F3A78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FC196E5C-CADB-A876-2931-5FD405105D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417DD3-1272-D44D-B4E5-254390F670F7}" type="datetimeFigureOut">
              <a:rPr lang="de-DE" smtClean="0"/>
              <a:t>05.10.25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F40F60E-F3BA-8ABD-3770-B9E1EABA44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184AB93-249C-4DBB-725E-236899C0F4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C8AB1-54FF-DF4E-A17A-AB5C26FFDEB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331165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E0E9673-8B13-41BE-A8F3-59EB1770DB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5F37D5F-FCC7-2BFD-8018-669A3F14FA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D927E989-A435-F963-9926-A38C0C3A6F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2E952DEA-9942-3DFC-F790-3C87518860B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6A54AA48-9E44-5BAE-C526-AAACF45BAE4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B6B3A7A8-86E0-BA88-0A57-814DBC326E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417DD3-1272-D44D-B4E5-254390F670F7}" type="datetimeFigureOut">
              <a:rPr lang="de-DE" smtClean="0"/>
              <a:t>05.10.25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696BD47D-08FF-3F46-B7BF-A83EB171FB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BE1B3E68-B272-B3DF-7D9B-6776517E1C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C8AB1-54FF-DF4E-A17A-AB5C26FFDEB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851608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8859914-6589-E687-7C96-BD520E69BB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3D990FAE-1466-7B23-2C6C-1577FC62DD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417DD3-1272-D44D-B4E5-254390F670F7}" type="datetimeFigureOut">
              <a:rPr lang="de-DE" smtClean="0"/>
              <a:t>05.10.25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C58BEEEF-90A7-5DF4-306F-65A353C2C6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BEAB2FE-1495-DFFC-B35E-314204CD52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C8AB1-54FF-DF4E-A17A-AB5C26FFDEB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964442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B3DBB187-8303-E8E4-7E91-F2074D5BDD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417DD3-1272-D44D-B4E5-254390F670F7}" type="datetimeFigureOut">
              <a:rPr lang="de-DE" smtClean="0"/>
              <a:t>05.10.25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7E8192C0-FFFC-FAE7-CC0D-3DF6AC0665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E19087F-8F73-7592-2349-7A3CE39F1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C8AB1-54FF-DF4E-A17A-AB5C26FFDEB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051571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606168C-81D2-F162-8DEA-1D6F7AD465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5A19A24-5684-01A5-AE2B-D17CBC984C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07D8A99C-5998-1C57-C8A4-8DF44E102F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7249B206-216C-11BE-1043-D9A59A1668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417DD3-1272-D44D-B4E5-254390F670F7}" type="datetimeFigureOut">
              <a:rPr lang="de-DE" smtClean="0"/>
              <a:t>05.10.25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E3B37B61-DF61-301F-FA55-1FA0526C67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397FC4A9-8BC0-FDD2-D7DF-83BA69FAA7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C8AB1-54FF-DF4E-A17A-AB5C26FFDEB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373948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13685C9-9F3B-FC87-3B73-C63B50B33A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24E33F09-D154-2B2E-77C8-E1808D8476B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807CE71E-38AF-DF89-0B38-2F8265616F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9671AB4A-A769-5F88-3C83-106972BC27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417DD3-1272-D44D-B4E5-254390F670F7}" type="datetimeFigureOut">
              <a:rPr lang="de-DE" smtClean="0"/>
              <a:t>05.10.25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BFD31F6-0A29-930E-2B02-B0B40F1DD1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EB28C82-9ABC-BF85-1853-E95EDE6BDF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C8AB1-54FF-DF4E-A17A-AB5C26FFDEB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169070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300C339-8A0E-F120-CD4E-4C8774872C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10D42567-FD0C-D5C0-92E1-785D1C7E90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125AEC9-7E61-2FD5-08AF-BEEEC3E1FB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417DD3-1272-D44D-B4E5-254390F670F7}" type="datetimeFigureOut">
              <a:rPr lang="de-DE" smtClean="0"/>
              <a:t>05.10.25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E22506E-05F7-2B77-FA1A-B212E25AC1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A8F7DBB-E14B-53A4-0617-DDA147AE90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C8AB1-54FF-DF4E-A17A-AB5C26FFDEB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284827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82D00F58-2180-25FB-509D-BBBAFFEF244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5B51CACB-B7BB-B078-D668-90A4F0E5FB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74FD848-174D-9DF0-BCF5-C92410E0B7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417DD3-1272-D44D-B4E5-254390F670F7}" type="datetimeFigureOut">
              <a:rPr lang="de-DE" smtClean="0"/>
              <a:t>05.10.25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559EA26-A055-448A-ECC3-58D806804A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00C8616-3ABF-67ED-EC99-AE11D98A9D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C8AB1-54FF-DF4E-A17A-AB5C26FFDEB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498640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AD226A2F-9928-5C45-69BE-85CE53EC05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03D9CF3-CCBE-680D-E72E-E0AA3717C6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C2D4E8E-8F15-7651-8B8E-D9E9D50884A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8417DD3-1272-D44D-B4E5-254390F670F7}" type="datetimeFigureOut">
              <a:rPr lang="de-DE" smtClean="0"/>
              <a:t>05.10.25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F017813-48D6-BD1E-CAD3-BD958EE5D0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2AE428A-232E-84C3-CD86-50FF75C175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FC8AB1-54FF-DF4E-A17A-AB5C26FFDEB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287409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 descr="Ein Bild, das Schrift, Text, Screenshot, Reihe enthält.&#10;&#10;KI-generierte Inhalte können fehlerhaft sein.">
            <a:extLst>
              <a:ext uri="{FF2B5EF4-FFF2-40B4-BE49-F238E27FC236}">
                <a16:creationId xmlns:a16="http://schemas.microsoft.com/office/drawing/2014/main" id="{515C98C6-2AC4-62D6-7D15-2E7B915230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940" b="5566"/>
          <a:stretch>
            <a:fillRect/>
          </a:stretch>
        </p:blipFill>
        <p:spPr>
          <a:xfrm>
            <a:off x="612731" y="1"/>
            <a:ext cx="10407570" cy="3141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29404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A78874-F15B-049F-C05D-ECFD2AC59E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 descr="Ein Bild, das Schrift, Text, Screenshot, Reihe enthält.&#10;&#10;KI-generierte Inhalte können fehlerhaft sein.">
            <a:extLst>
              <a:ext uri="{FF2B5EF4-FFF2-40B4-BE49-F238E27FC236}">
                <a16:creationId xmlns:a16="http://schemas.microsoft.com/office/drawing/2014/main" id="{D95B2B3F-EA10-B598-314D-60CA7F7E28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940" b="5566"/>
          <a:stretch>
            <a:fillRect/>
          </a:stretch>
        </p:blipFill>
        <p:spPr>
          <a:xfrm>
            <a:off x="612731" y="1"/>
            <a:ext cx="10407570" cy="3141350"/>
          </a:xfrm>
          <a:prstGeom prst="rect">
            <a:avLst/>
          </a:prstGeom>
        </p:spPr>
      </p:pic>
      <p:pic>
        <p:nvPicPr>
          <p:cNvPr id="5" name="Grafik 4" descr="Ein Bild, das Text, Screenshot, Muster, Rechteck enthält.&#10;&#10;KI-generierte Inhalte können fehlerhaft sein.">
            <a:extLst>
              <a:ext uri="{FF2B5EF4-FFF2-40B4-BE49-F238E27FC236}">
                <a16:creationId xmlns:a16="http://schemas.microsoft.com/office/drawing/2014/main" id="{61B4930B-4C8C-A666-AFDD-A7FB699903A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36" b="5069"/>
          <a:stretch>
            <a:fillRect/>
          </a:stretch>
        </p:blipFill>
        <p:spPr>
          <a:xfrm>
            <a:off x="612731" y="3293390"/>
            <a:ext cx="10407570" cy="3087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94291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472676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 descr="Ein Bild, das Text, Screenshot enthält.&#10;&#10;KI-generierte Inhalte können fehlerhaft sein.">
            <a:extLst>
              <a:ext uri="{FF2B5EF4-FFF2-40B4-BE49-F238E27FC236}">
                <a16:creationId xmlns:a16="http://schemas.microsoft.com/office/drawing/2014/main" id="{63A4705B-A3E8-2665-E481-5BB9B92159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5593" y="220253"/>
            <a:ext cx="4516100" cy="641749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graphicFrame>
        <p:nvGraphicFramePr>
          <p:cNvPr id="3" name="Tabelle 2">
            <a:extLst>
              <a:ext uri="{FF2B5EF4-FFF2-40B4-BE49-F238E27FC236}">
                <a16:creationId xmlns:a16="http://schemas.microsoft.com/office/drawing/2014/main" id="{AE7B054C-6DF9-BB5B-A16D-7904CC7B0C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1401319"/>
              </p:ext>
            </p:extLst>
          </p:nvPr>
        </p:nvGraphicFramePr>
        <p:xfrm>
          <a:off x="1444053" y="220253"/>
          <a:ext cx="4032355" cy="342569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036938">
                  <a:extLst>
                    <a:ext uri="{9D8B030D-6E8A-4147-A177-3AD203B41FA5}">
                      <a16:colId xmlns:a16="http://schemas.microsoft.com/office/drawing/2014/main" val="4180383973"/>
                    </a:ext>
                  </a:extLst>
                </a:gridCol>
                <a:gridCol w="2995417">
                  <a:extLst>
                    <a:ext uri="{9D8B030D-6E8A-4147-A177-3AD203B41FA5}">
                      <a16:colId xmlns:a16="http://schemas.microsoft.com/office/drawing/2014/main" val="1953817283"/>
                    </a:ext>
                  </a:extLst>
                </a:gridCol>
              </a:tblGrid>
              <a:tr h="28770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1800" kern="100" dirty="0">
                          <a:effectLst/>
                        </a:rPr>
                        <a:t>Erste Ziffer</a:t>
                      </a:r>
                      <a:endParaRPr lang="de-DE" sz="2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1800" kern="100">
                          <a:effectLst/>
                        </a:rPr>
                        <a:t>Codierung der 6 Ziffern im linken Block</a:t>
                      </a:r>
                      <a:endParaRPr lang="de-DE" sz="2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033157921"/>
                  </a:ext>
                </a:extLst>
              </a:tr>
              <a:tr h="28770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1800" kern="100">
                          <a:effectLst/>
                        </a:rPr>
                        <a:t>0</a:t>
                      </a:r>
                      <a:endParaRPr lang="de-DE" sz="2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1800" kern="100" dirty="0">
                          <a:effectLst/>
                        </a:rPr>
                        <a:t>AAAAAA</a:t>
                      </a:r>
                      <a:endParaRPr lang="de-DE" sz="2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383988707"/>
                  </a:ext>
                </a:extLst>
              </a:tr>
              <a:tr h="28770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1800" kern="100">
                          <a:effectLst/>
                        </a:rPr>
                        <a:t>1</a:t>
                      </a:r>
                      <a:endParaRPr lang="de-DE" sz="2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1800" kern="100">
                          <a:effectLst/>
                        </a:rPr>
                        <a:t>AABABB</a:t>
                      </a:r>
                      <a:endParaRPr lang="de-DE" sz="2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236269691"/>
                  </a:ext>
                </a:extLst>
              </a:tr>
              <a:tr h="28770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1800" kern="100">
                          <a:effectLst/>
                        </a:rPr>
                        <a:t>2</a:t>
                      </a:r>
                      <a:endParaRPr lang="de-DE" sz="2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1800" kern="100">
                          <a:effectLst/>
                        </a:rPr>
                        <a:t>AABBAB</a:t>
                      </a:r>
                      <a:endParaRPr lang="de-DE" sz="2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76488128"/>
                  </a:ext>
                </a:extLst>
              </a:tr>
              <a:tr h="28770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1800" kern="100">
                          <a:effectLst/>
                        </a:rPr>
                        <a:t>3</a:t>
                      </a:r>
                      <a:endParaRPr lang="de-DE" sz="2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1800" kern="100">
                          <a:effectLst/>
                        </a:rPr>
                        <a:t>AABBBA</a:t>
                      </a:r>
                      <a:endParaRPr lang="de-DE" sz="2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494304637"/>
                  </a:ext>
                </a:extLst>
              </a:tr>
              <a:tr h="28770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1800" kern="100">
                          <a:effectLst/>
                        </a:rPr>
                        <a:t>4</a:t>
                      </a:r>
                      <a:endParaRPr lang="de-DE" sz="2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1800" kern="100">
                          <a:effectLst/>
                        </a:rPr>
                        <a:t>ABAABB</a:t>
                      </a:r>
                      <a:endParaRPr lang="de-DE" sz="2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84742669"/>
                  </a:ext>
                </a:extLst>
              </a:tr>
              <a:tr h="28770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1800" kern="100">
                          <a:effectLst/>
                        </a:rPr>
                        <a:t>5</a:t>
                      </a:r>
                      <a:endParaRPr lang="de-DE" sz="2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1800" kern="100">
                          <a:effectLst/>
                        </a:rPr>
                        <a:t>ABBAAB</a:t>
                      </a:r>
                      <a:endParaRPr lang="de-DE" sz="2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428002200"/>
                  </a:ext>
                </a:extLst>
              </a:tr>
              <a:tr h="28770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1800" kern="100">
                          <a:effectLst/>
                        </a:rPr>
                        <a:t>6</a:t>
                      </a:r>
                      <a:endParaRPr lang="de-DE" sz="2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1800" kern="100">
                          <a:effectLst/>
                        </a:rPr>
                        <a:t>ABBBAA</a:t>
                      </a:r>
                      <a:endParaRPr lang="de-DE" sz="2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154082237"/>
                  </a:ext>
                </a:extLst>
              </a:tr>
              <a:tr h="28770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1800" kern="100">
                          <a:effectLst/>
                        </a:rPr>
                        <a:t>7</a:t>
                      </a:r>
                      <a:endParaRPr lang="de-DE" sz="2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1800" kern="100">
                          <a:effectLst/>
                        </a:rPr>
                        <a:t>ABABAB</a:t>
                      </a:r>
                      <a:endParaRPr lang="de-DE" sz="2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171986115"/>
                  </a:ext>
                </a:extLst>
              </a:tr>
              <a:tr h="28770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1800" kern="100">
                          <a:effectLst/>
                        </a:rPr>
                        <a:t>8</a:t>
                      </a:r>
                      <a:endParaRPr lang="de-DE" sz="2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1800" kern="100">
                          <a:effectLst/>
                        </a:rPr>
                        <a:t>ABABBA</a:t>
                      </a:r>
                      <a:endParaRPr lang="de-DE" sz="2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688927666"/>
                  </a:ext>
                </a:extLst>
              </a:tr>
              <a:tr h="28770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1800" kern="100">
                          <a:effectLst/>
                        </a:rPr>
                        <a:t>9</a:t>
                      </a:r>
                      <a:endParaRPr lang="de-DE" sz="2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1800" kern="100" dirty="0">
                          <a:effectLst/>
                        </a:rPr>
                        <a:t>ABBABA</a:t>
                      </a:r>
                      <a:endParaRPr lang="de-DE" sz="2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91909812"/>
                  </a:ext>
                </a:extLst>
              </a:tr>
            </a:tbl>
          </a:graphicData>
        </a:graphic>
      </p:graphicFrame>
      <p:pic>
        <p:nvPicPr>
          <p:cNvPr id="4" name="Grafik 3" descr="Ein Bild, das Schrift, Text, Screenshot, Reihe enthält.&#10;&#10;KI-generierte Inhalte können fehlerhaft sein.">
            <a:extLst>
              <a:ext uri="{FF2B5EF4-FFF2-40B4-BE49-F238E27FC236}">
                <a16:creationId xmlns:a16="http://schemas.microsoft.com/office/drawing/2014/main" id="{9BE3DC12-88A1-7D2E-3E48-C90B5799B35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940" b="5566"/>
          <a:stretch>
            <a:fillRect/>
          </a:stretch>
        </p:blipFill>
        <p:spPr>
          <a:xfrm>
            <a:off x="960307" y="4720002"/>
            <a:ext cx="4516100" cy="1363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92807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0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B4B492FF-9ACA-8C6B-6B9E-B4042F45388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1041"/>
          <a:stretch>
            <a:fillRect/>
          </a:stretch>
        </p:blipFill>
        <p:spPr>
          <a:xfrm>
            <a:off x="1" y="10"/>
            <a:ext cx="9669642" cy="685799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125019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C67EA35C-54D2-CACF-A3F3-9FFF177CF7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4475" y="267145"/>
            <a:ext cx="6586927" cy="1899912"/>
          </a:xfrm>
        </p:spPr>
        <p:txBody>
          <a:bodyPr>
            <a:normAutofit fontScale="90000"/>
          </a:bodyPr>
          <a:lstStyle/>
          <a:p>
            <a:r>
              <a:rPr lang="de-DE" sz="6000" b="1" dirty="0" err="1">
                <a:solidFill>
                  <a:srgbClr val="00B0F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Velociel</a:t>
            </a:r>
            <a:r>
              <a:rPr lang="de-DE" sz="4000" dirty="0"/>
              <a:t> </a:t>
            </a:r>
            <a:br>
              <a:rPr lang="de-DE" sz="4000" dirty="0"/>
            </a:br>
            <a:r>
              <a:rPr lang="de-DE" sz="3600" dirty="0"/>
              <a:t>das erste fliegende Drachenfahrrad </a:t>
            </a:r>
            <a:endParaRPr lang="de-DE" sz="4000" dirty="0"/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950CB04A-D13B-0825-A23D-069B25666E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60367" y="2434201"/>
            <a:ext cx="4601981" cy="3742762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de-DE" sz="1800" dirty="0"/>
              <a:t>Hergestellt von: </a:t>
            </a:r>
          </a:p>
          <a:p>
            <a:pPr marL="0" indent="0">
              <a:buNone/>
            </a:pPr>
            <a:r>
              <a:rPr lang="de-DE" b="1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SkyMotion</a:t>
            </a:r>
            <a:r>
              <a:rPr lang="de-DE" b="1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Industries </a:t>
            </a:r>
          </a:p>
          <a:p>
            <a:pPr marL="0" indent="0">
              <a:buNone/>
            </a:pPr>
            <a:r>
              <a:rPr lang="de-DE" sz="2000" dirty="0"/>
              <a:t>in Lichtenstein </a:t>
            </a:r>
          </a:p>
          <a:p>
            <a:pPr marL="0" indent="0">
              <a:buNone/>
            </a:pPr>
            <a:r>
              <a:rPr lang="de-DE" sz="2000" i="1" dirty="0">
                <a:solidFill>
                  <a:schemeClr val="bg2">
                    <a:lumMod val="50000"/>
                  </a:schemeClr>
                </a:solidFill>
              </a:rPr>
              <a:t>(Ländercodes: 760–769)</a:t>
            </a:r>
            <a:endParaRPr lang="de-DE" sz="1800" i="1" dirty="0">
              <a:solidFill>
                <a:schemeClr val="bg2">
                  <a:lumMod val="50000"/>
                </a:schemeClr>
              </a:solidFill>
            </a:endParaRPr>
          </a:p>
          <a:p>
            <a:pPr marL="0" indent="0">
              <a:buNone/>
            </a:pPr>
            <a:endParaRPr lang="de-DE" sz="2000" b="1" dirty="0"/>
          </a:p>
          <a:p>
            <a:pPr marL="0" indent="0">
              <a:buNone/>
            </a:pPr>
            <a:endParaRPr lang="de-DE" sz="2000" b="1" dirty="0"/>
          </a:p>
          <a:p>
            <a:pPr marL="0" indent="0">
              <a:buNone/>
            </a:pPr>
            <a:endParaRPr lang="de-DE" sz="2000" b="1" dirty="0"/>
          </a:p>
          <a:p>
            <a:pPr marL="0" indent="0">
              <a:buNone/>
            </a:pPr>
            <a:r>
              <a:rPr lang="de-DE" sz="2400" b="1" dirty="0"/>
              <a:t>EAN: </a:t>
            </a:r>
            <a:r>
              <a:rPr lang="de-DE" sz="2400" dirty="0"/>
              <a:t>7612485674901 </a:t>
            </a:r>
            <a:r>
              <a:rPr lang="de-DE" sz="2000" i="1" dirty="0">
                <a:solidFill>
                  <a:schemeClr val="bg2">
                    <a:lumMod val="50000"/>
                  </a:schemeClr>
                </a:solidFill>
              </a:rPr>
              <a:t>(ausgedachte Zufallszahl)</a:t>
            </a:r>
            <a:endParaRPr lang="de-DE" sz="2000" b="1" dirty="0"/>
          </a:p>
          <a:p>
            <a:pPr marL="0" indent="0">
              <a:buNone/>
            </a:pPr>
            <a:r>
              <a:rPr lang="de-DE" sz="2000" dirty="0">
                <a:solidFill>
                  <a:srgbClr val="7030A0"/>
                </a:solidFill>
              </a:rPr>
              <a:t>Wie sieht der zugehörige </a:t>
            </a:r>
            <a:r>
              <a:rPr lang="de-DE" sz="2000" b="1" dirty="0">
                <a:solidFill>
                  <a:srgbClr val="7030A0"/>
                </a:solidFill>
              </a:rPr>
              <a:t>Barcode</a:t>
            </a:r>
            <a:r>
              <a:rPr lang="de-DE" sz="2000" dirty="0">
                <a:solidFill>
                  <a:srgbClr val="7030A0"/>
                </a:solidFill>
              </a:rPr>
              <a:t> aus?</a:t>
            </a:r>
          </a:p>
          <a:p>
            <a:endParaRPr lang="de-DE" sz="2000" dirty="0"/>
          </a:p>
        </p:txBody>
      </p:sp>
    </p:spTree>
    <p:extLst>
      <p:ext uri="{BB962C8B-B14F-4D97-AF65-F5344CB8AC3E}">
        <p14:creationId xmlns:p14="http://schemas.microsoft.com/office/powerpoint/2010/main" val="37531774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elle 3">
            <a:extLst>
              <a:ext uri="{FF2B5EF4-FFF2-40B4-BE49-F238E27FC236}">
                <a16:creationId xmlns:a16="http://schemas.microsoft.com/office/drawing/2014/main" id="{C3933259-F919-1324-376B-8271F02BF3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6846228"/>
              </p:ext>
            </p:extLst>
          </p:nvPr>
        </p:nvGraphicFramePr>
        <p:xfrm>
          <a:off x="609605" y="1853959"/>
          <a:ext cx="10972789" cy="315008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4134">
                  <a:extLst>
                    <a:ext uri="{9D8B030D-6E8A-4147-A177-3AD203B41FA5}">
                      <a16:colId xmlns:a16="http://schemas.microsoft.com/office/drawing/2014/main" val="500880356"/>
                    </a:ext>
                  </a:extLst>
                </a:gridCol>
                <a:gridCol w="698577">
                  <a:extLst>
                    <a:ext uri="{9D8B030D-6E8A-4147-A177-3AD203B41FA5}">
                      <a16:colId xmlns:a16="http://schemas.microsoft.com/office/drawing/2014/main" val="2511722135"/>
                    </a:ext>
                  </a:extLst>
                </a:gridCol>
                <a:gridCol w="698577">
                  <a:extLst>
                    <a:ext uri="{9D8B030D-6E8A-4147-A177-3AD203B41FA5}">
                      <a16:colId xmlns:a16="http://schemas.microsoft.com/office/drawing/2014/main" val="2864356769"/>
                    </a:ext>
                  </a:extLst>
                </a:gridCol>
                <a:gridCol w="698577">
                  <a:extLst>
                    <a:ext uri="{9D8B030D-6E8A-4147-A177-3AD203B41FA5}">
                      <a16:colId xmlns:a16="http://schemas.microsoft.com/office/drawing/2014/main" val="2202760318"/>
                    </a:ext>
                  </a:extLst>
                </a:gridCol>
                <a:gridCol w="698577">
                  <a:extLst>
                    <a:ext uri="{9D8B030D-6E8A-4147-A177-3AD203B41FA5}">
                      <a16:colId xmlns:a16="http://schemas.microsoft.com/office/drawing/2014/main" val="3708730369"/>
                    </a:ext>
                  </a:extLst>
                </a:gridCol>
                <a:gridCol w="698577">
                  <a:extLst>
                    <a:ext uri="{9D8B030D-6E8A-4147-A177-3AD203B41FA5}">
                      <a16:colId xmlns:a16="http://schemas.microsoft.com/office/drawing/2014/main" val="3043706931"/>
                    </a:ext>
                  </a:extLst>
                </a:gridCol>
                <a:gridCol w="698577">
                  <a:extLst>
                    <a:ext uri="{9D8B030D-6E8A-4147-A177-3AD203B41FA5}">
                      <a16:colId xmlns:a16="http://schemas.microsoft.com/office/drawing/2014/main" val="1640452946"/>
                    </a:ext>
                  </a:extLst>
                </a:gridCol>
                <a:gridCol w="698577">
                  <a:extLst>
                    <a:ext uri="{9D8B030D-6E8A-4147-A177-3AD203B41FA5}">
                      <a16:colId xmlns:a16="http://schemas.microsoft.com/office/drawing/2014/main" val="11603220"/>
                    </a:ext>
                  </a:extLst>
                </a:gridCol>
                <a:gridCol w="698577">
                  <a:extLst>
                    <a:ext uri="{9D8B030D-6E8A-4147-A177-3AD203B41FA5}">
                      <a16:colId xmlns:a16="http://schemas.microsoft.com/office/drawing/2014/main" val="2824192619"/>
                    </a:ext>
                  </a:extLst>
                </a:gridCol>
                <a:gridCol w="698577">
                  <a:extLst>
                    <a:ext uri="{9D8B030D-6E8A-4147-A177-3AD203B41FA5}">
                      <a16:colId xmlns:a16="http://schemas.microsoft.com/office/drawing/2014/main" val="659672604"/>
                    </a:ext>
                  </a:extLst>
                </a:gridCol>
                <a:gridCol w="698577">
                  <a:extLst>
                    <a:ext uri="{9D8B030D-6E8A-4147-A177-3AD203B41FA5}">
                      <a16:colId xmlns:a16="http://schemas.microsoft.com/office/drawing/2014/main" val="2887495236"/>
                    </a:ext>
                  </a:extLst>
                </a:gridCol>
                <a:gridCol w="698577">
                  <a:extLst>
                    <a:ext uri="{9D8B030D-6E8A-4147-A177-3AD203B41FA5}">
                      <a16:colId xmlns:a16="http://schemas.microsoft.com/office/drawing/2014/main" val="2886246620"/>
                    </a:ext>
                  </a:extLst>
                </a:gridCol>
                <a:gridCol w="698577">
                  <a:extLst>
                    <a:ext uri="{9D8B030D-6E8A-4147-A177-3AD203B41FA5}">
                      <a16:colId xmlns:a16="http://schemas.microsoft.com/office/drawing/2014/main" val="1097093981"/>
                    </a:ext>
                  </a:extLst>
                </a:gridCol>
                <a:gridCol w="698577">
                  <a:extLst>
                    <a:ext uri="{9D8B030D-6E8A-4147-A177-3AD203B41FA5}">
                      <a16:colId xmlns:a16="http://schemas.microsoft.com/office/drawing/2014/main" val="1466567540"/>
                    </a:ext>
                  </a:extLst>
                </a:gridCol>
                <a:gridCol w="698577">
                  <a:extLst>
                    <a:ext uri="{9D8B030D-6E8A-4147-A177-3AD203B41FA5}">
                      <a16:colId xmlns:a16="http://schemas.microsoft.com/office/drawing/2014/main" val="2089658439"/>
                    </a:ext>
                  </a:extLst>
                </a:gridCol>
                <a:gridCol w="698577">
                  <a:extLst>
                    <a:ext uri="{9D8B030D-6E8A-4147-A177-3AD203B41FA5}">
                      <a16:colId xmlns:a16="http://schemas.microsoft.com/office/drawing/2014/main" val="3106595776"/>
                    </a:ext>
                  </a:extLst>
                </a:gridCol>
              </a:tblGrid>
              <a:tr h="2784321"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660693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de-DE" dirty="0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4987957"/>
                  </a:ext>
                </a:extLst>
              </a:tr>
            </a:tbl>
          </a:graphicData>
        </a:graphic>
      </p:graphicFrame>
      <p:sp>
        <p:nvSpPr>
          <p:cNvPr id="8" name="Textfeld 7">
            <a:extLst>
              <a:ext uri="{FF2B5EF4-FFF2-40B4-BE49-F238E27FC236}">
                <a16:creationId xmlns:a16="http://schemas.microsoft.com/office/drawing/2014/main" id="{422F40E9-A27A-8B2D-8E9D-A96776CC1AF2}"/>
              </a:ext>
            </a:extLst>
          </p:cNvPr>
          <p:cNvSpPr txBox="1"/>
          <p:nvPr/>
        </p:nvSpPr>
        <p:spPr>
          <a:xfrm>
            <a:off x="2582054" y="654783"/>
            <a:ext cx="702788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de-DE" sz="3200" dirty="0">
                <a:solidFill>
                  <a:srgbClr val="7030A0"/>
                </a:solidFill>
              </a:rPr>
              <a:t>Wie sieht der zugehörige </a:t>
            </a:r>
            <a:r>
              <a:rPr lang="de-DE" sz="3200" b="1" dirty="0">
                <a:solidFill>
                  <a:srgbClr val="7030A0"/>
                </a:solidFill>
              </a:rPr>
              <a:t>Barcode</a:t>
            </a:r>
            <a:r>
              <a:rPr lang="de-DE" sz="3200" dirty="0">
                <a:solidFill>
                  <a:srgbClr val="7030A0"/>
                </a:solidFill>
              </a:rPr>
              <a:t> aus?</a:t>
            </a:r>
          </a:p>
        </p:txBody>
      </p:sp>
    </p:spTree>
    <p:extLst>
      <p:ext uri="{BB962C8B-B14F-4D97-AF65-F5344CB8AC3E}">
        <p14:creationId xmlns:p14="http://schemas.microsoft.com/office/powerpoint/2010/main" val="3379138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81</Words>
  <Application>Microsoft Macintosh PowerPoint</Application>
  <PresentationFormat>Breitbild</PresentationFormat>
  <Paragraphs>46</Paragraphs>
  <Slides>6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Arial</vt:lpstr>
      <vt:lpstr>Consolas</vt:lpstr>
      <vt:lpstr>Office</vt:lpstr>
      <vt:lpstr>PowerPoint-Präsentation</vt:lpstr>
      <vt:lpstr>PowerPoint-Präsentation</vt:lpstr>
      <vt:lpstr>PowerPoint-Präsentation</vt:lpstr>
      <vt:lpstr>PowerPoint-Präsentation</vt:lpstr>
      <vt:lpstr>Velociel  das erste fliegende Drachenfahrrad 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 Vera</dc:creator>
  <cp:lastModifiedBy>Christ Vera</cp:lastModifiedBy>
  <cp:revision>6</cp:revision>
  <dcterms:created xsi:type="dcterms:W3CDTF">2025-10-05T09:38:05Z</dcterms:created>
  <dcterms:modified xsi:type="dcterms:W3CDTF">2025-10-05T11:06:45Z</dcterms:modified>
</cp:coreProperties>
</file>