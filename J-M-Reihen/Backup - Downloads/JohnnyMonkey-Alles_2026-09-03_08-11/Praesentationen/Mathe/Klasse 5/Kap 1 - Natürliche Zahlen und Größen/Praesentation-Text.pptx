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Guten Morgen!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Wer bin ich? Wer seid ihr?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Notizen:</a:t>
            </a:r>
          </a:p>
          <a:p>
            <a:pPr/>
            <a:r>
              <a:rPr lang="de-DE" sz="1600" dirty="0"/>
              <a:t>• Ich war in 3 Ländern und bin von Salzburg nach Wien Fahrrad gefahren.</a:t>
            </a:r>
          </a:p>
          <a:p>
            <a:pPr/>
            <a:r>
              <a:rPr lang="de-DE" sz="1600" dirty="0"/>
              <a:t>• Ich habe ein Eichhörnchen gegessen!</a:t>
            </a:r>
          </a:p>
          <a:p>
            <a:pPr/>
            <a:r>
              <a:rPr lang="de-DE" sz="1600" dirty="0"/>
              <a:t>• Ich habe mit mit den Inlinern hingelegt.</a:t>
            </a:r>
          </a:p>
          <a:p>
            <a:pPr/>
            <a:r>
              <a:rPr lang="de-DE" sz="1600" dirty="0"/>
              <a:t>• Ich laufe grade nach Braubach!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Organisatorisches - Material und Technik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​ ​ Die Johnny Monkey App</a:t>
            </a:r>
          </a:p>
          <a:p>
            <a:pPr/>
            <a:r>
              <a:rPr lang="de-DE" sz="1600" dirty="0"/>
              <a:t> • Wir arbeiten mit der App Johnny Monkey , erreichbar durch folgende</a:t>
            </a:r>
          </a:p>
          <a:p>
            <a:pPr/>
            <a:r>
              <a:rPr lang="de-DE" sz="1600" dirty="0"/>
              <a:t> Eingabe in der Browsersuchleiste: https://mnsplusdocker:44443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Bist du nicht im Schul-Wlan, musst du allerdings stattdessen eingeben: https://rpl-50147-0.dn.mnsnet.de:44443/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Logincodes erhaltet ihr und notiert sie im Hausaufgabenheft</a:t>
            </a:r>
          </a:p>
          <a:p>
            <a:pPr/>
            <a:r>
              <a:rPr lang="de-DE" sz="1600" dirty="0"/>
              <a:t> → AUSWENDIG LERNEN!!! NIEMALS VERGESSEN!!! 😁😁😁😁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Unser Moderator, unsere Moderatorin</a:t>
            </a:r>
          </a:p>
          <a:p>
            <a:pPr/>
            <a:r>
              <a:rPr lang="de-DE" sz="1600" dirty="0"/>
              <a:t> • Pro Woche</a:t>
            </a:r>
          </a:p>
          <a:p>
            <a:pPr/>
            <a:r>
              <a:rPr lang="de-DE" sz="1600" dirty="0"/>
              <a:t>• Startet und Beendet die Stunde mit Entry - und Exit -Ticket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Noten</a:t>
            </a:r>
          </a:p>
          <a:p>
            <a:pPr/>
            <a:r>
              <a:rPr lang="de-DE" sz="1600" dirty="0"/>
              <a:t> • Zwei Klassenarbeiten pro Halbjahr</a:t>
            </a:r>
          </a:p>
          <a:p>
            <a:pPr/>
            <a:r>
              <a:rPr lang="de-DE" sz="1600" dirty="0"/>
              <a:t>• Zwei Epochalnoten pro Halbjahr</a:t>
            </a:r>
          </a:p>
          <a:p>
            <a:pPr/>
            <a:r>
              <a:rPr lang="de-DE" sz="1600" dirty="0"/>
              <a:t>• Mehrere Hüs (immer angekündigt) und manchmal Projektnoten pro Halbjahr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Hausaufgabe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Bis zur nächsten Stunde!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Hausaufgabe</a:t>
            </a:r>
          </a:p>
          <a:p>
            <a:pPr/>
            <a:r>
              <a:rPr lang="de-DE" sz="1600" dirty="0"/>
              <a:t>Heute noch keine 😃!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Welche Sportart betreibst du am liebsten?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Arbeitsauftrag</a:t>
            </a:r>
          </a:p>
          <a:p>
            <a:pPr/>
            <a:r>
              <a:rPr lang="de-DE" sz="1600" dirty="0"/>
              <a:t>Mathebuch:</a:t>
            </a:r>
          </a:p>
          <a:p>
            <a:pPr/>
            <a:r>
              <a:rPr lang="de-DE" sz="1600" dirty="0"/>
              <a:t> Seite 13, Nummer 5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Notizen:</a:t>
            </a:r>
          </a:p>
          <a:p>
            <a:pPr/>
            <a:r>
              <a:rPr lang="de-DE" sz="1600" dirty="0"/>
              <a:t>Lernziele der Stunde</a:t>
            </a:r>
          </a:p>
          <a:p>
            <a:pPr/>
            <a:r>
              <a:rPr lang="de-DE" sz="1600" dirty="0"/>
              <a:t> Strichliste, Balkendiagramm, Säulendiagramm.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Schwierigkeiten:</a:t>
            </a:r>
          </a:p>
          <a:p>
            <a:pPr/>
            <a:r>
              <a:rPr lang="de-DE" sz="1600" dirty="0"/>
              <a:t> • es dauert sehr lange Diagramme zu zeichnen.</a:t>
            </a:r>
          </a:p>
          <a:p>
            <a:pPr/>
            <a:r>
              <a:rPr lang="de-DE" sz="1600" dirty="0"/>
              <a:t>• Genaues Arbeiten. Bleistift und Füller.</a:t>
            </a:r>
          </a:p>
          <a:p>
            <a:pPr/>
            <a:r>
              <a:rPr lang="de-DE" sz="1600" dirty="0"/>
              <a:t>• Beschriftung der Achsen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Beispiellösung: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[Bild]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Hausaufgabe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Bis zur nächsten Stunde!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Hausaufgabe</a:t>
            </a:r>
          </a:p>
          <a:p>
            <a:pPr/>
            <a:r>
              <a:rPr lang="de-DE" sz="1600" dirty="0"/>
              <a:t>Mathebuch:</a:t>
            </a:r>
          </a:p>
          <a:p>
            <a:pPr/>
            <a:r>
              <a:rPr lang="de-DE" sz="1600" dirty="0"/>
              <a:t> Seite 14, Nummer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Folie 7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Notizen:</a:t>
            </a:r>
          </a:p>
          <a:p>
            <a:pPr/>
            <a:r>
              <a:rPr lang="de-DE" sz="1600" dirty="0"/>
              <a:t>Lernziele der Stunde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Schwierigkeiten: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Beispiellösung: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Folie 8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Arbeitsauftrag</a:t>
            </a:r>
          </a:p>
          <a:p>
            <a:pPr/>
            <a:r>
              <a:rPr lang="de-DE" sz="1600" dirty="0"/>
              <a:t>Mathebuch:</a:t>
            </a:r>
          </a:p>
          <a:p>
            <a:pPr/>
            <a:r>
              <a:rPr lang="de-DE" sz="1600" dirty="0"/>
              <a:t> Seite 17, Nummer 4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Notizen:</a:t>
            </a:r>
          </a:p>
          <a:p>
            <a:pPr/>
            <a:r>
              <a:rPr lang="de-DE" sz="1600" dirty="0"/>
              <a:t>[Bild] [Bild]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Hausaufgabe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Bis zur nächsten Stunde!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Hausaufgabe</a:t>
            </a:r>
          </a:p>
          <a:p>
            <a:pPr/>
            <a:r>
              <a:rPr lang="de-DE" sz="1600" dirty="0"/>
              <a:t>Mathebuch:</a:t>
            </a:r>
          </a:p>
          <a:p>
            <a:pPr/>
            <a:r>
              <a:rPr lang="de-DE" sz="1600" dirty="0"/>
              <a:t> Seite 17, Nummer 5 und 6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Notizen:</a:t>
            </a:r>
          </a:p>
          <a:p>
            <a:pPr/>
            <a:r>
              <a:rPr lang="de-DE" sz="1600" dirty="0"/>
              <a:t>[Bild]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Folie 10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Folie 11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Hausaufgabe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Bis zur nächsten Stunde!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Hausaufgabe</a:t>
            </a:r>
          </a:p>
          <a:p>
            <a:pPr/>
            <a:r>
              <a:rPr lang="de-DE" sz="1600" dirty="0"/>
              <a:t>Mathebuch:</a:t>
            </a:r>
          </a:p>
          <a:p>
            <a:pPr/>
            <a:r>
              <a:rPr lang="de-DE" sz="1600" dirty="0"/>
              <a:t> Seite , Nummer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Folie 13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Folie 14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Folie 15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Video / Link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Notizen:</a:t>
            </a:r>
          </a:p>
          <a:p>
            <a:pPr/>
            <a:r>
              <a:rPr lang="de-DE" sz="1600" dirty="0"/>
              <a:t>Video-URL im Element bearbeiten: Element wählen → ⚙ → Link/URL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Folie 17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Knacke die römischen Zahlen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VIII = ______</a:t>
            </a:r>
          </a:p>
          <a:p>
            <a:pPr/>
            <a:r>
              <a:rPr lang="de-DE" sz="1600" dirty="0"/>
              <a:t> XIII = ______</a:t>
            </a:r>
          </a:p>
          <a:p>
            <a:pPr/>
            <a:r>
              <a:rPr lang="de-DE" sz="1600" dirty="0"/>
              <a:t> XVII = ______</a:t>
            </a:r>
          </a:p>
          <a:p>
            <a:pPr/>
            <a:r>
              <a:rPr lang="de-DE" sz="1600" dirty="0"/>
              <a:t> XXIII = ______</a:t>
            </a:r>
          </a:p>
          <a:p>
            <a:pPr/>
            <a:r>
              <a:rPr lang="de-DE" sz="1600" dirty="0"/>
              <a:t> XXXII = ______</a:t>
            </a:r>
          </a:p>
          <a:p>
            <a:pPr/>
            <a:r>
              <a:rPr lang="de-DE" sz="1600" dirty="0"/>
              <a:t> LXII = ______</a:t>
            </a:r>
          </a:p>
          <a:p>
            <a:pPr/>
            <a:r>
              <a:rPr lang="de-DE" sz="1600" dirty="0"/>
              <a:t> LXXVIII = ______</a:t>
            </a:r>
          </a:p>
          <a:p>
            <a:pPr/>
            <a:r>
              <a:rPr lang="de-DE" sz="1600" dirty="0"/>
              <a:t> Danach dann Aufgaben mit Subtraktion:</a:t>
            </a:r>
          </a:p>
          <a:p>
            <a:pPr/>
            <a:r>
              <a:rPr lang="de-DE" sz="1600" dirty="0"/>
              <a:t> XIV = ______</a:t>
            </a:r>
          </a:p>
          <a:p>
            <a:pPr/>
            <a:r>
              <a:rPr lang="de-DE" sz="1600" dirty="0"/>
              <a:t> XIX = ______</a:t>
            </a:r>
          </a:p>
          <a:p>
            <a:pPr/>
            <a:r>
              <a:rPr lang="de-DE" sz="1600" dirty="0"/>
              <a:t> XLII = ______</a:t>
            </a:r>
          </a:p>
          <a:p>
            <a:pPr/>
            <a:r>
              <a:rPr lang="de-DE" sz="1600" dirty="0"/>
              <a:t> XCIV = ______</a:t>
            </a:r>
          </a:p>
          <a:p>
            <a:pPr/>
            <a:r>
              <a:rPr lang="de-DE" sz="1600" dirty="0"/>
              <a:t> CD = ______</a:t>
            </a:r>
          </a:p>
          <a:p>
            <a:pPr/>
            <a:r>
              <a:rPr lang="de-DE" sz="1600" dirty="0"/>
              <a:t> CM = ______</a:t>
            </a:r>
          </a:p>
          <a:p>
            <a:pPr/>
            <a:r>
              <a:rPr lang="de-DE" sz="1600" dirty="0"/>
              <a:t> Schreibe als römische Zahl:</a:t>
            </a:r>
          </a:p>
          <a:p>
            <a:pPr/>
            <a:r>
              <a:rPr lang="de-DE" sz="1600" dirty="0"/>
              <a:t> 44 = ______</a:t>
            </a:r>
          </a:p>
          <a:p>
            <a:pPr/>
            <a:r>
              <a:rPr lang="de-DE" sz="1600" dirty="0"/>
              <a:t> 99 = ______</a:t>
            </a:r>
          </a:p>
          <a:p>
            <a:pPr/>
            <a:r>
              <a:rPr lang="de-DE" sz="1600" dirty="0"/>
              <a:t> Zum Nachdenken:</a:t>
            </a:r>
          </a:p>
          <a:p>
            <a:pPr/>
            <a:r>
              <a:rPr lang="de-DE" sz="1600" dirty="0"/>
              <a:t> Warum ist 49 = XLIX und nicht IL?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Lasst uns addieren:</a:t>
            </a:r>
          </a:p>
          <a:p>
            <a:pPr/>
            <a:r>
              <a:rPr lang="de-DE" sz="1600" dirty="0"/>
              <a:t> II =</a:t>
            </a:r>
          </a:p>
          <a:p>
            <a:pPr/>
            <a:r>
              <a:rPr lang="de-DE" sz="1600" dirty="0"/>
              <a:t> VIII =</a:t>
            </a:r>
          </a:p>
          <a:p>
            <a:pPr/>
            <a:r>
              <a:rPr lang="de-DE" sz="1600" dirty="0"/>
              <a:t> XIII =</a:t>
            </a:r>
          </a:p>
          <a:p>
            <a:pPr/>
            <a:r>
              <a:rPr lang="de-DE" sz="1600" dirty="0"/>
              <a:t> XVII =</a:t>
            </a:r>
          </a:p>
          <a:p>
            <a:pPr/>
            <a:r>
              <a:rPr lang="de-DE" sz="1600" dirty="0"/>
              <a:t> XXIII =</a:t>
            </a:r>
          </a:p>
          <a:p>
            <a:pPr/>
            <a:r>
              <a:rPr lang="de-DE" sz="1600" dirty="0"/>
              <a:t> XXXII =</a:t>
            </a:r>
          </a:p>
          <a:p>
            <a:pPr/>
            <a:r>
              <a:rPr lang="de-DE" sz="1600" dirty="0"/>
              <a:t> LXII =</a:t>
            </a:r>
          </a:p>
          <a:p>
            <a:pPr/>
            <a:r>
              <a:rPr lang="de-DE" sz="1600" dirty="0"/>
              <a:t> LXXVIII =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Lasst uns subtrahieren:</a:t>
            </a:r>
          </a:p>
          <a:p>
            <a:pPr/>
            <a:r>
              <a:rPr lang="de-DE" sz="1600" dirty="0"/>
              <a:t> XIV =</a:t>
            </a:r>
          </a:p>
          <a:p>
            <a:pPr/>
            <a:r>
              <a:rPr lang="de-DE" sz="1600" dirty="0"/>
              <a:t> IL =</a:t>
            </a:r>
          </a:p>
          <a:p>
            <a:pPr/>
            <a:r>
              <a:rPr lang="de-DE" sz="1600" dirty="0"/>
              <a:t> XIX =</a:t>
            </a:r>
          </a:p>
          <a:p>
            <a:pPr/>
            <a:r>
              <a:rPr lang="de-DE" sz="1600" dirty="0"/>
              <a:t> IC =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CD = 400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XLII =</a:t>
            </a:r>
          </a:p>
          <a:p>
            <a:pPr/>
            <a:r>
              <a:rPr lang="de-DE" sz="1600" dirty="0"/>
              <a:t> XD =</a:t>
            </a:r>
          </a:p>
          <a:p>
            <a:pPr/>
            <a:r>
              <a:rPr lang="de-DE" sz="1600" dirty="0"/>
              <a:t> XM =</a:t>
            </a:r>
          </a:p>
          <a:p>
            <a:pPr/>
            <a:r>
              <a:rPr lang="de-DE" sz="1600" dirty="0"/>
              <a:t> XCIV =</a:t>
            </a:r>
          </a:p>
          <a:p>
            <a:pPr/>
            <a:r>
              <a:rPr lang="de-DE" sz="1600" dirty="0"/>
              <a:t> CM = ______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Schreibe als römische Zahl:</a:t>
            </a:r>
          </a:p>
          <a:p>
            <a:pPr/>
            <a:r>
              <a:rPr lang="de-DE" sz="1600" dirty="0"/>
              <a:t> 44 = ______</a:t>
            </a:r>
          </a:p>
          <a:p>
            <a:pPr/>
            <a:r>
              <a:rPr lang="de-DE" sz="1600" dirty="0"/>
              <a:t> 99 = ______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Zum Nachdenken:</a:t>
            </a:r>
          </a:p>
          <a:p>
            <a:pPr/>
            <a:r>
              <a:rPr lang="de-DE" sz="1600" dirty="0"/>
              <a:t> Warum ist 49 = XLIX und nicht IL?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Notizen:</a:t>
            </a:r>
          </a:p>
          <a:p>
            <a:pPr/>
            <a:r>
              <a:rPr lang="de-DE" sz="1600" dirty="0"/>
              <a:t>Beispiellösung:</a:t>
            </a:r>
          </a:p>
          <a:p>
            <a:pPr/>
            <a:r>
              <a:rPr lang="de-DE" sz="1600" dirty="0"/>
              <a:t> VIII = 8</a:t>
            </a:r>
          </a:p>
          <a:p>
            <a:pPr/>
            <a:r>
              <a:rPr lang="de-DE" sz="1600" dirty="0"/>
              <a:t> XIII = 13</a:t>
            </a:r>
          </a:p>
          <a:p>
            <a:pPr/>
            <a:r>
              <a:rPr lang="de-DE" sz="1600" dirty="0"/>
              <a:t> XVII = 17</a:t>
            </a:r>
          </a:p>
          <a:p>
            <a:pPr/>
            <a:r>
              <a:rPr lang="de-DE" sz="1600" dirty="0"/>
              <a:t> XXIII = 23</a:t>
            </a:r>
          </a:p>
          <a:p>
            <a:pPr/>
            <a:r>
              <a:rPr lang="de-DE" sz="1600" dirty="0"/>
              <a:t> XXXII = 32</a:t>
            </a:r>
          </a:p>
          <a:p>
            <a:pPr/>
            <a:r>
              <a:rPr lang="de-DE" sz="1600" dirty="0"/>
              <a:t> LXII = 62</a:t>
            </a:r>
          </a:p>
          <a:p>
            <a:pPr/>
            <a:r>
              <a:rPr lang="de-DE" sz="1600" dirty="0"/>
              <a:t> LXXVIII = 78</a:t>
            </a:r>
          </a:p>
          <a:p>
            <a:pPr/>
            <a:r>
              <a:rPr lang="de-DE" sz="1600" dirty="0"/>
              <a:t> ----------------</a:t>
            </a:r>
          </a:p>
          <a:p>
            <a:pPr/>
            <a:r>
              <a:rPr lang="de-DE" sz="1600" dirty="0"/>
              <a:t> XIV = 14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IL → XLIX (49)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XIX = 19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IC → XCIX (99)</a:t>
            </a:r>
          </a:p>
          <a:p>
            <a:pPr/>
            <a:r>
              <a:rPr lang="de-DE" sz="1600" dirty="0"/>
              <a:t> CD = 400</a:t>
            </a:r>
          </a:p>
          <a:p>
            <a:pPr/>
            <a:r>
              <a:rPr lang="de-DE" sz="1600" dirty="0"/>
              <a:t> XLII = 42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XD → CDXC (490)</a:t>
            </a:r>
          </a:p>
          <a:p>
            <a:pPr/>
            <a:r>
              <a:rPr lang="de-DE" sz="1600" dirty="0"/>
              <a:t> XM → CMXC (990)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XCIV = 94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CM = 900</a:t>
            </a:r>
          </a:p>
          <a:p>
            <a:pPr/>
            <a:r>
              <a:rPr lang="de-DE" sz="1600" dirty="0"/>
              <a:t> ------------------</a:t>
            </a:r>
          </a:p>
          <a:p>
            <a:pPr/>
            <a:r>
              <a:rPr lang="de-DE" sz="1600" dirty="0"/>
              <a:t> 44 = XLIV</a:t>
            </a:r>
          </a:p>
          <a:p>
            <a:pPr/>
            <a:r>
              <a:rPr lang="de-DE" sz="1600" dirty="0"/>
              <a:t> 99 = XCIX</a:t>
            </a:r>
          </a:p>
          <a:p>
            <a:pPr/>
            <a:r>
              <a:rPr lang="de-DE" sz="1600" dirty="0"/>
              <a:t> 49 = XLIX und nicht IL, weil I nur vor V oder X stehen darf.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Hausaufgabe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Bis zur nächsten Stunde!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Hausaufgabe</a:t>
            </a:r>
          </a:p>
          <a:p>
            <a:pPr/>
            <a:r>
              <a:rPr lang="de-DE" sz="1600" dirty="0"/>
              <a:t>Arbeitsheft Seite 6 , Nummer 11 und 12</a:t>
            </a:r>
          </a:p>
          <a:p>
            <a:pPr/>
            <a:r>
              <a:rPr lang="de-DE" sz="1600" dirty="0"/>
              <a:t> Buch Seite 23, Nummer 1 und 5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Bonus- &amp; Knobelaufgaben</a:t>
            </a:r>
          </a:p>
          <a:p>
            <a:pPr/>
            <a:r>
              <a:rPr lang="de-DE" sz="1600" dirty="0"/>
              <a:t> Buch Seite 23, Nummer 7 und 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Folie 20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Hausaufgabe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Bis zur nächsten Stunde!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Hausaufgabe</a:t>
            </a:r>
          </a:p>
          <a:p>
            <a:pPr/>
            <a:r>
              <a:rPr lang="de-DE" sz="1600" dirty="0"/>
              <a:t>Arbeitsheft ganze Seite 7</a:t>
            </a:r>
          </a:p>
        </p:txBody>
      </p:sp>
    </p:spTree>
  </p:cSld>
  <p:clrMapOvr>
    <a:masterClrMapping/>
  </p:clrMapOvr>
</p:sld>
</file>