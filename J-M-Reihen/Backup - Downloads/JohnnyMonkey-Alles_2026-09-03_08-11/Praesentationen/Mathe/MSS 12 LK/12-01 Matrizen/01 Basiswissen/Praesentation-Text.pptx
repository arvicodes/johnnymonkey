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9144000" cy="6858000" type="screen4x3"/>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Guten Morgen!</a:t>
            </a:r>
          </a:p>
        </p:txBody>
      </p:sp>
      <p:sp>
        <p:nvSpPr>
          <p:cNvPr id="3" name="Text"/>
          <p:cNvSpPr txBox="1"/>
          <p:nvPr/>
        </p:nvSpPr>
        <p:spPr>
          <a:xfrm>
            <a:off x="457200" y="1600200"/>
            <a:ext cx="8229600" cy="4800600"/>
          </a:xfrm>
          <a:prstGeom prst="rect">
            <a:avLst/>
          </a:prstGeom>
        </p:spPr>
        <p:txBody>
          <a:bodyPr wrap="square" rtlCol="0"/>
          <a:lstStyle/>
          <a:p>
            <a:r>
              <a:rPr lang="de-DE" sz="1600" dirty="0"/>
              <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Organisatorisches - Material und Technik</a:t>
            </a:r>
          </a:p>
        </p:txBody>
      </p:sp>
      <p:sp>
        <p:nvSpPr>
          <p:cNvPr id="3" name="Text"/>
          <p:cNvSpPr txBox="1"/>
          <p:nvPr/>
        </p:nvSpPr>
        <p:spPr>
          <a:xfrm>
            <a:off x="457200" y="1600200"/>
            <a:ext cx="8229600" cy="4800600"/>
          </a:xfrm>
          <a:prstGeom prst="rect">
            <a:avLst/>
          </a:prstGeom>
        </p:spPr>
        <p:txBody>
          <a:bodyPr wrap="square" rtlCol="0"/>
          <a:lstStyle/>
          <a:p>
            <a:r>
              <a:rPr lang="de-DE" sz="1600" dirty="0"/>
              <a:t>​​Die Johnny Monkey App</a:t>
            </a:r>
          </a:p>
          <a:p>
            <a:pPr/>
            <a:r>
              <a:rPr lang="de-DE" sz="1600" dirty="0"/>
              <a:t> • Wir arbeiten mit der App Johnny Monkey, erreichbar durch folgende</a:t>
            </a:r>
          </a:p>
          <a:p>
            <a:pPr/>
            <a:r>
              <a:rPr lang="de-DE" sz="1600" dirty="0"/>
              <a:t> Eingabe in der Browsersuchleiste: https://mnsplusdocker:44443</a:t>
            </a:r>
          </a:p>
          <a:p>
            <a:pPr/>
            <a:r>
              <a:rPr lang="de-DE" sz="1600" dirty="0"/>
              <a:t> </a:t>
            </a:r>
          </a:p>
          <a:p>
            <a:pPr/>
            <a:r>
              <a:rPr lang="de-DE" sz="1600" dirty="0"/>
              <a:t> Bist du nicht im Schul-Wlan, musst du allerdings stattdessen eingeben: https://rpl-50147-0.dn.mnsnet.de:44443/</a:t>
            </a:r>
          </a:p>
          <a:p>
            <a:pPr/>
            <a:r>
              <a:rPr lang="de-DE" sz="1600" dirty="0"/>
              <a:t> </a:t>
            </a:r>
          </a:p>
          <a:p>
            <a:pPr/>
            <a:r>
              <a:rPr lang="de-DE" sz="1600" dirty="0"/>
              <a:t> • Logincodes erhaltet ihr und notiert sie im Hausaufgabenheft</a:t>
            </a:r>
          </a:p>
          <a:p>
            <a:pPr/>
            <a:r>
              <a:rPr lang="de-DE" sz="1600" dirty="0"/>
              <a:t> → AUSWENDIG LERNEN!!! NIEMALS VERGESSEN!!! 😁😁😁😁</a:t>
            </a:r>
          </a:p>
          <a:p>
            <a:pPr/>
            <a:r>
              <a:rPr lang="de-DE" sz="1600" dirty="0"/>
              <a:t> </a:t>
            </a:r>
          </a:p>
          <a:p>
            <a:pPr/>
            <a:r>
              <a:rPr lang="de-DE" sz="1600" dirty="0"/>
              <a:t> Unser Moderator, unsere Moderatorin</a:t>
            </a:r>
          </a:p>
          <a:p>
            <a:pPr/>
            <a:r>
              <a:rPr lang="de-DE" sz="1600" dirty="0"/>
              <a:t> • Pro Woche</a:t>
            </a:r>
          </a:p>
          <a:p>
            <a:pPr/>
            <a:r>
              <a:rPr lang="de-DE" sz="1600" dirty="0"/>
              <a:t>• Startet und Beendet die Stunde mit Entry- und Exit-Ticket</a:t>
            </a:r>
          </a:p>
          <a:p>
            <a:pPr/>
            <a:r>
              <a:rPr lang="de-DE" sz="1600" dirty="0"/>
              <a:t> </a:t>
            </a:r>
          </a:p>
          <a:p>
            <a:pPr/>
            <a:r>
              <a:rPr lang="de-DE" sz="1600" dirty="0"/>
              <a:t> Noten</a:t>
            </a:r>
          </a:p>
          <a:p>
            <a:pPr/>
            <a:r>
              <a:rPr lang="de-DE" sz="1600" dirty="0"/>
              <a:t> • Zwei Kursarbeiten pro Halbjahr</a:t>
            </a:r>
          </a:p>
          <a:p>
            <a:pPr/>
            <a:r>
              <a:rPr lang="de-DE" sz="1600" dirty="0"/>
              <a:t>• Zwei Epochalnoten pro Halbjahr</a:t>
            </a:r>
          </a:p>
          <a:p>
            <a:pPr/>
            <a:r>
              <a:rPr lang="de-DE" sz="1600" dirty="0"/>
              <a:t>• Mehrere Hüs (immer angekündigt) und manchmal Projektnoten pro Halbjahr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Das Münzspiel</a:t>
            </a:r>
          </a:p>
        </p:txBody>
      </p:sp>
      <p:sp>
        <p:nvSpPr>
          <p:cNvPr id="3" name="Text"/>
          <p:cNvSpPr txBox="1"/>
          <p:nvPr/>
        </p:nvSpPr>
        <p:spPr>
          <a:xfrm>
            <a:off x="457200" y="1600200"/>
            <a:ext cx="8229600" cy="4800600"/>
          </a:xfrm>
          <a:prstGeom prst="rect">
            <a:avLst/>
          </a:prstGeom>
        </p:spPr>
        <p:txBody>
          <a:bodyPr wrap="square" rtlCol="0"/>
          <a:lstStyle/>
          <a:p>
            <a:r>
              <a:rPr lang="de-DE" sz="1600" dirty="0"/>
              <a:t>Feld A</a:t>
            </a:r>
          </a:p>
          <a:p>
            <a:pPr/>
            <a:r>
              <a:rPr lang="de-DE" sz="1600" dirty="0"/>
              <a:t> </a:t>
            </a:r>
          </a:p>
          <a:p>
            <a:pPr/>
            <a:r>
              <a:rPr lang="de-DE" sz="1600" dirty="0"/>
              <a:t>Feld B</a:t>
            </a:r>
          </a:p>
          <a:p>
            <a:pPr/>
            <a:r>
              <a:rPr lang="de-DE" sz="1600" dirty="0"/>
              <a:t> </a:t>
            </a:r>
          </a:p>
          <a:p>
            <a:pPr/>
            <a:r>
              <a:rPr lang="de-DE" sz="1600" dirty="0"/>
              <a:t>Spielanleitung</a:t>
            </a:r>
          </a:p>
          <a:p>
            <a:pPr/>
            <a:r>
              <a:rPr lang="de-DE" sz="1600" dirty="0"/>
              <a:t> </a:t>
            </a:r>
          </a:p>
          <a:p>
            <a:pPr/>
            <a:r>
              <a:rPr lang="de-DE" sz="1600" dirty="0"/>
              <a:t>Bei diesem Experiment werden zunächst 10 Münzen in das Feld A und 40 Münzen in das Feld B gelegt.</a:t>
            </a:r>
          </a:p>
          <a:p>
            <a:pPr/>
            <a:r>
              <a:rPr lang="de-DE" sz="1600" dirty="0"/>
              <a:t> </a:t>
            </a:r>
          </a:p>
          <a:p>
            <a:pPr/>
            <a:r>
              <a:rPr lang="de-DE" sz="1600" dirty="0"/>
              <a:t> Anschließend schiebt Spieler A jeweils ein Drittel seiner Münzen in das Feld B. Gleichzeitig schiebt Spieler B die Hälfte seiner Münzen in das Feld A.</a:t>
            </a:r>
          </a:p>
          <a:p>
            <a:pPr/>
            <a:r>
              <a:rPr lang="de-DE" sz="1600" dirty="0"/>
              <a:t> </a:t>
            </a:r>
          </a:p>
          <a:p>
            <a:pPr/>
            <a:r>
              <a:rPr lang="de-DE" sz="1600" dirty="0"/>
              <a:t> Die Züge werden mehrmals wiederholt. Eventuell muss gerundet werden!</a:t>
            </a:r>
          </a:p>
          <a:p>
            <a:pPr/>
            <a:r>
              <a:rPr lang="de-DE" sz="1600" dirty="0"/>
              <a:t> </a:t>
            </a:r>
          </a:p>
          <a:p>
            <a:pPr/>
            <a:r>
              <a:rPr lang="de-DE" sz="1600" dirty="0"/>
              <a:t>Notizen:</a:t>
            </a:r>
          </a:p>
          <a:p>
            <a:pPr/>
            <a:r>
              <a:rPr lang="de-DE" sz="1600" dirty="0"/>
              <a:t>Material</a:t>
            </a:r>
          </a:p>
          <a:p>
            <a:pPr/>
            <a:r>
              <a:rPr lang="de-DE" sz="1600" dirty="0"/>
              <a:t> </a:t>
            </a:r>
          </a:p>
          <a:p>
            <a:pPr/>
            <a:r>
              <a:rPr lang="de-DE" sz="1600" dirty="0"/>
              <a:t> • 50 Münzen pro Schülerpaar</a:t>
            </a:r>
          </a:p>
          <a:p>
            <a:pPr/>
            <a:r>
              <a:rPr lang="de-DE" sz="1600" dirty="0"/>
              <a:t> </a:t>
            </a:r>
          </a:p>
          <a:p>
            <a:pPr/>
            <a:r>
              <a:rPr lang="de-DE" sz="1600" dirty="0"/>
              <a:t> → im LK also 500 Münzen</a:t>
            </a:r>
          </a:p>
          <a:p>
            <a:pPr/>
            <a:r>
              <a:rPr lang="de-DE" sz="1600" dirty="0"/>
              <a:t> </a:t>
            </a:r>
          </a:p>
          <a:p>
            <a:pPr/>
            <a:r>
              <a:rPr lang="de-DE" sz="1600" dirty="0"/>
              <a:t> Lernziele der Stunde</a:t>
            </a:r>
          </a:p>
          <a:p>
            <a:pPr/>
            <a:r>
              <a:rPr lang="de-DE" sz="1600" dirty="0"/>
              <a:t> Übergangsmatrizen, verschiedene Darstellungen: Tabelle, Graph, Matrix</a:t>
            </a:r>
          </a:p>
          <a:p>
            <a:pPr/>
            <a:r>
              <a:rPr lang="de-DE" sz="1600" dirty="0"/>
              <a:t> </a:t>
            </a:r>
          </a:p>
          <a:p>
            <a:pPr/>
            <a:r>
              <a:rPr lang="de-DE" sz="1600" dirty="0"/>
              <a:t> Schwierigkeiten:</a:t>
            </a:r>
          </a:p>
          <a:p>
            <a:pPr/>
            <a:r>
              <a:rPr lang="de-DE" sz="1600" dirty="0"/>
              <a:t> </a:t>
            </a:r>
          </a:p>
          <a:p>
            <a:pPr/>
            <a:r>
              <a:rPr lang="de-DE" sz="1600" dirty="0"/>
              <a:t> Beispiellösung:</a:t>
            </a:r>
          </a:p>
          <a:p>
            <a:pPr/>
            <a:r>
              <a:rPr lang="de-DE" sz="1600" dirty="0"/>
              <a:t> </a:t>
            </a:r>
          </a:p>
          <a:p>
            <a:pPr/>
            <a:r>
              <a:rPr lang="de-DE" sz="1600" dirty="0"/>
              <a:t> [Bild]</a:t>
            </a:r>
          </a:p>
          <a:p>
            <a:pPr/>
            <a:r>
              <a:rPr lang="de-DE" sz="1600" dirty="0"/>
              <a:t> [Bild]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Vom Spiel zum Modell: Verschiedene Darstellungsformen</a:t>
            </a:r>
          </a:p>
        </p:txBody>
      </p:sp>
      <p:sp>
        <p:nvSpPr>
          <p:cNvPr id="3" name="Text"/>
          <p:cNvSpPr txBox="1"/>
          <p:nvPr/>
        </p:nvSpPr>
        <p:spPr>
          <a:xfrm>
            <a:off x="457200" y="1600200"/>
            <a:ext cx="8229600" cy="4800600"/>
          </a:xfrm>
          <a:prstGeom prst="rect">
            <a:avLst/>
          </a:prstGeom>
        </p:spPr>
        <p:txBody>
          <a:bodyPr wrap="square" rtlCol="0"/>
          <a:lstStyle/>
          <a:p>
            <a:r>
              <a:rPr lang="de-DE" sz="1600" dirty="0"/>
              <a:t>Übergangstabelle</a:t>
            </a:r>
          </a:p>
          <a:p>
            <a:pPr/>
            <a:r>
              <a:rPr lang="de-DE" sz="1600" dirty="0"/>
              <a:t> </a:t>
            </a:r>
          </a:p>
          <a:p>
            <a:pPr/>
            <a:r>
              <a:rPr lang="de-DE" sz="1600" dirty="0"/>
              <a:t>Übergangsgraph</a:t>
            </a:r>
          </a:p>
          <a:p>
            <a:pPr/>
            <a:r>
              <a:rPr lang="de-DE" sz="1600" dirty="0"/>
              <a:t> </a:t>
            </a:r>
          </a:p>
          <a:p>
            <a:pPr/>
            <a:r>
              <a:rPr lang="de-DE" sz="1600" dirty="0"/>
              <a:t>A B A</a:t>
            </a:r>
          </a:p>
          <a:p>
            <a:pPr/>
            <a:r>
              <a:rPr lang="de-DE" sz="1600" dirty="0"/>
              <a:t> </a:t>
            </a:r>
          </a:p>
          <a:p>
            <a:pPr/>
            <a:r>
              <a:rPr lang="de-DE" sz="1600" dirty="0"/>
              <a:t> B</a:t>
            </a:r>
          </a:p>
          <a:p>
            <a:pPr/>
            <a:r>
              <a:rPr lang="de-DE" sz="1600" dirty="0"/>
              <a:t> </a:t>
            </a:r>
          </a:p>
          <a:p>
            <a:pPr/>
            <a:r>
              <a:rPr lang="de-DE" sz="1600" dirty="0"/>
              <a:t>A</a:t>
            </a:r>
          </a:p>
          <a:p>
            <a:pPr/>
            <a:r>
              <a:rPr lang="de-DE" sz="1600" dirty="0"/>
              <a:t> </a:t>
            </a:r>
          </a:p>
          <a:p>
            <a:pPr/>
            <a:r>
              <a:rPr lang="de-DE" sz="1600" dirty="0"/>
              <a:t>B</a:t>
            </a:r>
          </a:p>
          <a:p>
            <a:pPr/>
            <a:r>
              <a:rPr lang="de-DE" sz="1600" dirty="0"/>
              <a:t> </a:t>
            </a:r>
          </a:p>
          <a:p>
            <a:pPr/>
            <a:r>
              <a:rPr lang="de-DE" sz="1600" dirty="0"/>
              <a:t>Mit Variablen mathematisch beschreiben</a:t>
            </a:r>
          </a:p>
          <a:p>
            <a:pPr/>
            <a:r>
              <a:rPr lang="de-DE" sz="1600" dirty="0"/>
              <a:t> </a:t>
            </a:r>
          </a:p>
          <a:p>
            <a:pPr/>
            <a:r>
              <a:rPr lang="de-DE" sz="1600" dirty="0"/>
              <a:t>Seien aₙ und bₙ die Münzmengen in den Feldern A und B nach Runde n. Ergänze die Formeln für die nächste Runde.</a:t>
            </a:r>
          </a:p>
          <a:p>
            <a:pPr/>
            <a:r>
              <a:rPr lang="de-DE" sz="1600" dirty="0"/>
              <a:t> </a:t>
            </a:r>
          </a:p>
          <a:p>
            <a:pPr/>
            <a:r>
              <a:rPr lang="de-DE" sz="1600" dirty="0"/>
              <a:t> aₙ₊₁ = ______ · aₙ + ______ · bₙ</a:t>
            </a:r>
          </a:p>
          <a:p>
            <a:pPr/>
            <a:r>
              <a:rPr lang="de-DE" sz="1600" dirty="0"/>
              <a:t> </a:t>
            </a:r>
          </a:p>
          <a:p>
            <a:pPr/>
            <a:r>
              <a:rPr lang="de-DE" sz="1600" dirty="0"/>
              <a:t> bₙ₊₁ = ______ · aₙ + ______ · bₙ</a:t>
            </a:r>
          </a:p>
          <a:p>
            <a:pPr/>
            <a:r>
              <a:rPr lang="de-DE" sz="1600" dirty="0"/>
              <a:t> </a:t>
            </a:r>
          </a:p>
          <a:p>
            <a:pPr/>
            <a:r>
              <a:rPr lang="de-DE" sz="1600" dirty="0"/>
              <a:t>Notizen:</a:t>
            </a:r>
          </a:p>
          <a:p>
            <a:pPr/>
            <a:r>
              <a:rPr lang="de-DE" sz="1600" dirty="0"/>
              <a:t>Die SuS können das als Hilfestellung nutzen und vervollständigen.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Vektor und Matrix</a:t>
            </a:r>
          </a:p>
        </p:txBody>
      </p:sp>
      <p:sp>
        <p:nvSpPr>
          <p:cNvPr id="3" name="Text"/>
          <p:cNvSpPr txBox="1"/>
          <p:nvPr/>
        </p:nvSpPr>
        <p:spPr>
          <a:xfrm>
            <a:off x="457200" y="1600200"/>
            <a:ext cx="8229600" cy="4800600"/>
          </a:xfrm>
          <a:prstGeom prst="rect">
            <a:avLst/>
          </a:prstGeom>
        </p:spPr>
        <p:txBody>
          <a:bodyPr wrap="square" rtlCol="0"/>
          <a:lstStyle/>
          <a:p>
            <a:r>
              <a:rPr lang="de-DE" sz="1600" dirty="0"/>
              <a:t>Anfangsvektor für den Startzustand:</a:t>
            </a:r>
          </a:p>
          <a:p>
            <a:pPr/>
            <a:r>
              <a:rPr lang="de-DE" sz="1600" dirty="0"/>
              <a:t> </a:t>
            </a:r>
          </a:p>
          <a:p>
            <a:pPr/>
            <a:r>
              <a:rPr lang="de-DE" sz="1600" dirty="0"/>
              <a:t> Übergangsmatrix:</a:t>
            </a:r>
          </a:p>
          <a:p>
            <a:pPr/>
            <a:r>
              <a:rPr lang="de-DE" sz="1600" dirty="0"/>
              <a:t> </a:t>
            </a:r>
          </a:p>
          <a:p>
            <a:pPr/>
            <a:r>
              <a:rPr lang="de-DE" sz="1600" dirty="0"/>
              <a:t> Testet eure Matrix am ersten</a:t>
            </a:r>
          </a:p>
          <a:p>
            <a:pPr/>
            <a:r>
              <a:rPr lang="de-DE" sz="1600" dirty="0"/>
              <a:t>Spielzug: M · v₀ = v₁ →</a:t>
            </a:r>
          </a:p>
          <a:p>
            <a:pPr/>
            <a:r>
              <a:rPr lang="de-DE" sz="1600" dirty="0"/>
              <a:t>Welche Werte erwartet ihr für v₁?</a:t>
            </a:r>
          </a:p>
          <a:p>
            <a:pPr/>
            <a:r>
              <a:rPr lang="de-DE" sz="1600" dirty="0"/>
              <a:t>______________________________</a:t>
            </a:r>
          </a:p>
          <a:p>
            <a:pPr/>
            <a:r>
              <a:rPr lang="de-DE" sz="1600" dirty="0"/>
              <a:t> </a:t>
            </a:r>
          </a:p>
          <a:p>
            <a:pPr/>
            <a:r>
              <a:rPr lang="de-DE" sz="1600" dirty="0"/>
              <a:t> Weiterdenken</a:t>
            </a:r>
          </a:p>
          <a:p>
            <a:pPr/>
            <a:r>
              <a:rPr lang="de-DE" sz="1600" dirty="0"/>
              <a:t> 1. Startet mit einer anderen Verteilung, zum</a:t>
            </a:r>
          </a:p>
          <a:p>
            <a:pPr/>
            <a:r>
              <a:rPr lang="de-DE" sz="1600" dirty="0"/>
              <a:t>Beispiel 25 Münzen in A und 25 Münzen in B. Was verändert sich, was bleibt</a:t>
            </a:r>
          </a:p>
          <a:p>
            <a:pPr/>
            <a:r>
              <a:rPr lang="de-DE" sz="1600" dirty="0"/>
              <a:t>ähnlich?</a:t>
            </a:r>
          </a:p>
          <a:p>
            <a:pPr/>
            <a:r>
              <a:rPr lang="de-DE" sz="1600" dirty="0"/>
              <a:t> 2. Verändert eine Spielregel. Welche Einträge</a:t>
            </a:r>
          </a:p>
          <a:p>
            <a:pPr/>
            <a:r>
              <a:rPr lang="de-DE" sz="1600" dirty="0"/>
              <a:t>der Matrix müssen sich dadurch verändern?</a:t>
            </a:r>
          </a:p>
          <a:p>
            <a:pPr/>
            <a:r>
              <a:rPr lang="de-DE" sz="1600" dirty="0"/>
              <a:t> </a:t>
            </a:r>
          </a:p>
          <a:p>
            <a:pPr/>
            <a:r>
              <a:rPr lang="de-DE" sz="1600" dirty="0"/>
              <a:t> 3. Formuliert eine Vermutung dazu, ob sich</a:t>
            </a:r>
          </a:p>
          <a:p>
            <a:pPr/>
            <a:r>
              <a:rPr lang="de-DE" sz="1600" dirty="0"/>
              <a:t>langfristig immer dieselbe Verteilung einstellt.</a:t>
            </a:r>
          </a:p>
          <a:p>
            <a:pPr/>
            <a:r>
              <a:rPr lang="de-DE" sz="1600" dirty="0"/>
              <a:t> </a:t>
            </a:r>
          </a:p>
          <a:p>
            <a:pPr/>
            <a:r>
              <a:rPr lang="de-DE" sz="1600" dirty="0"/>
              <a:t>Anfangsvektor für den Startzustand:</a:t>
            </a:r>
          </a:p>
          <a:p>
            <a:pPr/>
            <a:r>
              <a:rPr lang="de-DE" sz="1600" dirty="0"/>
              <a:t> </a:t>
            </a:r>
          </a:p>
          <a:p>
            <a:pPr/>
            <a:r>
              <a:rPr lang="de-DE" sz="1600" dirty="0"/>
              <a:t> ​ v ⃗ = ( □ □ ) \vec{v}=\begin{pmatrix}\Box\\[0.8em]\Box\end{pmatrix} ​ ​ ​ Matrix für den Übergang:</a:t>
            </a:r>
          </a:p>
          <a:p>
            <a:pPr/>
            <a:r>
              <a:rPr lang="de-DE" sz="1600" dirty="0"/>
              <a:t> </a:t>
            </a:r>
          </a:p>
          <a:p>
            <a:pPr/>
            <a:r>
              <a:rPr lang="de-DE" sz="1600" dirty="0"/>
              <a:t> M= ​ ​ ( □ □ □ □ ) \begin{pmatrix}\Box &amp; \Box\\\Box &amp; \Box\end{pmatrix} ​ ​</a:t>
            </a:r>
          </a:p>
          <a:p>
            <a:pPr/>
            <a:r>
              <a:rPr lang="de-DE" sz="1600" dirty="0"/>
              <a:t> </a:t>
            </a:r>
          </a:p>
          <a:p>
            <a:pPr/>
            <a:r>
              <a:rPr lang="de-DE" sz="1600" dirty="0"/>
              <a:t>Teste deine Matrix am ersten Spielzug:</a:t>
            </a:r>
          </a:p>
          <a:p>
            <a:pPr/>
            <a:r>
              <a:rPr lang="de-DE" sz="1600" dirty="0"/>
              <a:t> </a:t>
            </a:r>
          </a:p>
          <a:p>
            <a:pPr/>
            <a:r>
              <a:rPr lang="de-DE" sz="1600" dirty="0"/>
              <a:t> M · v₀ = v₁ → Welche Werte erwartest du für v₁ ?</a:t>
            </a:r>
          </a:p>
          <a:p>
            <a:pPr/>
            <a:r>
              <a:rPr lang="de-DE" sz="1600" dirty="0"/>
              <a:t> </a:t>
            </a:r>
          </a:p>
          <a:p>
            <a:pPr/>
            <a:r>
              <a:rPr lang="de-DE" sz="1600" dirty="0"/>
              <a:t> Weiterdenken</a:t>
            </a:r>
          </a:p>
          <a:p>
            <a:pPr/>
            <a:r>
              <a:rPr lang="de-DE" sz="1600" dirty="0"/>
              <a:t> • Starte mit einer anderen Verteilung, zum Beispiel 25 Münzen in A und 25 Münzen in B. Was verändert sich, was bleibt ähnlich?</a:t>
            </a:r>
          </a:p>
          <a:p>
            <a:pPr/>
            <a:r>
              <a:rPr lang="de-DE" sz="1600" dirty="0"/>
              <a:t>• Verändere eine Spielregel. Welche Einträge der Matrix müssen sich dadurch verändern?</a:t>
            </a:r>
          </a:p>
          <a:p>
            <a:pPr/>
            <a:r>
              <a:rPr lang="de-DE" sz="1600" dirty="0"/>
              <a:t>• Formuliere eine Vermutung dazu, ob sich langfristig immer dieselbe Verteilung einstellt.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a:t>
            </a:r>
          </a:p>
        </p:txBody>
      </p:sp>
      <p:sp>
        <p:nvSpPr>
          <p:cNvPr id="3" name="Text"/>
          <p:cNvSpPr txBox="1"/>
          <p:nvPr/>
        </p:nvSpPr>
        <p:spPr>
          <a:xfrm>
            <a:off x="457200" y="1600200"/>
            <a:ext cx="8229600" cy="4800600"/>
          </a:xfrm>
          <a:prstGeom prst="rect">
            <a:avLst/>
          </a:prstGeom>
        </p:spPr>
        <p:txBody>
          <a:bodyPr wrap="square" rtlCol="0"/>
          <a:lstStyle/>
          <a:p>
            <a:r>
              <a:rPr lang="de-DE" sz="1600" dirty="0"/>
              <a:t>Bis zur nächsten Stunde!</a:t>
            </a:r>
          </a:p>
          <a:p>
            <a:pPr/>
            <a:r>
              <a:rPr lang="de-DE" sz="1600" dirty="0"/>
              <a:t> </a:t>
            </a:r>
          </a:p>
          <a:p>
            <a:pPr/>
            <a:r>
              <a:rPr lang="de-DE" sz="1600" dirty="0"/>
              <a:t>Hausaufgabe</a:t>
            </a:r>
          </a:p>
          <a:p>
            <a:pPr/>
            <a:r>
              <a:rPr lang="de-DE" sz="1600" dirty="0"/>
              <a:t>Weiterführende Fragen (siehe vorherige Folie)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7</a:t>
            </a:r>
          </a:p>
        </p:txBody>
      </p:sp>
      <p:sp>
        <p:nvSpPr>
          <p:cNvPr id="3" name="Text"/>
          <p:cNvSpPr txBox="1"/>
          <p:nvPr/>
        </p:nvSpPr>
        <p:spPr>
          <a:xfrm>
            <a:off x="457200" y="1600200"/>
            <a:ext cx="8229600" cy="4800600"/>
          </a:xfrm>
          <a:prstGeom prst="rect">
            <a:avLst/>
          </a:prstGeom>
        </p:spPr>
        <p:txBody>
          <a:bodyPr wrap="square" rtlCol="0"/>
          <a:lstStyle/>
          <a:p>
            <a:r>
              <a:rPr lang="de-DE" sz="1600" dirty="0"/>
              <a:t>Eine Matrix ...</a:t>
            </a:r>
          </a:p>
          <a:p>
            <a:pPr/>
            <a:r>
              <a:rPr lang="de-DE" sz="1600" dirty="0"/>
              <a:t>„Eine Art Tabelle, in deren Zeilen und Spalten reelle Zahlen stehen“</a:t>
            </a:r>
          </a:p>
          <a:p>
            <a:pPr/>
            <a:r>
              <a:rPr lang="de-DE" sz="1600" dirty="0"/>
              <a:t> ​ ​</a:t>
            </a:r>
          </a:p>
          <a:p>
            <a:pPr/>
            <a:r>
              <a:rPr lang="de-DE" sz="1600" dirty="0"/>
              <a:t> </a:t>
            </a:r>
          </a:p>
          <a:p>
            <a:pPr/>
            <a:r>
              <a:rPr lang="de-DE" sz="1600" dirty="0"/>
              <a:t> Definition: m × n -Matrix \textbf{Definition: } m \times n\text{-Matrix} ​</a:t>
            </a:r>
          </a:p>
          <a:p>
            <a:pPr/>
            <a:r>
              <a:rPr lang="de-DE" sz="1600" dirty="0"/>
              <a:t> </a:t>
            </a:r>
          </a:p>
          <a:p>
            <a:pPr/>
            <a:r>
              <a:rPr lang="de-DE" sz="1600" dirty="0"/>
              <a:t> Eine Matrix A ist eine rechteckige Zahlentabelle mit m Zeilen und n Spalten.</a:t>
            </a:r>
          </a:p>
          <a:p>
            <a:pPr/>
            <a:r>
              <a:rPr lang="de-DE" sz="1600" dirty="0"/>
              <a:t> Ihre Einträge werden mit a i j a_{ij} bezeichnet, wobei i i die Zeile und j j die Spalte angibt. Für alle vorkommenden Indizes gilt: ​ a i j ∈ R ​</a:t>
            </a:r>
          </a:p>
          <a:p>
            <a:pPr/>
            <a:r>
              <a:rPr lang="de-DE" sz="1600" dirty="0"/>
              <a:t> </a:t>
            </a:r>
          </a:p>
          <a:p>
            <a:pPr/>
            <a:r>
              <a:rPr lang="de-DE" sz="1600" dirty="0"/>
              <a:t>​</a:t>
            </a:r>
          </a:p>
          <a:p>
            <a:pPr/>
            <a:r>
              <a:rPr lang="de-DE" sz="1600" dirty="0"/>
              <a:t> </a:t>
            </a:r>
          </a:p>
          <a:p>
            <a:pPr/>
            <a:r>
              <a:rPr lang="de-DE" sz="1600" dirty="0"/>
              <a:t> ​</a:t>
            </a:r>
          </a:p>
          <a:p>
            <a:pPr/>
            <a:r>
              <a:rPr lang="de-DE" sz="1600" dirty="0"/>
              <a:t> </a:t>
            </a:r>
          </a:p>
          <a:p>
            <a:pPr/>
            <a:r>
              <a:rPr lang="de-DE" sz="1600" dirty="0"/>
              <a:t> ​</a:t>
            </a:r>
          </a:p>
          <a:p>
            <a:pPr/>
            <a:r>
              <a:rPr lang="de-DE" sz="1600" dirty="0"/>
              <a:t> Eine Matrix A heißt quadratisch , wenn sie gleich viele Zeilen wie Spalten besitzt, also wenn ​ m = n ​ gilt.</a:t>
            </a:r>
          </a:p>
          <a:p>
            <a:pPr/>
            <a:r>
              <a:rPr lang="de-DE" sz="1600" dirty="0"/>
              <a:t> </a:t>
            </a:r>
          </a:p>
          <a:p>
            <a:pPr/>
            <a:r>
              <a:rPr lang="de-DE" sz="1600" dirty="0"/>
              <a:t> ​ ​</a:t>
            </a:r>
          </a:p>
          <a:p>
            <a:pPr/>
            <a:r>
              <a:rPr lang="de-DE" sz="1600" dirty="0"/>
              <a:t> </a:t>
            </a:r>
          </a:p>
          <a:p>
            <a:pPr/>
            <a:r>
              <a:rPr lang="de-DE" sz="1600" dirty="0"/>
              <a:t>Ein Vektor ...</a:t>
            </a:r>
          </a:p>
          <a:p>
            <a:pPr/>
            <a:r>
              <a:rPr lang="de-DE" sz="1600" dirty="0"/>
              <a:t>​ Definition: Vektor \textbf{Definition: Vektor} ​</a:t>
            </a:r>
          </a:p>
          <a:p>
            <a:pPr/>
            <a:r>
              <a:rPr lang="de-DE" sz="1600" dirty="0"/>
              <a:t> </a:t>
            </a:r>
          </a:p>
          <a:p>
            <a:pPr/>
            <a:r>
              <a:rPr lang="de-DE" sz="1600" dirty="0"/>
              <a:t> Ein Vektor v ⃗ \vec{v} ist eine geordnete Liste von Zahlen. Ein n dimensionaler Vektor besitzt n Einträge.</a:t>
            </a:r>
          </a:p>
          <a:p>
            <a:pPr/>
            <a:r>
              <a:rPr lang="de-DE" sz="1600" dirty="0"/>
              <a:t>​</a:t>
            </a:r>
          </a:p>
          <a:p>
            <a:pPr/>
            <a:r>
              <a:rPr lang="de-DE" sz="1600" dirty="0"/>
              <a:t> </a:t>
            </a:r>
          </a:p>
          <a:p>
            <a:pPr/>
            <a:r>
              <a:rPr lang="de-DE" sz="1600"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8</a:t>
            </a:r>
          </a:p>
        </p:txBody>
      </p:sp>
      <p:sp>
        <p:nvSpPr>
          <p:cNvPr id="3" name="Text"/>
          <p:cNvSpPr txBox="1"/>
          <p:nvPr/>
        </p:nvSpPr>
        <p:spPr>
          <a:xfrm>
            <a:off x="457200" y="1600200"/>
            <a:ext cx="8229600" cy="4800600"/>
          </a:xfrm>
          <a:prstGeom prst="rect">
            <a:avLst/>
          </a:prstGeom>
        </p:spPr>
        <p:txBody>
          <a:bodyPr wrap="square" rtlCol="0"/>
          <a:lstStyle/>
          <a:p>
            <a:r>
              <a:rPr lang="de-DE" sz="1600" dirty="0"/>
              <a:t>​ Blitzfragen \textbf{Blitzfragen} ​</a:t>
            </a:r>
          </a:p>
          <a:p>
            <a:pPr/>
            <a:r>
              <a:rPr lang="de-DE" sz="1600" dirty="0"/>
              <a:t>​ A = ( − 1 3 4 4 − 2 1 ) A=\begin{pmatrix}-1 &amp; 3 &amp; 4\\4 &amp; -2 &amp; 1\end{pmatrix} ​</a:t>
            </a:r>
          </a:p>
          <a:p>
            <a:pPr/>
            <a:r>
              <a:rPr lang="de-DE" sz="1600" dirty="0"/>
              <a:t> </a:t>
            </a:r>
          </a:p>
          <a:p>
            <a:pPr/>
            <a:r>
              <a:rPr lang="de-DE" sz="1600" dirty="0"/>
              <a:t> 1.\ Bestimme den Typ von A A . \qquad</a:t>
            </a:r>
          </a:p>
          <a:p>
            <a:pPr/>
            <a:r>
              <a:rPr lang="de-DE" sz="1600" dirty="0"/>
              <a:t> 2.\ Gib a 12 a_{12} an. \qquad</a:t>
            </a:r>
          </a:p>
          <a:p>
            <a:pPr/>
            <a:r>
              <a:rPr lang="de-DE" sz="1600" dirty="0"/>
              <a:t> 3.\ Gib a 23 a_{23} an.</a:t>
            </a:r>
          </a:p>
          <a:p>
            <a:pPr/>
            <a:r>
              <a:rPr lang="de-DE" sz="1600" dirty="0"/>
              <a:t>​ B = ( 2 5 1 0 − 3 4 ) B=\begin{pmatrix}2 &amp; 5\\1 &amp; 0\\-3 &amp; 4\end{pmatrix} ​</a:t>
            </a:r>
          </a:p>
          <a:p>
            <a:pPr/>
            <a:r>
              <a:rPr lang="de-DE" sz="1600" dirty="0"/>
              <a:t> </a:t>
            </a:r>
          </a:p>
          <a:p>
            <a:pPr/>
            <a:r>
              <a:rPr lang="de-DE" sz="1600" dirty="0"/>
              <a:t> 4.\ Bestimme den Typ von B B . \qquad</a:t>
            </a:r>
          </a:p>
          <a:p>
            <a:pPr/>
            <a:r>
              <a:rPr lang="de-DE" sz="1600" dirty="0"/>
              <a:t> 5.\ Gib b 31 b_{31} an.</a:t>
            </a:r>
          </a:p>
          <a:p>
            <a:pPr/>
            <a:r>
              <a:rPr lang="de-DE" sz="1600" dirty="0"/>
              <a:t> </a:t>
            </a:r>
          </a:p>
          <a:p>
            <a:pPr/>
            <a:r>
              <a:rPr lang="de-DE" sz="1600" dirty="0"/>
              <a:t> 6.\ Beschreibe die Position von c 24 c_{24} . \qquad</a:t>
            </a:r>
          </a:p>
          <a:p>
            <a:pPr/>
            <a:r>
              <a:rPr lang="de-DE" sz="1600" dirty="0"/>
              <a:t> 7.\ Entscheide, ob eine 3 × 3 3\times3 -Matrix quadratisch ist.</a:t>
            </a:r>
          </a:p>
          <a:p>
            <a:pPr/>
            <a:r>
              <a:rPr lang="de-DE" sz="1600" dirty="0"/>
              <a:t> </a:t>
            </a:r>
          </a:p>
          <a:p>
            <a:pPr/>
            <a:r>
              <a:rPr lang="de-DE" sz="1600" dirty="0"/>
              <a:t>​​ Blitzfragen ​</a:t>
            </a:r>
          </a:p>
          <a:p>
            <a:pPr/>
            <a:r>
              <a:rPr lang="de-DE" sz="1600" dirty="0"/>
              <a:t> ​ A = ( − 1 3 4 4 − 2 1 )</a:t>
            </a:r>
          </a:p>
          <a:p>
            <a:pPr/>
            <a:r>
              <a:rPr lang="de-DE" sz="1600" dirty="0"/>
              <a:t> </a:t>
            </a:r>
          </a:p>
          <a:p>
            <a:pPr/>
            <a:r>
              <a:rPr lang="de-DE" sz="1600" dirty="0"/>
              <a:t>​</a:t>
            </a:r>
          </a:p>
          <a:p>
            <a:pPr/>
            <a:r>
              <a:rPr lang="de-DE" sz="1600" dirty="0"/>
              <a:t> </a:t>
            </a:r>
          </a:p>
          <a:p>
            <a:pPr/>
            <a:r>
              <a:rPr lang="de-DE" sz="1600" dirty="0"/>
              <a:t> • Bestimme den Typ von A .</a:t>
            </a:r>
          </a:p>
          <a:p>
            <a:pPr/>
            <a:r>
              <a:rPr lang="de-DE" sz="1600" dirty="0"/>
              <a:t>• Gib a 12 an.</a:t>
            </a:r>
          </a:p>
          <a:p>
            <a:pPr/>
            <a:r>
              <a:rPr lang="de-DE" sz="1600" dirty="0"/>
              <a:t>• Gib a 23 an.</a:t>
            </a:r>
          </a:p>
          <a:p>
            <a:pPr/>
            <a:r>
              <a:rPr lang="de-DE" sz="1600" dirty="0"/>
              <a:t> </a:t>
            </a:r>
          </a:p>
          <a:p>
            <a:pPr/>
            <a:r>
              <a:rPr lang="de-DE" sz="1600" dirty="0"/>
              <a:t>​ B = ( 2 5 1 0 − 3 4 ) B=\begin{pmatrix}2 &amp; 5\\1 &amp; 0\\-3 &amp; 4\end{pmatrix}</a:t>
            </a:r>
          </a:p>
          <a:p>
            <a:pPr/>
            <a:r>
              <a:rPr lang="de-DE" sz="1600" dirty="0"/>
              <a:t> </a:t>
            </a:r>
          </a:p>
          <a:p>
            <a:pPr/>
            <a:r>
              <a:rPr lang="de-DE" sz="1600" dirty="0"/>
              <a:t>​</a:t>
            </a:r>
          </a:p>
          <a:p>
            <a:pPr/>
            <a:r>
              <a:rPr lang="de-DE" sz="1600" dirty="0"/>
              <a:t> • Bestimme den Typ von B B .</a:t>
            </a:r>
          </a:p>
          <a:p>
            <a:pPr/>
            <a:r>
              <a:rPr lang="de-DE" sz="1600" dirty="0"/>
              <a:t>• Gib b 31 an.</a:t>
            </a:r>
          </a:p>
          <a:p>
            <a:pPr/>
            <a:r>
              <a:rPr lang="de-DE" sz="1600" dirty="0"/>
              <a:t>• Beschreibe die Position von c 24 .</a:t>
            </a:r>
          </a:p>
          <a:p>
            <a:pPr/>
            <a:r>
              <a:rPr lang="de-DE" sz="1600" dirty="0"/>
              <a:t>• Entscheide , ob eine 3 × 3 -Matrix quadratisch ist.</a:t>
            </a:r>
          </a:p>
          <a:p>
            <a:pPr/>
            <a:r>
              <a:rPr lang="de-DE" sz="1600" dirty="0"/>
              <a:t> </a:t>
            </a:r>
          </a:p>
          <a:p>
            <a:pPr/>
            <a:r>
              <a:rPr lang="de-DE" sz="1600" dirty="0"/>
              <a:t>• Markiere zusammengehörige Elemente und ordne ide Fachbegriffe zu.</a:t>
            </a:r>
          </a:p>
          <a:p>
            <a:pPr/>
            <a:r>
              <a:rPr lang="de-DE" sz="1600" dirty="0"/>
              <a:t> </a:t>
            </a:r>
          </a:p>
          <a:p>
            <a:pPr/>
            <a:r>
              <a:rPr lang="de-DE" sz="1600" dirty="0"/>
              <a:t> • Wir multiplizieren hier eine Matrix mit einem Vektor, ohne die mathematische Regel dafür bisher formal festgelegt zu haben. Leite aus den Beispielen eine allgemeine Regel für die Matrix Vektor Multiplikation ab .</a:t>
            </a:r>
          </a:p>
          <a:p>
            <a:pPr/>
            <a:r>
              <a:rPr lang="de-DE" sz="1600" dirty="0"/>
              <a:t> </a:t>
            </a:r>
          </a:p>
          <a:p>
            <a:pPr/>
            <a:r>
              <a:rPr lang="de-DE" sz="1600" dirty="0"/>
              <a:t>Notizen:</a:t>
            </a:r>
          </a:p>
          <a:p>
            <a:pPr/>
            <a:r>
              <a:rPr lang="de-DE" sz="1600" dirty="0"/>
              <a:t>• A A ist eine 2 × 3 2 \times 3 Matrix.</a:t>
            </a:r>
          </a:p>
          <a:p>
            <a:pPr/>
            <a:r>
              <a:rPr lang="de-DE" sz="1600" dirty="0"/>
              <a:t> </a:t>
            </a:r>
          </a:p>
          <a:p>
            <a:pPr/>
            <a:r>
              <a:rPr lang="de-DE" sz="1600" dirty="0"/>
              <a:t>• a 12 = 3 a_{12}=3</a:t>
            </a:r>
          </a:p>
          <a:p>
            <a:pPr/>
            <a:r>
              <a:rPr lang="de-DE" sz="1600" dirty="0"/>
              <a:t> </a:t>
            </a:r>
          </a:p>
          <a:p>
            <a:pPr/>
            <a:r>
              <a:rPr lang="de-DE" sz="1600" dirty="0"/>
              <a:t>• a 23 = 1 a_{23}=1</a:t>
            </a:r>
          </a:p>
          <a:p>
            <a:pPr/>
            <a:r>
              <a:rPr lang="de-DE" sz="1600" dirty="0"/>
              <a:t> </a:t>
            </a:r>
          </a:p>
          <a:p>
            <a:pPr/>
            <a:r>
              <a:rPr lang="de-DE" sz="1600" dirty="0"/>
              <a:t>• B B ist eine 3 × 2 3 \times 2 Matrix.</a:t>
            </a:r>
          </a:p>
          <a:p>
            <a:pPr/>
            <a:r>
              <a:rPr lang="de-DE" sz="1600" dirty="0"/>
              <a:t> </a:t>
            </a:r>
          </a:p>
          <a:p>
            <a:pPr/>
            <a:r>
              <a:rPr lang="de-DE" sz="1600" dirty="0"/>
              <a:t>• b 31 = − 3 b_{31}=-3</a:t>
            </a:r>
          </a:p>
          <a:p>
            <a:pPr/>
            <a:r>
              <a:rPr lang="de-DE" sz="1600" dirty="0"/>
              <a:t> </a:t>
            </a:r>
          </a:p>
          <a:p>
            <a:pPr/>
            <a:r>
              <a:rPr lang="de-DE" sz="1600" dirty="0"/>
              <a:t>• c 24 c_{24} steht in der 2. Zeile und 4. Spalte.</a:t>
            </a:r>
          </a:p>
          <a:p>
            <a:pPr/>
            <a:r>
              <a:rPr lang="de-DE" sz="1600" dirty="0"/>
              <a:t> </a:t>
            </a:r>
          </a:p>
          <a:p>
            <a:pPr/>
            <a:r>
              <a:rPr lang="de-DE" sz="1600" dirty="0"/>
              <a:t>• Ja, eine 3 × 3 3 \times 3 Matrix ist quadratisch.</a:t>
            </a:r>
          </a:p>
          <a:p>
            <a:pPr/>
            <a:r>
              <a:rPr lang="de-DE" sz="1600" dirty="0"/>
              <a:t> </a:t>
            </a:r>
          </a:p>
          <a:p>
            <a:pPr/>
            <a:r>
              <a:rPr lang="de-DE" sz="1600" dirty="0"/>
              <a:t> [Bild]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9</a:t>
            </a:r>
          </a:p>
        </p:txBody>
      </p:sp>
      <p:sp>
        <p:nvSpPr>
          <p:cNvPr id="3" name="Text"/>
          <p:cNvSpPr txBox="1"/>
          <p:nvPr/>
        </p:nvSpPr>
        <p:spPr>
          <a:xfrm>
            <a:off x="457200" y="1600200"/>
            <a:ext cx="8229600" cy="4800600"/>
          </a:xfrm>
          <a:prstGeom prst="rect">
            <a:avLst/>
          </a:prstGeom>
        </p:spPr>
        <p:txBody>
          <a:bodyPr wrap="square" rtlCol="0"/>
          <a:lstStyle/>
          <a:p>
            <a:r>
              <a:rPr lang="de-DE" sz="1600" dirty="0"/>
              <a:t>Definition: Matrix mal Vektor</a:t>
            </a:r>
          </a:p>
          <a:p>
            <a:pPr/>
            <a:r>
              <a:rPr lang="de-DE" sz="1600" dirty="0"/>
              <a:t>​​ Sei ​ A = ( a i j ) ∈ R m × n ​ eine Matrix und v ⃗ ​ein Vektor. Dann ist das Produkt definiert als:</a:t>
            </a:r>
          </a:p>
          <a:p>
            <a:pPr/>
            <a:r>
              <a:rPr lang="de-DE" sz="16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a:t>
            </a:r>
          </a:p>
        </p:txBody>
      </p:sp>
      <p:sp>
        <p:nvSpPr>
          <p:cNvPr id="3" name="Text"/>
          <p:cNvSpPr txBox="1"/>
          <p:nvPr/>
        </p:nvSpPr>
        <p:spPr>
          <a:xfrm>
            <a:off x="457200" y="1600200"/>
            <a:ext cx="8229600" cy="4800600"/>
          </a:xfrm>
          <a:prstGeom prst="rect">
            <a:avLst/>
          </a:prstGeom>
        </p:spPr>
        <p:txBody>
          <a:bodyPr wrap="square" rtlCol="0"/>
          <a:lstStyle/>
          <a:p>
            <a:r>
              <a:rPr lang="de-DE" sz="1600" dirty="0"/>
              <a:t>Hausaufgabe: Übungen zu Matrizen und zum Matrix-Vektor Produkt</a:t>
            </a:r>
          </a:p>
          <a:p>
            <a:pPr/>
            <a:r>
              <a:rPr lang="de-DE" sz="1600" dirty="0"/>
              <a:t>Aufgabe 1: Notiere eine 4×4-Matrix, die die</a:t>
            </a:r>
          </a:p>
          <a:p>
            <a:pPr/>
            <a:r>
              <a:rPr lang="de-DE" sz="1600" dirty="0"/>
              <a:t>folgenden Bedingungen erfüllt:</a:t>
            </a:r>
          </a:p>
          <a:p>
            <a:pPr/>
            <a:r>
              <a:rPr lang="de-DE" sz="1600" dirty="0"/>
              <a:t> ​</a:t>
            </a:r>
          </a:p>
          <a:p>
            <a:pPr/>
            <a:r>
              <a:rPr lang="de-DE" sz="1600" dirty="0"/>
              <a:t> </a:t>
            </a:r>
          </a:p>
          <a:p>
            <a:pPr/>
            <a:r>
              <a:rPr lang="de-DE" sz="1600" dirty="0"/>
              <a:t>​ a) a 11 = 3 ;    a 23 = 4 ;    a 14 = 1 ;    a 21 = − 1 und sonst u ¨ berall Nullen b) a i j = i − j \text{a) } a_{11}=3;\; a_{23}=4;\; a_{14}=1;\; a_{21}=-1 \text{ und sonst überall Nullen}</a:t>
            </a:r>
          </a:p>
          <a:p>
            <a:pPr/>
            <a:r>
              <a:rPr lang="de-DE" sz="1600" dirty="0"/>
              <a:t>\qquad</a:t>
            </a:r>
          </a:p>
          <a:p>
            <a:pPr/>
            <a:r>
              <a:rPr lang="de-DE" sz="1600" dirty="0"/>
              <a:t>\text{b) } a_{ij}=i-j ​</a:t>
            </a:r>
          </a:p>
          <a:p>
            <a:pPr/>
            <a:r>
              <a:rPr lang="de-DE" sz="1600" dirty="0"/>
              <a:t> </a:t>
            </a:r>
          </a:p>
          <a:p>
            <a:pPr/>
            <a:r>
              <a:rPr lang="de-DE" sz="1600" dirty="0"/>
              <a:t> Aufgabe 2: Berechne .</a:t>
            </a:r>
          </a:p>
          <a:p>
            <a:pPr/>
            <a:r>
              <a:rPr lang="de-DE" sz="1600" dirty="0"/>
              <a:t> </a:t>
            </a:r>
          </a:p>
          <a:p>
            <a:pPr/>
            <a:r>
              <a:rPr lang="de-DE" sz="1600" dirty="0"/>
              <a:t> ​ a)    ( 1 2 3 4 5 6 ) ⋅ ( 7 8 9 ) b)    ( 1 1 0 1 1 2 0 0 7 ) ⋅ ( 0 8 15 ) \text{a) }\;</a:t>
            </a:r>
          </a:p>
          <a:p>
            <a:pPr/>
            <a:r>
              <a:rPr lang="de-DE" sz="1600" dirty="0"/>
              <a:t>\begin{pmatrix}</a:t>
            </a:r>
          </a:p>
          <a:p>
            <a:pPr/>
            <a:r>
              <a:rPr lang="de-DE" sz="1600" dirty="0"/>
              <a:t>1 &amp; 2 &amp; 3\\</a:t>
            </a:r>
          </a:p>
          <a:p>
            <a:pPr/>
            <a:r>
              <a:rPr lang="de-DE" sz="1600" dirty="0"/>
              <a:t>4 &amp; 5 &amp; 6</a:t>
            </a:r>
          </a:p>
          <a:p>
            <a:pPr/>
            <a:r>
              <a:rPr lang="de-DE" sz="1600" dirty="0"/>
              <a:t>\end{pmatrix}</a:t>
            </a:r>
          </a:p>
          <a:p>
            <a:pPr/>
            <a:r>
              <a:rPr lang="de-DE" sz="1600" dirty="0"/>
              <a:t>\cdot</a:t>
            </a:r>
          </a:p>
          <a:p>
            <a:pPr/>
            <a:r>
              <a:rPr lang="de-DE" sz="1600" dirty="0"/>
              <a:t>\begin{pmatrix}</a:t>
            </a:r>
          </a:p>
          <a:p>
            <a:pPr/>
            <a:r>
              <a:rPr lang="de-DE" sz="1600" dirty="0"/>
              <a:t>7\\</a:t>
            </a:r>
          </a:p>
          <a:p>
            <a:pPr/>
            <a:r>
              <a:rPr lang="de-DE" sz="1600" dirty="0"/>
              <a:t>8\\</a:t>
            </a:r>
          </a:p>
          <a:p>
            <a:pPr/>
            <a:r>
              <a:rPr lang="de-DE" sz="1600" dirty="0"/>
              <a:t>9</a:t>
            </a:r>
          </a:p>
          <a:p>
            <a:pPr/>
            <a:r>
              <a:rPr lang="de-DE" sz="1600" dirty="0"/>
              <a:t>\end{pmatrix}</a:t>
            </a:r>
          </a:p>
          <a:p>
            <a:pPr/>
            <a:r>
              <a:rPr lang="de-DE" sz="1600" dirty="0"/>
              <a:t>\qquad</a:t>
            </a:r>
          </a:p>
          <a:p>
            <a:pPr/>
            <a:r>
              <a:rPr lang="de-DE" sz="1600" dirty="0"/>
              <a:t>\text{b) }\;</a:t>
            </a:r>
          </a:p>
          <a:p>
            <a:pPr/>
            <a:r>
              <a:rPr lang="de-DE" sz="1600" dirty="0"/>
              <a:t>\begin{pmatrix}</a:t>
            </a:r>
          </a:p>
          <a:p>
            <a:pPr/>
            <a:r>
              <a:rPr lang="de-DE" sz="1600" dirty="0"/>
              <a:t>1 &amp; 1 &amp; 0\\</a:t>
            </a:r>
          </a:p>
          <a:p>
            <a:pPr/>
            <a:r>
              <a:rPr lang="de-DE" sz="1600" dirty="0"/>
              <a:t>1 &amp; 1 &amp; 2\\</a:t>
            </a:r>
          </a:p>
          <a:p>
            <a:pPr/>
            <a:r>
              <a:rPr lang="de-DE" sz="1600" dirty="0"/>
              <a:t>0 &amp; 0 &amp; 7</a:t>
            </a:r>
          </a:p>
          <a:p>
            <a:pPr/>
            <a:r>
              <a:rPr lang="de-DE" sz="1600" dirty="0"/>
              <a:t>\end{pmatrix}</a:t>
            </a:r>
          </a:p>
          <a:p>
            <a:pPr/>
            <a:r>
              <a:rPr lang="de-DE" sz="1600" dirty="0"/>
              <a:t>\cdot</a:t>
            </a:r>
          </a:p>
          <a:p>
            <a:pPr/>
            <a:r>
              <a:rPr lang="de-DE" sz="1600" dirty="0"/>
              <a:t>\begin{pmatrix}</a:t>
            </a:r>
          </a:p>
          <a:p>
            <a:pPr/>
            <a:r>
              <a:rPr lang="de-DE" sz="1600" dirty="0"/>
              <a:t>0\\</a:t>
            </a:r>
          </a:p>
          <a:p>
            <a:pPr/>
            <a:r>
              <a:rPr lang="de-DE" sz="1600" dirty="0"/>
              <a:t>8\\</a:t>
            </a:r>
          </a:p>
          <a:p>
            <a:pPr/>
            <a:r>
              <a:rPr lang="de-DE" sz="1600" dirty="0"/>
              <a:t>15</a:t>
            </a:r>
          </a:p>
          <a:p>
            <a:pPr/>
            <a:r>
              <a:rPr lang="de-DE" sz="1600" dirty="0"/>
              <a:t>\end{pmatrix} c)    ( 4 7 1 1 ) ⋅ ( 4 2 ) d)    ( − 1 1 ) ⋅ ( 0,5 − 0,5 ) \text{c) }\;</a:t>
            </a:r>
          </a:p>
          <a:p>
            <a:pPr/>
            <a:r>
              <a:rPr lang="de-DE" sz="1600" dirty="0"/>
              <a:t>\begin{pmatrix}</a:t>
            </a:r>
          </a:p>
          <a:p>
            <a:pPr/>
            <a:r>
              <a:rPr lang="de-DE" sz="1600" dirty="0"/>
              <a:t>4 &amp; 7\\</a:t>
            </a:r>
          </a:p>
          <a:p>
            <a:pPr/>
            <a:r>
              <a:rPr lang="de-DE" sz="1600" dirty="0"/>
              <a:t>1 &amp; 1</a:t>
            </a:r>
          </a:p>
          <a:p>
            <a:pPr/>
            <a:r>
              <a:rPr lang="de-DE" sz="1600" dirty="0"/>
              <a:t>\end{pmatrix}</a:t>
            </a:r>
          </a:p>
          <a:p>
            <a:pPr/>
            <a:r>
              <a:rPr lang="de-DE" sz="1600" dirty="0"/>
              <a:t>\cdot</a:t>
            </a:r>
          </a:p>
          <a:p>
            <a:pPr/>
            <a:r>
              <a:rPr lang="de-DE" sz="1600" dirty="0"/>
              <a:t>\begin{pmatrix}</a:t>
            </a:r>
          </a:p>
          <a:p>
            <a:pPr/>
            <a:r>
              <a:rPr lang="de-DE" sz="1600" dirty="0"/>
              <a:t>4\\</a:t>
            </a:r>
          </a:p>
          <a:p>
            <a:pPr/>
            <a:r>
              <a:rPr lang="de-DE" sz="1600" dirty="0"/>
              <a:t>2</a:t>
            </a:r>
          </a:p>
          <a:p>
            <a:pPr/>
            <a:r>
              <a:rPr lang="de-DE" sz="1600" dirty="0"/>
              <a:t>\end{pmatrix}</a:t>
            </a:r>
          </a:p>
          <a:p>
            <a:pPr/>
            <a:r>
              <a:rPr lang="de-DE" sz="1600" dirty="0"/>
              <a:t>\qquad</a:t>
            </a:r>
          </a:p>
          <a:p>
            <a:pPr/>
            <a:r>
              <a:rPr lang="de-DE" sz="1600" dirty="0"/>
              <a:t>\text{d) }\;</a:t>
            </a:r>
          </a:p>
          <a:p>
            <a:pPr/>
            <a:r>
              <a:rPr lang="de-DE" sz="1600" dirty="0"/>
              <a:t>\begin{pmatrix}</a:t>
            </a:r>
          </a:p>
          <a:p>
            <a:pPr/>
            <a:r>
              <a:rPr lang="de-DE" sz="1600" dirty="0"/>
              <a:t>-1 &amp; 1</a:t>
            </a:r>
          </a:p>
          <a:p>
            <a:pPr/>
            <a:r>
              <a:rPr lang="de-DE" sz="1600" dirty="0"/>
              <a:t>\end{pmatrix}</a:t>
            </a:r>
          </a:p>
          <a:p>
            <a:pPr/>
            <a:r>
              <a:rPr lang="de-DE" sz="1600" dirty="0"/>
              <a:t>\cdot</a:t>
            </a:r>
          </a:p>
          <a:p>
            <a:pPr/>
            <a:r>
              <a:rPr lang="de-DE" sz="1600" dirty="0"/>
              <a:t>\begin{pmatrix}</a:t>
            </a:r>
          </a:p>
          <a:p>
            <a:pPr/>
            <a:r>
              <a:rPr lang="de-DE" sz="1600" dirty="0"/>
              <a:t>0{,}5\\</a:t>
            </a:r>
          </a:p>
          <a:p>
            <a:pPr/>
            <a:r>
              <a:rPr lang="de-DE" sz="1600" dirty="0"/>
              <a:t>-0{,}5</a:t>
            </a:r>
          </a:p>
          <a:p>
            <a:pPr/>
            <a:r>
              <a:rPr lang="de-DE" sz="1600" dirty="0"/>
              <a:t>\end{pmatrix} ​ ​</a:t>
            </a:r>
          </a:p>
          <a:p>
            <a:pPr/>
            <a:r>
              <a:rPr lang="de-DE" sz="1600" dirty="0"/>
              <a:t> </a:t>
            </a:r>
          </a:p>
          <a:p>
            <a:pPr/>
            <a:r>
              <a:rPr lang="de-DE" sz="1600" dirty="0"/>
              <a:t> Aufgabe 3: Zeichne zu der Übergangsmatrix das</a:t>
            </a:r>
          </a:p>
          <a:p>
            <a:pPr/>
            <a:r>
              <a:rPr lang="de-DE" sz="1600" dirty="0"/>
              <a:t>passende Übergangsdiagramm:</a:t>
            </a:r>
          </a:p>
          <a:p>
            <a:pPr/>
            <a:r>
              <a:rPr lang="de-DE" sz="1600" dirty="0"/>
              <a:t> ​ ​</a:t>
            </a:r>
          </a:p>
          <a:p>
            <a:pPr/>
            <a:r>
              <a:rPr lang="de-DE" sz="1600" dirty="0"/>
              <a:t> </a:t>
            </a:r>
          </a:p>
          <a:p>
            <a:pPr/>
            <a:r>
              <a:rPr lang="de-DE" sz="1600" dirty="0"/>
              <a:t> Aufgabe 4: In einem Land</a:t>
            </a:r>
          </a:p>
          <a:p>
            <a:pPr/>
            <a:r>
              <a:rPr lang="de-DE" sz="1600" dirty="0"/>
              <a:t>leben 12 Millionen Männer (M), 14 Millionen Frauen (F) und 8 Millionen Kinder</a:t>
            </a:r>
          </a:p>
          <a:p>
            <a:pPr/>
            <a:r>
              <a:rPr lang="de-DE" sz="1600" dirty="0"/>
              <a:t>und Jugendliche (K). Im Zeitraum von einem Jahr erreichen jeweils 3% der männlichen</a:t>
            </a:r>
          </a:p>
          <a:p>
            <a:pPr/>
            <a:r>
              <a:rPr lang="de-DE" sz="1600" dirty="0"/>
              <a:t>und weiblichen Jugendlichen das Erwachsenenalter. Im Durchschnitt bekommen 25%</a:t>
            </a:r>
          </a:p>
          <a:p>
            <a:pPr/>
            <a:r>
              <a:rPr lang="de-DE" sz="1600" dirty="0"/>
              <a:t>der Frauen in diesem Jahr ein Kind. Die Sterblichkeit beträgt bei den Männern</a:t>
            </a:r>
          </a:p>
          <a:p>
            <a:pPr/>
            <a:r>
              <a:rPr lang="de-DE" sz="1600" dirty="0"/>
              <a:t>15% und bei den Frauen 10%.</a:t>
            </a:r>
          </a:p>
          <a:p>
            <a:pPr/>
            <a:r>
              <a:rPr lang="de-DE" sz="1600" dirty="0"/>
              <a:t> </a:t>
            </a:r>
          </a:p>
          <a:p>
            <a:pPr/>
            <a:r>
              <a:rPr lang="de-DE" sz="1600" dirty="0"/>
              <a:t> • Stelle die Bevölkerungsentwicklung in einem</a:t>
            </a:r>
          </a:p>
          <a:p>
            <a:pPr/>
            <a:r>
              <a:rPr lang="de-DE" sz="1600" dirty="0"/>
              <a:t>Jahr in einem geeigneten Übergangsdiagramm dar .</a:t>
            </a:r>
          </a:p>
          <a:p>
            <a:pPr/>
            <a:r>
              <a:rPr lang="de-DE" sz="1600" dirty="0"/>
              <a:t>• Beschreibe den Prozess durch eine passende Übergangsmatrix.</a:t>
            </a:r>
          </a:p>
          <a:p>
            <a:pPr/>
            <a:r>
              <a:rPr lang="de-DE" sz="1600" dirty="0"/>
              <a:t>• Berechne zu den gegebenen Anfangswerten die</a:t>
            </a:r>
          </a:p>
          <a:p>
            <a:pPr/>
            <a:r>
              <a:rPr lang="de-DE" sz="1600" dirty="0"/>
              <a:t>Entwicklung der Population in den nächsten beiden Jahren. Nutzen Sie die</a:t>
            </a:r>
          </a:p>
          <a:p>
            <a:pPr/>
            <a:r>
              <a:rPr lang="de-DE" sz="1600" dirty="0"/>
              <a:t>Matrix-Vektor-Multiplikation.</a:t>
            </a:r>
          </a:p>
          <a:p>
            <a:pPr/>
            <a:r>
              <a:rPr lang="de-DE" sz="1600" dirty="0"/>
              <a:t> </a:t>
            </a:r>
          </a:p>
          <a:p>
            <a:pPr/>
            <a:r>
              <a:rPr lang="de-DE" sz="1600" dirty="0"/>
              <a:t>Notizen:</a:t>
            </a:r>
          </a:p>
          <a:p>
            <a:pPr/>
            <a:r>
              <a:rPr lang="de-DE" sz="1600" dirty="0"/>
              <a:t>Beispiellösung:</a:t>
            </a:r>
          </a:p>
          <a:p>
            <a:pPr/>
            <a:r>
              <a:rPr lang="de-DE" sz="1600" dirty="0"/>
              <a:t> Aufgabe 1</a:t>
            </a:r>
          </a:p>
          <a:p>
            <a:pPr/>
            <a:r>
              <a:rPr lang="de-DE" sz="1600" dirty="0"/>
              <a:t> A = ( 3 0 0 1 − 1 0 4 0 0 0 0 0 0 0 0 0 ) A= \begin{pmatrix} 3&amp;0&amp;0&amp;1\\ -1&amp;0&amp;4&amp;0\\ 0&amp;0&amp;0&amp;0\\ 0&amp;0&amp;0&amp;0 \end{pmatrix}</a:t>
            </a:r>
          </a:p>
          <a:p>
            <a:pPr/>
            <a:r>
              <a:rPr lang="de-DE" sz="1600" dirty="0"/>
              <a:t> </a:t>
            </a:r>
          </a:p>
          <a:p>
            <a:pPr/>
            <a:r>
              <a:rPr lang="de-DE" sz="1600" dirty="0"/>
              <a:t>Mit a i j = i − j :</a:t>
            </a:r>
          </a:p>
          <a:p>
            <a:pPr/>
            <a:r>
              <a:rPr lang="de-DE" sz="1600" dirty="0"/>
              <a:t> A = ( 0 − 1 − 2 − 3 1 0 − 1 − 2 2 1 0 − 1 3 2 1 0 ) A= \begin{pmatrix} 0&amp;-1&amp;-2&amp;-3\\ 1&amp;0&amp;-1&amp;-2\\ 2&amp;1&amp;0&amp;-1\\ 3&amp;2&amp;1&amp;0 \end{pmatrix}</a:t>
            </a:r>
          </a:p>
          <a:p>
            <a:pPr/>
            <a:r>
              <a:rPr lang="de-DE" sz="1600" dirty="0"/>
              <a:t> </a:t>
            </a:r>
          </a:p>
          <a:p>
            <a:pPr/>
            <a:r>
              <a:rPr lang="de-DE" sz="1600" dirty="0"/>
              <a:t> Aufgabe 2</a:t>
            </a:r>
          </a:p>
          <a:p>
            <a:pPr/>
            <a:r>
              <a:rPr lang="de-DE" sz="1600" dirty="0"/>
              <a:t> •</a:t>
            </a:r>
          </a:p>
          <a:p>
            <a:pPr/>
            <a:r>
              <a:rPr lang="de-DE" sz="1600" dirty="0"/>
              <a:t> </a:t>
            </a:r>
          </a:p>
          <a:p>
            <a:pPr/>
            <a:r>
              <a:rPr lang="de-DE" sz="1600" dirty="0"/>
              <a:t> ( 1 2 3 4 5 6 ) ( 7 8 9 ) = ( 50 122 ) \begin{pmatrix} 1&amp;2&amp;3\\ 4&amp;5&amp;6 \end{pmatrix} \begin{pmatrix} 7\\8\\9 \end{pmatrix} = \begin{pmatrix} 50\\122 \end{pmatrix}</a:t>
            </a:r>
          </a:p>
          <a:p>
            <a:pPr/>
            <a:r>
              <a:rPr lang="de-DE" sz="1600" dirty="0"/>
              <a:t> •</a:t>
            </a:r>
          </a:p>
          <a:p>
            <a:pPr/>
            <a:r>
              <a:rPr lang="de-DE" sz="1600" dirty="0"/>
              <a:t> </a:t>
            </a:r>
          </a:p>
          <a:p>
            <a:pPr/>
            <a:r>
              <a:rPr lang="de-DE" sz="1600" dirty="0"/>
              <a:t> ( 1 1 0 1 1 2 0 0 7 ) ( 0 8 15 ) = ( 8 38 105 ) \begin{pmatrix} 1&amp;1&amp;0\\ 1&amp;1&amp;2\\ 0&amp;0&amp;7 \end{pmatrix} \begin{pmatrix} 0\\8\\15 \end{pmatrix} = \begin{pmatrix} 8\\38\\105 \end{pmatrix}</a:t>
            </a:r>
          </a:p>
          <a:p>
            <a:pPr/>
            <a:r>
              <a:rPr lang="de-DE" sz="1600" dirty="0"/>
              <a:t> •</a:t>
            </a:r>
          </a:p>
          <a:p>
            <a:pPr/>
            <a:r>
              <a:rPr lang="de-DE" sz="1600" dirty="0"/>
              <a:t> </a:t>
            </a:r>
          </a:p>
          <a:p>
            <a:pPr/>
            <a:r>
              <a:rPr lang="de-DE" sz="1600" dirty="0"/>
              <a:t> ( 4 7 1 1 ) ( 4 2 ) = ( 30 6 ) \begin{pmatrix} 4&amp;7\\ 1&amp;1 \end{pmatrix} \begin{pmatrix} 4\\2 \end{pmatrix} = \begin{pmatrix} 30\\6 \end{pmatrix}</a:t>
            </a:r>
          </a:p>
          <a:p>
            <a:pPr/>
            <a:r>
              <a:rPr lang="de-DE" sz="1600" dirty="0"/>
              <a:t> •</a:t>
            </a:r>
          </a:p>
          <a:p>
            <a:pPr/>
            <a:r>
              <a:rPr lang="de-DE" sz="1600" dirty="0"/>
              <a:t> </a:t>
            </a:r>
          </a:p>
          <a:p>
            <a:pPr/>
            <a:r>
              <a:rPr lang="de-DE" sz="1600" dirty="0"/>
              <a:t> ( − 1 1 ) ( 0,5 − 0,5 ) = − 1 \begin{pmatrix}-1&amp;1\end{pmatrix} \begin{pmatrix} 0{,}5\\-0{,}5 \end{pmatrix} =-1</a:t>
            </a:r>
          </a:p>
          <a:p>
            <a:pPr/>
            <a:r>
              <a:rPr lang="de-DE" sz="1600" dirty="0"/>
              <a:t> Aufgabe 3</a:t>
            </a:r>
          </a:p>
          <a:p>
            <a:pPr/>
            <a:r>
              <a:rPr lang="de-DE" sz="1600" dirty="0"/>
              <a:t> Die Spalten geben den Ausgangszustand, die Zeilen den Zielzustand an.</a:t>
            </a:r>
          </a:p>
          <a:p>
            <a:pPr/>
            <a:r>
              <a:rPr lang="de-DE" sz="1600" dirty="0"/>
              <a:t> a)</a:t>
            </a:r>
          </a:p>
          <a:p>
            <a:pPr/>
            <a:r>
              <a:rPr lang="de-DE" sz="1600" dirty="0"/>
              <a:t> M → Q : 1 M\rightarrow Q:1</a:t>
            </a:r>
          </a:p>
          <a:p>
            <a:pPr/>
            <a:r>
              <a:rPr lang="de-DE" sz="1600" dirty="0"/>
              <a:t> Q → M : 1 Q\rightarrow M:1</a:t>
            </a:r>
          </a:p>
          <a:p>
            <a:pPr/>
            <a:r>
              <a:rPr lang="de-DE" sz="1600" dirty="0"/>
              <a:t> b)</a:t>
            </a:r>
          </a:p>
          <a:p>
            <a:pPr/>
            <a:r>
              <a:rPr lang="de-DE" sz="1600" dirty="0"/>
              <a:t> C → C : 0,6 C\rightarrow C:0{,}6</a:t>
            </a:r>
          </a:p>
          <a:p>
            <a:pPr/>
            <a:r>
              <a:rPr lang="de-DE" sz="1600" dirty="0"/>
              <a:t> C → D : 0,1 C\rightarrow D:0{,}1</a:t>
            </a:r>
          </a:p>
          <a:p>
            <a:pPr/>
            <a:r>
              <a:rPr lang="de-DE" sz="1600" dirty="0"/>
              <a:t> D → C : 0,3 D\rightarrow C:0{,}3</a:t>
            </a:r>
          </a:p>
          <a:p>
            <a:pPr/>
            <a:r>
              <a:rPr lang="de-DE" sz="1600" dirty="0"/>
              <a:t> D → D : 0,7 D\rightarrow D:0{,}7</a:t>
            </a:r>
          </a:p>
          <a:p>
            <a:pPr/>
            <a:r>
              <a:rPr lang="de-DE" sz="1600" dirty="0"/>
              <a:t> c)</a:t>
            </a:r>
          </a:p>
          <a:p>
            <a:pPr/>
            <a:r>
              <a:rPr lang="de-DE" sz="1600" dirty="0"/>
              <a:t> R → R : 0,5 R\rightarrow R:0{,}5</a:t>
            </a:r>
          </a:p>
          <a:p>
            <a:pPr/>
            <a:r>
              <a:rPr lang="de-DE" sz="1600" dirty="0"/>
              <a:t> R → Z : 0,2 R\rightarrow Z:0{,}2</a:t>
            </a:r>
          </a:p>
          <a:p>
            <a:pPr/>
            <a:r>
              <a:rPr lang="de-DE" sz="1600" dirty="0"/>
              <a:t> R → E : 0,3 R\rightarrow E:0{,}3</a:t>
            </a:r>
          </a:p>
          <a:p>
            <a:pPr/>
            <a:r>
              <a:rPr lang="de-DE" sz="1600" dirty="0"/>
              <a:t> Z → R : 0,2 Z\rightarrow R:0{,}2</a:t>
            </a:r>
          </a:p>
          <a:p>
            <a:pPr/>
            <a:r>
              <a:rPr lang="de-DE" sz="1600" dirty="0"/>
              <a:t> Z → Z : 0,8 Z\rightarrow Z:0{,}8</a:t>
            </a:r>
          </a:p>
          <a:p>
            <a:pPr/>
            <a:r>
              <a:rPr lang="de-DE" sz="1600" dirty="0"/>
              <a:t> E → R : 0,1 E\rightarrow R:0{,}1</a:t>
            </a:r>
          </a:p>
          <a:p>
            <a:pPr/>
            <a:r>
              <a:rPr lang="de-DE" sz="1600" dirty="0"/>
              <a:t> E → Z : 0,6 E\rightarrow Z:0{,}6</a:t>
            </a:r>
          </a:p>
          <a:p>
            <a:pPr/>
            <a:r>
              <a:rPr lang="de-DE" sz="1600" dirty="0"/>
              <a:t> E → E : 0,3 E\rightarrow E:0{,}3</a:t>
            </a:r>
          </a:p>
          <a:p>
            <a:pPr/>
            <a:r>
              <a:rPr lang="de-DE" sz="1600" dirty="0"/>
              <a:t> Aufgabe 4</a:t>
            </a:r>
          </a:p>
          <a:p>
            <a:pPr/>
            <a:r>
              <a:rPr lang="de-DE" sz="1600" dirty="0"/>
              <a:t> Ausgangsvektor in Millionen:</a:t>
            </a:r>
          </a:p>
          <a:p>
            <a:pPr/>
            <a:r>
              <a:rPr lang="de-DE" sz="1600" dirty="0"/>
              <a:t> v ⃗ 0 = ( 12 14 8 ) \vec v_0= \begin{pmatrix} 12\\14\\8 \end{pmatrix}</a:t>
            </a:r>
          </a:p>
          <a:p>
            <a:pPr/>
            <a:r>
              <a:rPr lang="de-DE" sz="1600" dirty="0"/>
              <a:t> Die Aufgabe gibt 15 % Sterblichkeit bei Männern, 10 % bei Frauen, jeweils 3 % Übergang der Jugendlichen zu Männern beziehungsweise Frauen sowie Geburte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Übung zur Beschreibung von Übergängen bei Insektenpopulationen</a:t>
            </a:r>
          </a:p>
        </p:txBody>
      </p:sp>
      <p:sp>
        <p:nvSpPr>
          <p:cNvPr id="3" name="Text"/>
          <p:cNvSpPr txBox="1"/>
          <p:nvPr/>
        </p:nvSpPr>
        <p:spPr>
          <a:xfrm>
            <a:off x="457200" y="1600200"/>
            <a:ext cx="8229600" cy="4800600"/>
          </a:xfrm>
          <a:prstGeom prst="rect">
            <a:avLst/>
          </a:prstGeom>
        </p:spPr>
        <p:txBody>
          <a:bodyPr wrap="square" rtlCol="0"/>
          <a:lstStyle/>
          <a:p>
            <a:r>
              <a:rPr lang="de-DE" sz="1600" dirty="0"/>
              <a:t>Im Bild ist ein Übergangsdiagramm für die Entwicklung einer Insektenart zu sehen. Gib diesen Übergang in den vier unten aufgelisteten Darstellungen an . Zu Beginn wurden 1000 Weibchen, 1000 Männchen und 0 Larven gezählt.</a:t>
            </a:r>
          </a:p>
          <a:p>
            <a:pPr/>
            <a:r>
              <a:rPr lang="de-DE" sz="1600" dirty="0"/>
              <a:t> </a:t>
            </a:r>
          </a:p>
          <a:p>
            <a:pPr/>
            <a:r>
              <a:rPr lang="de-DE" sz="1600" dirty="0"/>
              <a:t> Bonus: Stellt sich hier auch ein „stabiler Zustand“ nach einiger Zeit ein? Begründe .</a:t>
            </a:r>
          </a:p>
          <a:p>
            <a:pPr/>
            <a:r>
              <a:rPr lang="de-DE" sz="1600" dirty="0"/>
              <a:t> </a:t>
            </a:r>
          </a:p>
          <a:p>
            <a:pPr/>
            <a:r>
              <a:rPr lang="de-DE" sz="1600" dirty="0"/>
              <a:t>Notizen:</a:t>
            </a:r>
          </a:p>
          <a:p>
            <a:pPr/>
            <a:r>
              <a:rPr lang="de-DE" sz="1600" dirty="0"/>
              <a:t>Beispiellösung:</a:t>
            </a:r>
          </a:p>
          <a:p>
            <a:pPr/>
            <a:r>
              <a:rPr lang="de-DE" sz="1600" dirty="0"/>
              <a:t> Übergangstabelle</a:t>
            </a:r>
          </a:p>
          <a:p>
            <a:pPr/>
            <a:r>
              <a:rPr lang="de-DE" sz="1600" dirty="0"/>
              <a:t> </a:t>
            </a:r>
          </a:p>
          <a:p>
            <a:pPr/>
            <a:r>
              <a:rPr lang="de-DE" sz="1600" dirty="0"/>
              <a:t> nach ↓ / von → W M L W 0,6 0 0,4 M 0 0,4 0,4 L 8 0 0</a:t>
            </a:r>
          </a:p>
          <a:p>
            <a:pPr/>
            <a:r>
              <a:rPr lang="de-DE" sz="1600" dirty="0"/>
              <a:t> • Übergangsmatrix</a:t>
            </a:r>
          </a:p>
          <a:p>
            <a:pPr/>
            <a:r>
              <a:rPr lang="de-DE" sz="1600" dirty="0"/>
              <a:t> A = ( 0,6 0 0,4 0 0,4 0,4 8 0 0 ) A= \begin{pmatrix} 0{,}6 &amp; 0 &amp; 0{,}4\\ 0 &amp; 0{,}4 &amp; 0{,}4\\ 8 &amp; 0 &amp; 0 \end{pmatrix}</a:t>
            </a:r>
          </a:p>
          <a:p>
            <a:pPr/>
            <a:r>
              <a:rPr lang="de-DE" sz="1600" dirty="0"/>
              <a:t> mit der Reihenfolge</a:t>
            </a:r>
          </a:p>
          <a:p>
            <a:pPr/>
            <a:r>
              <a:rPr lang="de-DE" sz="1600" dirty="0"/>
              <a:t> ( W M L ) . \begin{pmatrix} W\\M\\L \end{pmatrix}.</a:t>
            </a:r>
          </a:p>
          <a:p>
            <a:pPr/>
            <a:r>
              <a:rPr lang="de-DE" sz="1600" dirty="0"/>
              <a:t> • Absolute Werte</a:t>
            </a:r>
          </a:p>
          <a:p>
            <a:pPr/>
            <a:r>
              <a:rPr lang="de-DE" sz="1600" dirty="0"/>
              <a:t> Ausgangszustand:</a:t>
            </a:r>
          </a:p>
          <a:p>
            <a:pPr/>
            <a:r>
              <a:rPr lang="de-DE" sz="1600" dirty="0"/>
              <a:t> v ⃗ 0 = ( 1000 1000 0 ) \vec v_0= \begin{pmatrix} 1000\\ 1000\\ 0 \end{pmatrix}</a:t>
            </a:r>
          </a:p>
          <a:p>
            <a:pPr/>
            <a:r>
              <a:rPr lang="de-DE" sz="1600" dirty="0"/>
              <a:t> Nach einem Monat:</a:t>
            </a:r>
          </a:p>
          <a:p>
            <a:pPr/>
            <a:r>
              <a:rPr lang="de-DE" sz="1600" dirty="0"/>
              <a:t> v ⃗ 1 = A v ⃗ 0 = ( 600 400 8000 ) \vec v_1=A\vec v_0 = \begin{pmatrix} 600\\ 400\\ 8000 \end{pmatrix}</a:t>
            </a:r>
          </a:p>
          <a:p>
            <a:pPr/>
            <a:r>
              <a:rPr lang="de-DE" sz="1600" dirty="0"/>
              <a:t> Nach zwei Monaten:</a:t>
            </a:r>
          </a:p>
          <a:p>
            <a:pPr/>
            <a:r>
              <a:rPr lang="de-DE" sz="1600" dirty="0"/>
              <a:t> v ⃗ 2 = A v ⃗ 1 = ( 3560 3360 4800 ) \vec v_2=A\vec v_1 = \begin{pmatrix} 3560\\ 3360\\ 4800 \end{pmatrix}</a:t>
            </a:r>
          </a:p>
          <a:p>
            <a:pPr/>
            <a:r>
              <a:rPr lang="de-DE" sz="1600" dirty="0"/>
              <a:t> Zustand W M L 0 1000 1000 0 1 600 400 8000 2 3560 3360 4800 • Übergangsgleichungen</a:t>
            </a:r>
          </a:p>
          <a:p>
            <a:pPr/>
            <a:r>
              <a:rPr lang="de-DE" sz="1600" dirty="0"/>
              <a:t> w n + 1 = 0,6 w n + 0,4 l n w_{n+1}=0{,}6w_n+0{,}4l_n m n + 1 = 0,4 m n + 0,4 l n m_{n+1}=0{,}4m_n+0{,}4l_n l n + 1 = 8 w n l_{n+1}=8w_n</a:t>
            </a:r>
          </a:p>
          <a:p>
            <a:pPr/>
            <a:r>
              <a:rPr lang="de-DE" sz="1600" dirty="0"/>
              <a:t> </a:t>
            </a:r>
          </a:p>
          <a:p>
            <a:pPr/>
            <a:r>
              <a:rPr lang="de-DE" sz="1600" dirty="0"/>
              <a:t> Bonus: Stabiler Zustand?</a:t>
            </a:r>
          </a:p>
          <a:p>
            <a:pPr/>
            <a:r>
              <a:rPr lang="de-DE" sz="1600" dirty="0"/>
              <a:t> Nein, es stellt sich kein stabiler Zustand mit konstanten Populationszahlen ein.</a:t>
            </a:r>
          </a:p>
          <a:p>
            <a:pPr/>
            <a:r>
              <a:rPr lang="de-DE" sz="1600" dirty="0"/>
              <a:t> Für einen Fixvektor müsste gelten</a:t>
            </a:r>
          </a:p>
          <a:p>
            <a:pPr/>
            <a:r>
              <a:rPr lang="de-DE" sz="1600" dirty="0"/>
              <a:t> A v ⃗ = v ⃗ . A\vec v=\vec v.</a:t>
            </a:r>
          </a:p>
          <a:p>
            <a:pPr/>
            <a:r>
              <a:rPr lang="de-DE" sz="1600" dirty="0"/>
              <a:t> Dann müsste insbesondere</a:t>
            </a:r>
          </a:p>
          <a:p>
            <a:pPr/>
            <a:r>
              <a:rPr lang="de-DE" sz="1600" dirty="0"/>
              <a:t> w = 0,6 w + 0,4 l ⇒ w = l w=0{,}6w+0{,}4l \quad\Rightarrow\quad w=l</a:t>
            </a:r>
          </a:p>
          <a:p>
            <a:pPr/>
            <a:r>
              <a:rPr lang="de-DE" sz="1600" dirty="0"/>
              <a:t> und gleichzeitig</a:t>
            </a:r>
          </a:p>
          <a:p>
            <a:pPr/>
            <a:r>
              <a:rPr lang="de-DE" sz="1600" dirty="0"/>
              <a:t> l = 8 w l=8w</a:t>
            </a:r>
          </a:p>
          <a:p>
            <a:pPr/>
            <a:r>
              <a:rPr lang="de-DE" sz="1600" dirty="0"/>
              <a:t> gelten. Beides ist nur für</a:t>
            </a:r>
          </a:p>
          <a:p>
            <a:pPr/>
            <a:r>
              <a:rPr lang="de-DE" sz="1600" dirty="0"/>
              <a:t> w = l = 0 w=l=0</a:t>
            </a:r>
          </a:p>
          <a:p>
            <a:pPr/>
            <a:r>
              <a:rPr lang="de-DE" sz="1600" dirty="0"/>
              <a:t> möglich. Damit folgt auch m = 0 m=0 .</a:t>
            </a:r>
          </a:p>
          <a:p>
            <a:pPr/>
            <a:r>
              <a:rPr lang="de-DE" sz="1600" dirty="0"/>
              <a:t> Der einzige Fixvektor ist also der Nullvektor. Die vorhandene Insektenpopulation entwickelt sich daher nicht zu einem konstanten Zustand.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Übergangsprozesse in der Autowaschanlage</a:t>
            </a:r>
          </a:p>
        </p:txBody>
      </p:sp>
      <p:sp>
        <p:nvSpPr>
          <p:cNvPr id="3" name="Text"/>
          <p:cNvSpPr txBox="1"/>
          <p:nvPr/>
        </p:nvSpPr>
        <p:spPr>
          <a:xfrm>
            <a:off x="457200" y="1600200"/>
            <a:ext cx="8229600" cy="4800600"/>
          </a:xfrm>
          <a:prstGeom prst="rect">
            <a:avLst/>
          </a:prstGeom>
        </p:spPr>
        <p:txBody>
          <a:bodyPr wrap="square" rtlCol="0"/>
          <a:lstStyle/>
          <a:p>
            <a:r>
              <a:rPr lang="de-DE" sz="1600" dirty="0"/>
              <a:t>Die drei Autowaschanlagen A, B und C haben das Wechselverhalten ihrer Kunden untersucht. Die Kunden von A verteilen sich bei der nächsten Autowäsche im Verhältnis 2 : 1 : 1 auf die drei Autowaschanlagen. Die Kunden von B wechseln das nächste Mal zu 25 % zu A und zu 25 % zu C. 80 % der Kunden von C sind der Anlage treu, der Rest wechselt zu A. Jeder Kunde wäscht sein Auto genau einmal pro Woche.</a:t>
            </a:r>
          </a:p>
          <a:p>
            <a:pPr/>
            <a:r>
              <a:rPr lang="de-DE" sz="1600" dirty="0"/>
              <a:t> </a:t>
            </a:r>
          </a:p>
          <a:p>
            <a:pPr/>
            <a:r>
              <a:rPr lang="de-DE" sz="1600" dirty="0"/>
              <a:t>• Zeichne ein Übergangsdiagramm und gib die Übergangsmatrix für den Prozess an.</a:t>
            </a:r>
          </a:p>
          <a:p>
            <a:pPr/>
            <a:r>
              <a:rPr lang="de-DE" sz="1600" dirty="0"/>
              <a:t> </a:t>
            </a:r>
          </a:p>
          <a:p>
            <a:pPr/>
            <a:r>
              <a:rPr lang="de-DE" sz="1600" dirty="0"/>
              <a:t>• In einer bestimmten Woche waschen von insgesamt 1000 Autofahrern 500 bei A und je 250 bei B und C ihr Auto. Vervollständige die untere Rechnung, zur Berechnung der Verteilung für die folgende Woche:</a:t>
            </a:r>
          </a:p>
          <a:p>
            <a:pPr/>
            <a:r>
              <a:rPr lang="de-DE" sz="1600" dirty="0"/>
              <a:t> </a:t>
            </a:r>
          </a:p>
          <a:p>
            <a:pPr/>
            <a:r>
              <a:rPr lang="de-DE" sz="1600" dirty="0"/>
              <a:t> • Notiere analog zu b), die Berechnung der Verteilung für die zweite Woche.</a:t>
            </a:r>
          </a:p>
          <a:p>
            <a:pPr/>
            <a:r>
              <a:rPr lang="de-DE" sz="1600" dirty="0"/>
              <a:t> </a:t>
            </a:r>
          </a:p>
          <a:p>
            <a:pPr/>
            <a:r>
              <a:rPr lang="de-DE" sz="1600" dirty="0"/>
              <a:t>Notizen:</a:t>
            </a:r>
          </a:p>
          <a:p>
            <a:pPr/>
            <a:r>
              <a:rPr lang="de-DE" sz="1600" dirty="0"/>
              <a:t>Beispiellösung:</a:t>
            </a:r>
          </a:p>
          <a:p>
            <a:pPr/>
            <a:r>
              <a:rPr lang="de-DE" sz="1600" dirty="0"/>
              <a:t> </a:t>
            </a:r>
          </a:p>
          <a:p>
            <a:pPr/>
            <a:r>
              <a:rPr lang="de-DE" sz="1600" dirty="0"/>
              <a:t> • Übergangsdiagramm</a:t>
            </a:r>
          </a:p>
          <a:p>
            <a:pPr/>
            <a:r>
              <a:rPr lang="de-DE" sz="1600" dirty="0"/>
              <a:t> Aus dem Text folgen die Übergänge:</a:t>
            </a:r>
          </a:p>
          <a:p>
            <a:pPr/>
            <a:r>
              <a:rPr lang="de-DE" sz="1600" dirty="0"/>
              <a:t> A → A : 0,5 , A → B : 0,25 , A → C : 0,25 A\rightarrow A:0{,}5,\qquad A\rightarrow B:0{,}25,\qquad A\rightarrow C:0{,}25 B → A : 0,25 , B → B : 0,5 , B → C : 0,25 B\rightarrow A:0{,}25,\qquad B\rightarrow B:0{,}5,\qquad B\rightarrow C:0{,}25 C → A : 0,2 , C → C : 0,8 C\rightarrow A:0{,}2,\qquad C\rightarrow C:0{,}8</a:t>
            </a:r>
          </a:p>
          <a:p>
            <a:pPr/>
            <a:r>
              <a:rPr lang="de-DE" sz="1600" dirty="0"/>
              <a:t> Von C C nach B B gibt es keinen Übergang.</a:t>
            </a:r>
          </a:p>
          <a:p>
            <a:pPr/>
            <a:r>
              <a:rPr lang="de-DE" sz="1600" dirty="0"/>
              <a:t> • Übergangsmatrix</a:t>
            </a:r>
          </a:p>
          <a:p>
            <a:pPr/>
            <a:r>
              <a:rPr lang="de-DE" sz="1600" dirty="0"/>
              <a:t> Zeilen stehen für nach , Spalten für von :</a:t>
            </a:r>
          </a:p>
          <a:p>
            <a:pPr/>
            <a:r>
              <a:rPr lang="de-DE" sz="1600" dirty="0"/>
              <a:t> M = ( 0,5 0,25 0,2 0,25 0,5 0 0,25 0,25 0,8 ) M= \begin{pmatrix} 0{,}5 &amp; 0{,}25 &amp; 0{,}2\\ 0{,}25 &amp; 0{,}5 &amp; 0\\ 0{,}25 &amp; 0{,}25 &amp; 0{,}8 \end{pmatrix}</a:t>
            </a:r>
          </a:p>
          <a:p>
            <a:pPr/>
            <a:r>
              <a:rPr lang="de-DE" sz="1600" dirty="0"/>
              <a:t> • Verteilung nach einer Woche</a:t>
            </a:r>
          </a:p>
          <a:p>
            <a:pPr/>
            <a:r>
              <a:rPr lang="de-DE" sz="1600" dirty="0"/>
              <a:t> ( 0,5 0,25 0,2 0,25 0,5 0 0,25 0,25 0,8 ) ( 500 250 250 ) = ( 0,5 ⋅ 500 + 0,25 ⋅ 250 + 0,2 ⋅ 250 0,25 ⋅ 500 + 0,5 ⋅ 250 0,25 ⋅ 500 + 0,25 ⋅ 250 + 0,8 ⋅ 250 ) \begin{pmatrix} 0{,}5 &amp; 0{,}25 &amp; 0{,}2\\ 0{,}25 &amp; 0{,}5 &amp; 0\\ 0{,}25 &amp; 0{,}25 &amp; 0{,}8 \end{pmatrix} \begin{pmatrix} 500\\ 250\\ 250 \end{pmatrix} = \begin{pmatrix} 0{,}5\cdot500+0{,}25\cdot250+0{,}2\cdot250\\ 0{,}25\cdot500+0{,}5\cdot250\\ 0{,}25\cdot500+0{,}25\cdot250+0{,}8\cdot250 \end{pmatrix} = ( 362,5 250 387,5 ) = \boxed{ \begin{pmatrix} 362{,}5\\ 250\\ 387{,}5 \end{pmatrix}}</a:t>
            </a:r>
          </a:p>
          <a:p>
            <a:pPr/>
            <a:r>
              <a:rPr lang="de-DE" sz="1600" dirty="0"/>
              <a:t> Also nach einer Woche:</a:t>
            </a:r>
          </a:p>
          <a:p>
            <a:pPr/>
            <a:r>
              <a:rPr lang="de-DE" sz="1600" dirty="0"/>
              <a:t> A : 362,5 , B : 250 , C : 387,5 A:362{,}5,\qquad B:250,\qquad C:387{,}5</a:t>
            </a:r>
          </a:p>
          <a:p>
            <a:pPr/>
            <a:r>
              <a:rPr lang="de-DE" sz="1600" dirty="0"/>
              <a:t> • Verteilung nach zwei Wochen</a:t>
            </a:r>
          </a:p>
          <a:p>
            <a:pPr/>
            <a:r>
              <a:rPr lang="de-DE" sz="1600" dirty="0"/>
              <a:t> ( 0,5 0,25 0,2 0,25 0,5 0 0,25 0,25 0,8 ) ( 362,5 250 387,5 ) = ( 321,25 215,625 463,125 ) \begin{pmatrix} 0{,}5 &amp; 0{,}25 &amp; 0{,}2\\ 0{,}25 &amp; 0{,}5 &amp; 0\\ 0{,}25 &amp; 0{,}25 &amp; 0{,}8 \end{pmatrix} \begin{pmatrix} 362{,}5\\ 250\\ 387{,}5 \end{pmatrix} = \boxed{ \begin{pmatrix} 321{,}25\\ 215{,}625\\ 463{,}125 \end{pmatrix}}</a:t>
            </a:r>
          </a:p>
          <a:p>
            <a:pPr/>
            <a:r>
              <a:rPr lang="de-DE" sz="1600" dirty="0"/>
              <a:t> Die Gesamtzahl bleibt dabei jeweils bei 1000 1000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a:t>
            </a:r>
          </a:p>
        </p:txBody>
      </p:sp>
      <p:sp>
        <p:nvSpPr>
          <p:cNvPr id="3" name="Text"/>
          <p:cNvSpPr txBox="1"/>
          <p:nvPr/>
        </p:nvSpPr>
        <p:spPr>
          <a:xfrm>
            <a:off x="457200" y="1600200"/>
            <a:ext cx="8229600" cy="4800600"/>
          </a:xfrm>
          <a:prstGeom prst="rect">
            <a:avLst/>
          </a:prstGeom>
        </p:spPr>
        <p:txBody>
          <a:bodyPr wrap="square" rtlCol="0"/>
          <a:lstStyle/>
          <a:p>
            <a:r>
              <a:rPr lang="de-DE" sz="1600" dirty="0"/>
              <a:t>Bis zur nächsten Stunde!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Prozesse am Fahrrad</a:t>
            </a:r>
          </a:p>
        </p:txBody>
      </p:sp>
      <p:sp>
        <p:nvSpPr>
          <p:cNvPr id="3" name="Text"/>
          <p:cNvSpPr txBox="1"/>
          <p:nvPr/>
        </p:nvSpPr>
        <p:spPr>
          <a:xfrm>
            <a:off x="457200" y="1600200"/>
            <a:ext cx="8229600" cy="4800600"/>
          </a:xfrm>
          <a:prstGeom prst="rect">
            <a:avLst/>
          </a:prstGeom>
        </p:spPr>
        <p:txBody>
          <a:bodyPr wrap="square" rtlCol="0"/>
          <a:lstStyle/>
          <a:p>
            <a:r>
              <a:rPr lang="de-DE" sz="1600" dirty="0"/>
              <a:t>Mountainbike</a:t>
            </a:r>
          </a:p>
          <a:p>
            <a:pPr/>
            <a:r>
              <a:rPr lang="de-DE" sz="1600" dirty="0"/>
              <a:t> </a:t>
            </a:r>
          </a:p>
          <a:p>
            <a:pPr/>
            <a:r>
              <a:rPr lang="de-DE" sz="1600" dirty="0"/>
              <a:t>Mountainbike</a:t>
            </a:r>
          </a:p>
          <a:p>
            <a:pPr/>
            <a:r>
              <a:rPr lang="de-DE" sz="1600" dirty="0"/>
              <a:t> </a:t>
            </a:r>
          </a:p>
          <a:p>
            <a:pPr/>
            <a:r>
              <a:rPr lang="de-DE" sz="1600" dirty="0"/>
              <a:t>Stadtrad</a:t>
            </a:r>
          </a:p>
          <a:p>
            <a:pPr/>
            <a:r>
              <a:rPr lang="de-DE" sz="1600" dirty="0"/>
              <a:t> </a:t>
            </a:r>
          </a:p>
          <a:p>
            <a:pPr/>
            <a:r>
              <a:rPr lang="de-DE" sz="1600" dirty="0"/>
              <a:t>Stadtrad</a:t>
            </a:r>
          </a:p>
          <a:p>
            <a:pPr/>
            <a:r>
              <a:rPr lang="de-DE" sz="1600" dirty="0"/>
              <a:t> </a:t>
            </a:r>
          </a:p>
          <a:p>
            <a:pPr/>
            <a:r>
              <a:rPr lang="de-DE" sz="1600" dirty="0"/>
              <a:t>(stark vereinfacht)</a:t>
            </a:r>
          </a:p>
          <a:p>
            <a:pPr/>
            <a:r>
              <a:rPr lang="de-DE" sz="1600" dirty="0"/>
              <a:t> </a:t>
            </a:r>
          </a:p>
          <a:p>
            <a:pPr/>
            <a:r>
              <a:rPr lang="de-DE" sz="1600" dirty="0"/>
              <a:t>Inbusschraube</a:t>
            </a:r>
          </a:p>
          <a:p>
            <a:pPr/>
            <a:r>
              <a:rPr lang="de-DE" sz="1600" dirty="0"/>
              <a:t> </a:t>
            </a:r>
          </a:p>
          <a:p>
            <a:pPr/>
            <a:r>
              <a:rPr lang="de-DE" sz="1600" dirty="0"/>
              <a:t>Sattelmodell 1</a:t>
            </a:r>
          </a:p>
          <a:p>
            <a:pPr/>
            <a:r>
              <a:rPr lang="de-DE" sz="1600" dirty="0"/>
              <a:t> </a:t>
            </a:r>
          </a:p>
          <a:p>
            <a:pPr/>
            <a:r>
              <a:rPr lang="de-DE" sz="1600" dirty="0"/>
              <a:t>Sattelmodell 2</a:t>
            </a:r>
          </a:p>
          <a:p>
            <a:pPr/>
            <a:r>
              <a:rPr lang="de-DE" sz="1600" dirty="0"/>
              <a:t> </a:t>
            </a:r>
          </a:p>
          <a:p>
            <a:pPr/>
            <a:r>
              <a:rPr lang="de-DE" sz="1600" dirty="0"/>
              <a:t>Felge</a:t>
            </a:r>
          </a:p>
          <a:p>
            <a:pPr/>
            <a:r>
              <a:rPr lang="de-DE" sz="1600" dirty="0"/>
              <a:t> </a:t>
            </a:r>
          </a:p>
          <a:p>
            <a:pPr/>
            <a:r>
              <a:rPr lang="de-DE" sz="1600" dirty="0"/>
              <a:t>Speichen</a:t>
            </a:r>
          </a:p>
          <a:p>
            <a:pPr/>
            <a:r>
              <a:rPr lang="de-DE" sz="1600" dirty="0"/>
              <a:t> </a:t>
            </a:r>
          </a:p>
          <a:p>
            <a:pPr/>
            <a:r>
              <a:rPr lang="de-DE" sz="1600" dirty="0"/>
              <a:t>Inbus-schraube</a:t>
            </a:r>
          </a:p>
          <a:p>
            <a:pPr/>
            <a:r>
              <a:rPr lang="de-DE" sz="1600" dirty="0"/>
              <a:t> </a:t>
            </a:r>
          </a:p>
          <a:p>
            <a:pPr/>
            <a:r>
              <a:rPr lang="de-DE" sz="1600" dirty="0"/>
              <a:t>Sattelmodell 1</a:t>
            </a:r>
          </a:p>
          <a:p>
            <a:pPr/>
            <a:r>
              <a:rPr lang="de-DE" sz="1600" dirty="0"/>
              <a:t> </a:t>
            </a:r>
          </a:p>
          <a:p>
            <a:pPr/>
            <a:r>
              <a:rPr lang="de-DE" sz="1600" dirty="0"/>
              <a:t>Sattelmodell 2</a:t>
            </a:r>
          </a:p>
          <a:p>
            <a:pPr/>
            <a:r>
              <a:rPr lang="de-DE" sz="1600" dirty="0"/>
              <a:t> </a:t>
            </a:r>
          </a:p>
          <a:p>
            <a:pPr/>
            <a:r>
              <a:rPr lang="de-DE" sz="1600" dirty="0"/>
              <a:t>Felge</a:t>
            </a:r>
          </a:p>
          <a:p>
            <a:pPr/>
            <a:r>
              <a:rPr lang="de-DE" sz="1600" dirty="0"/>
              <a:t> </a:t>
            </a:r>
          </a:p>
          <a:p>
            <a:pPr/>
            <a:r>
              <a:rPr lang="de-DE" sz="1600" dirty="0"/>
              <a:t>Speichen</a:t>
            </a:r>
          </a:p>
          <a:p>
            <a:pPr/>
            <a:r>
              <a:rPr lang="de-DE" sz="1600" dirty="0"/>
              <a:t> </a:t>
            </a:r>
          </a:p>
          <a:p>
            <a:pPr/>
            <a:r>
              <a:rPr lang="de-DE" sz="1600" dirty="0"/>
              <a:t>8</a:t>
            </a:r>
          </a:p>
          <a:p>
            <a:pPr/>
            <a:r>
              <a:rPr lang="de-DE" sz="1600" dirty="0"/>
              <a:t> </a:t>
            </a:r>
          </a:p>
          <a:p>
            <a:pPr/>
            <a:r>
              <a:rPr lang="de-DE" sz="1600" dirty="0"/>
              <a:t>6</a:t>
            </a:r>
          </a:p>
          <a:p>
            <a:pPr/>
            <a:r>
              <a:rPr lang="de-DE" sz="1600" dirty="0"/>
              <a:t> </a:t>
            </a:r>
          </a:p>
          <a:p>
            <a:pPr/>
            <a:r>
              <a:rPr lang="de-DE" sz="1600" dirty="0"/>
              <a:t>1</a:t>
            </a:r>
          </a:p>
          <a:p>
            <a:pPr/>
            <a:r>
              <a:rPr lang="de-DE" sz="1600" dirty="0"/>
              <a:t> </a:t>
            </a:r>
          </a:p>
          <a:p>
            <a:pPr/>
            <a:r>
              <a:rPr lang="de-DE" sz="1600" dirty="0"/>
              <a:t>1</a:t>
            </a:r>
          </a:p>
          <a:p>
            <a:pPr/>
            <a:r>
              <a:rPr lang="de-DE" sz="1600" dirty="0"/>
              <a:t> </a:t>
            </a:r>
          </a:p>
          <a:p>
            <a:pPr/>
            <a:r>
              <a:rPr lang="de-DE" sz="1600" dirty="0"/>
              <a:t>2</a:t>
            </a:r>
          </a:p>
          <a:p>
            <a:pPr/>
            <a:r>
              <a:rPr lang="de-DE" sz="1600" dirty="0"/>
              <a:t> </a:t>
            </a:r>
          </a:p>
          <a:p>
            <a:pPr/>
            <a:r>
              <a:rPr lang="de-DE" sz="1600" dirty="0"/>
              <a:t>2</a:t>
            </a:r>
          </a:p>
          <a:p>
            <a:pPr/>
            <a:r>
              <a:rPr lang="de-DE" sz="1600" dirty="0"/>
              <a:t> </a:t>
            </a:r>
          </a:p>
          <a:p>
            <a:pPr/>
            <a:r>
              <a:rPr lang="de-DE" sz="1600" dirty="0"/>
              <a:t>72</a:t>
            </a:r>
          </a:p>
          <a:p>
            <a:pPr/>
            <a:r>
              <a:rPr lang="de-DE" sz="1600" dirty="0"/>
              <a:t> </a:t>
            </a:r>
          </a:p>
          <a:p>
            <a:pPr/>
            <a:r>
              <a:rPr lang="de-DE" sz="1600" dirty="0"/>
              <a:t>64</a:t>
            </a:r>
          </a:p>
          <a:p>
            <a:pPr/>
            <a:r>
              <a:rPr lang="de-DE" sz="1600" dirty="0"/>
              <a:t> </a:t>
            </a:r>
          </a:p>
          <a:p>
            <a:pPr/>
            <a:r>
              <a:rPr lang="de-DE" sz="1600" dirty="0"/>
              <a:t>10</a:t>
            </a:r>
          </a:p>
          <a:p>
            <a:pPr/>
            <a:r>
              <a:rPr lang="de-DE" sz="1600" dirty="0"/>
              <a:t> </a:t>
            </a:r>
          </a:p>
          <a:p>
            <a:pPr/>
            <a:r>
              <a:rPr lang="de-DE" sz="1600" dirty="0"/>
              <a:t>8</a:t>
            </a:r>
          </a:p>
          <a:p>
            <a:pPr/>
            <a:r>
              <a:rPr lang="de-DE" sz="1600" dirty="0"/>
              <a:t> </a:t>
            </a:r>
          </a:p>
          <a:p>
            <a:pPr/>
            <a:r>
              <a:rPr lang="de-DE" sz="1600" dirty="0"/>
              <a:t>1</a:t>
            </a:r>
          </a:p>
          <a:p>
            <a:pPr/>
            <a:r>
              <a:rPr lang="de-DE" sz="1600" dirty="0"/>
              <a:t> </a:t>
            </a:r>
          </a:p>
          <a:p>
            <a:pPr/>
            <a:r>
              <a:rPr lang="de-DE" sz="1600" dirty="0"/>
              <a:t>1</a:t>
            </a:r>
          </a:p>
          <a:p>
            <a:pPr/>
            <a:r>
              <a:rPr lang="de-DE" sz="1600" dirty="0"/>
              <a:t> </a:t>
            </a:r>
          </a:p>
          <a:p>
            <a:pPr/>
            <a:r>
              <a:rPr lang="de-DE" sz="1600" dirty="0"/>
              <a:t>2</a:t>
            </a:r>
          </a:p>
          <a:p>
            <a:pPr/>
            <a:r>
              <a:rPr lang="de-DE" sz="1600" dirty="0"/>
              <a:t> </a:t>
            </a:r>
          </a:p>
          <a:p>
            <a:pPr/>
            <a:r>
              <a:rPr lang="de-DE" sz="1600" dirty="0"/>
              <a:t>2</a:t>
            </a:r>
          </a:p>
          <a:p>
            <a:pPr/>
            <a:r>
              <a:rPr lang="de-DE" sz="1600" dirty="0"/>
              <a:t> </a:t>
            </a:r>
          </a:p>
          <a:p>
            <a:pPr/>
            <a:r>
              <a:rPr lang="de-DE" sz="1600" dirty="0"/>
              <a:t>70</a:t>
            </a:r>
          </a:p>
          <a:p>
            <a:pPr/>
            <a:r>
              <a:rPr lang="de-DE" sz="1600" dirty="0"/>
              <a:t> </a:t>
            </a:r>
          </a:p>
          <a:p>
            <a:pPr/>
            <a:r>
              <a:rPr lang="de-DE" sz="1600" dirty="0"/>
              <a:t>68</a:t>
            </a:r>
          </a:p>
          <a:p>
            <a:pPr/>
            <a:r>
              <a:rPr lang="de-DE" sz="1600" dirty="0"/>
              <a:t> </a:t>
            </a:r>
          </a:p>
          <a:p>
            <a:pPr/>
            <a:r>
              <a:rPr lang="de-DE" sz="1600" dirty="0"/>
              <a:t>Notizen:</a:t>
            </a:r>
          </a:p>
          <a:p>
            <a:pPr/>
            <a:r>
              <a:rPr lang="de-DE" sz="1600" dirty="0"/>
              <a:t>Beschreibt die Grafik!</a:t>
            </a:r>
          </a:p>
          <a:p>
            <a:pPr/>
            <a:r>
              <a:rPr lang="de-DE" sz="1600" dirty="0"/>
              <a:t> Sammelt mathematische Fragen, die man hier bearbeiten kann und löst diese mit Hilfe von Matrizen!</a:t>
            </a:r>
          </a:p>
          <a:p>
            <a:pPr/>
            <a:r>
              <a:rPr lang="de-DE" sz="1600" dirty="0"/>
              <a:t> </a:t>
            </a:r>
          </a:p>
          <a:p>
            <a:pPr/>
            <a:r>
              <a:rPr lang="de-DE" sz="1600" dirty="0"/>
              <a:t> Mögliche Musterlösung:</a:t>
            </a:r>
          </a:p>
          <a:p>
            <a:pPr/>
            <a:r>
              <a:rPr lang="de-DE" sz="1600" dirty="0"/>
              <a:t> </a:t>
            </a:r>
          </a:p>
          <a:p>
            <a:pPr/>
            <a:r>
              <a:rPr lang="de-DE" sz="1600" dirty="0"/>
              <a:t> • Notiere für jede Firma eine Prozessmatrix.</a:t>
            </a:r>
          </a:p>
          <a:p>
            <a:pPr/>
            <a:r>
              <a:rPr lang="de-DE" sz="1600" dirty="0"/>
              <a:t> </a:t>
            </a:r>
          </a:p>
          <a:p>
            <a:pPr/>
            <a:r>
              <a:rPr lang="de-DE" sz="1600" dirty="0"/>
              <a:t> [Bild] [Bild]</a:t>
            </a:r>
          </a:p>
          <a:p>
            <a:pPr/>
            <a:r>
              <a:rPr lang="de-DE" sz="1600" dirty="0"/>
              <a:t> </a:t>
            </a:r>
          </a:p>
          <a:p>
            <a:pPr/>
            <a:r>
              <a:rPr lang="de-DE" sz="1600" dirty="0"/>
              <a:t> Matrix = Materialbedarf.</a:t>
            </a:r>
          </a:p>
          <a:p>
            <a:pPr/>
            <a:r>
              <a:rPr lang="de-DE" sz="1600" dirty="0"/>
              <a:t> </a:t>
            </a:r>
          </a:p>
          <a:p>
            <a:pPr/>
            <a:r>
              <a:rPr lang="de-DE" sz="1600" dirty="0"/>
              <a:t> [Bild]</a:t>
            </a:r>
          </a:p>
          <a:p>
            <a:pPr/>
            <a:r>
              <a:rPr lang="de-DE" sz="1600" dirty="0"/>
              <a:t> </a:t>
            </a:r>
          </a:p>
          <a:p>
            <a:pPr/>
            <a:r>
              <a:rPr lang="de-DE" sz="1600" dirty="0"/>
              <a:t> • Wie groß ist der Rohstoffbedarf je Rad von Firma Radieschen, wenn jeweils immer 10 Räder gleichzeitig produziert werden. (skalare Multiplikation)</a:t>
            </a:r>
          </a:p>
          <a:p>
            <a:pPr/>
            <a:r>
              <a:rPr lang="de-DE" sz="1600" dirty="0"/>
              <a:t> [Bild]</a:t>
            </a:r>
          </a:p>
          <a:p>
            <a:pPr/>
            <a:r>
              <a:rPr lang="de-DE" sz="1600" dirty="0"/>
              <a:t> </a:t>
            </a:r>
          </a:p>
          <a:p>
            <a:pPr/>
            <a:r>
              <a:rPr lang="de-DE" sz="1600" dirty="0"/>
              <a:t> • Bestimme den Rohstoffbedarf beider Mountenbikes und Stadträder zusammen. (Matrizen Addition )</a:t>
            </a:r>
          </a:p>
          <a:p>
            <a:pPr/>
            <a:r>
              <a:rPr lang="de-DE" sz="1600" dirty="0"/>
              <a:t> [Bild]</a:t>
            </a:r>
          </a:p>
          <a:p>
            <a:pPr/>
            <a:r>
              <a:rPr lang="de-DE" sz="1600" dirty="0"/>
              <a:t> </a:t>
            </a:r>
          </a:p>
          <a:p>
            <a:pPr/>
            <a:r>
              <a:rPr lang="de-DE" sz="1600" dirty="0"/>
              <a:t> • Bestimme den Unterschied im Rohstoffbedarf bei den beiden Mountenbikes und bei den zwei Stadträdern. (Matrizen Subtraktion )</a:t>
            </a:r>
          </a:p>
          <a:p>
            <a:pPr/>
            <a:r>
              <a:rPr lang="de-DE" sz="1600" dirty="0"/>
              <a:t> [Bild]</a:t>
            </a:r>
          </a:p>
          <a:p>
            <a:pPr/>
            <a:r>
              <a:rPr lang="de-DE" sz="1600" dirty="0"/>
              <a:t> </a:t>
            </a:r>
          </a:p>
          <a:p>
            <a:pPr/>
            <a:r>
              <a:rPr lang="de-DE" sz="1600" dirty="0"/>
              <a:t> • Wenn Firma Radieschen 3 Mountenbikes und ein Stadtrad bestellt, wie viele Rohstoffe werden dann gebraucht? (Matrix Vektor Produkt )</a:t>
            </a:r>
          </a:p>
          <a:p>
            <a:pPr/>
            <a:r>
              <a:rPr lang="de-DE" sz="1600" dirty="0"/>
              <a:t> [Bild] [Bild]</a:t>
            </a:r>
          </a:p>
          <a:p>
            <a:pPr/>
            <a:r>
              <a:rPr lang="de-DE" sz="1600" dirty="0"/>
              <a:t> </a:t>
            </a:r>
          </a:p>
          <a:p>
            <a:pPr/>
            <a:r>
              <a:rPr lang="de-DE" sz="1600" dirty="0"/>
              <a:t> [Bild]</a:t>
            </a:r>
          </a:p>
          <a:p>
            <a:pPr/>
            <a:r>
              <a:rPr lang="de-DE" sz="1600" dirty="0"/>
              <a:t> </a:t>
            </a:r>
          </a:p>
          <a:p>
            <a:pPr/>
            <a:r>
              <a:rPr lang="de-DE" sz="1600" dirty="0"/>
              <a:t> • Bonusaufgabe auf dem AB (würde ich reingeben, wenn die ersten fertig sind) (Matrix Produkt )</a:t>
            </a:r>
          </a:p>
          <a:p>
            <a:pPr/>
            <a:r>
              <a:rPr lang="de-DE" sz="1600" dirty="0"/>
              <a:t> [Bild] [Bild]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Definition der Rechenoperationen für Matrizen</a:t>
            </a:r>
          </a:p>
        </p:txBody>
      </p:sp>
      <p:sp>
        <p:nvSpPr>
          <p:cNvPr id="3" name="Text"/>
          <p:cNvSpPr txBox="1"/>
          <p:nvPr/>
        </p:nvSpPr>
        <p:spPr>
          <a:xfrm>
            <a:off x="457200" y="1600200"/>
            <a:ext cx="8229600" cy="4800600"/>
          </a:xfrm>
          <a:prstGeom prst="rect">
            <a:avLst/>
          </a:prstGeom>
        </p:spPr>
        <p:txBody>
          <a:bodyPr wrap="square" rtlCol="0"/>
          <a:lstStyle/>
          <a:p>
            <a:r>
              <a:rPr lang="de-DE" sz="1600" dirty="0"/>
              <a:t>Arbeitsauftrag</a:t>
            </a:r>
          </a:p>
          <a:p>
            <a:pPr/>
            <a:r>
              <a:rPr lang="de-DE" sz="1600" dirty="0"/>
              <a:t>Mathebuch:</a:t>
            </a:r>
          </a:p>
          <a:p>
            <a:pPr/>
            <a:r>
              <a:rPr lang="de-DE" sz="1600" dirty="0"/>
              <a:t> Seite 170, Nummer 3</a:t>
            </a:r>
          </a:p>
          <a:p>
            <a:pPr/>
            <a:r>
              <a:rPr lang="de-DE" sz="1600" dirty="0"/>
              <a:t> Seite 174, Nummer 6</a:t>
            </a:r>
          </a:p>
          <a:p>
            <a:pPr/>
            <a:r>
              <a:rPr lang="de-DE" sz="1600" dirty="0"/>
              <a:t> </a:t>
            </a:r>
          </a:p>
          <a:p>
            <a:pPr/>
            <a:r>
              <a:rPr lang="de-DE" sz="1600" dirty="0"/>
              <a:t>Notizen:</a:t>
            </a:r>
          </a:p>
          <a:p>
            <a:pPr/>
            <a:r>
              <a:rPr lang="de-DE" sz="1600" dirty="0"/>
              <a:t>[Bild]</a:t>
            </a:r>
          </a:p>
          <a:p>
            <a:pPr/>
            <a:r>
              <a:rPr lang="de-DE" sz="1600" dirty="0"/>
              <a:t> </a:t>
            </a:r>
          </a:p>
          <a:p>
            <a:pPr/>
            <a:r>
              <a:rPr lang="de-DE" sz="1600" dirty="0"/>
              <a:t> [Bild]</a:t>
            </a:r>
          </a:p>
          <a:p>
            <a:pPr/>
            <a:r>
              <a:rPr lang="de-DE" sz="1600" dirty="0"/>
              <a:t> </a:t>
            </a:r>
          </a:p>
          <a:p>
            <a:pPr/>
            <a:r>
              <a:rPr lang="de-DE" sz="1600" dirty="0"/>
              <a:t> [Bild]</a:t>
            </a:r>
          </a:p>
          <a:p>
            <a:pPr/>
            <a:r>
              <a:rPr lang="de-DE" sz="1600" dirty="0"/>
              <a:t> </a:t>
            </a:r>
          </a:p>
          <a:p>
            <a:pPr/>
            <a:r>
              <a:rPr lang="de-DE" sz="1600" dirty="0"/>
              <a:t> [Bild]</a:t>
            </a:r>
          </a:p>
          <a:p>
            <a:pPr/>
            <a:r>
              <a:rPr lang="de-DE" sz="1600" dirty="0"/>
              <a:t> </a:t>
            </a:r>
          </a:p>
          <a:p>
            <a:pPr/>
            <a:r>
              <a:rPr lang="de-DE" sz="1600" dirty="0"/>
              <a:t> [Bild]</a:t>
            </a:r>
          </a:p>
          <a:p>
            <a:pPr/>
            <a:r>
              <a:rPr lang="de-DE" sz="1600" dirty="0"/>
              <a:t> [Bild]</a:t>
            </a:r>
          </a:p>
          <a:p>
            <a:pPr/>
            <a:r>
              <a:rPr lang="de-DE" sz="1600" dirty="0"/>
              <a:t> [Bild]</a:t>
            </a:r>
          </a:p>
          <a:p>
            <a:pPr/>
            <a:r>
              <a:rPr lang="de-DE" sz="1600" dirty="0"/>
              <a:t> [Bild]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a:t>
            </a:r>
          </a:p>
        </p:txBody>
      </p:sp>
      <p:sp>
        <p:nvSpPr>
          <p:cNvPr id="3" name="Text"/>
          <p:cNvSpPr txBox="1"/>
          <p:nvPr/>
        </p:nvSpPr>
        <p:spPr>
          <a:xfrm>
            <a:off x="457200" y="1600200"/>
            <a:ext cx="8229600" cy="4800600"/>
          </a:xfrm>
          <a:prstGeom prst="rect">
            <a:avLst/>
          </a:prstGeom>
        </p:spPr>
        <p:txBody>
          <a:bodyPr wrap="square" rtlCol="0"/>
          <a:lstStyle/>
          <a:p>
            <a:r>
              <a:rPr lang="de-DE" sz="1600" dirty="0"/>
              <a:t>Bis zur nächsten Stunde!</a:t>
            </a:r>
          </a:p>
          <a:p>
            <a:pPr/>
            <a:r>
              <a:rPr lang="de-DE" sz="1600" dirty="0"/>
              <a:t> </a:t>
            </a:r>
          </a:p>
          <a:p>
            <a:pPr/>
            <a:r>
              <a:rPr lang="de-DE" sz="1600" dirty="0"/>
              <a:t>Hausaufgabe</a:t>
            </a:r>
          </a:p>
          <a:p>
            <a:pPr/>
            <a:r>
              <a:rPr lang="de-DE" sz="1600" dirty="0"/>
              <a:t>Mathebuch:</a:t>
            </a:r>
          </a:p>
          <a:p>
            <a:pPr/>
            <a:r>
              <a:rPr lang="de-DE" sz="1600" dirty="0"/>
              <a:t> Seite 170, Nummer 3</a:t>
            </a:r>
          </a:p>
          <a:p>
            <a:pPr/>
            <a:r>
              <a:rPr lang="de-DE" sz="1600" dirty="0"/>
              <a:t> Seite 174, Nummer 6</a:t>
            </a:r>
          </a:p>
          <a:p>
            <a:pPr/>
            <a:r>
              <a:rPr lang="de-DE" sz="1600" dirty="0"/>
              <a:t> </a:t>
            </a:r>
          </a:p>
          <a:p>
            <a:pPr/>
            <a:r>
              <a:rPr lang="de-DE" sz="1600" dirty="0"/>
              <a:t>Notizen:</a:t>
            </a:r>
          </a:p>
          <a:p>
            <a:pPr/>
            <a:r>
              <a:rPr lang="de-DE" sz="1600" dirty="0"/>
              <a:t>[Bild]</a:t>
            </a:r>
          </a:p>
          <a:p>
            <a:pPr/>
            <a:r>
              <a:rPr lang="de-DE" sz="1600" dirty="0"/>
              <a:t> ----------------------------------------------</a:t>
            </a:r>
          </a:p>
          <a:p>
            <a:pPr/>
            <a:r>
              <a:rPr lang="de-DE" sz="1600" dirty="0"/>
              <a:t> [Bild]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a:t>
            </a:r>
          </a:p>
        </p:txBody>
      </p:sp>
      <p:sp>
        <p:nvSpPr>
          <p:cNvPr id="3" name="Text"/>
          <p:cNvSpPr txBox="1"/>
          <p:nvPr/>
        </p:nvSpPr>
        <p:spPr>
          <a:xfrm>
            <a:off x="457200" y="1600200"/>
            <a:ext cx="8229600" cy="4800600"/>
          </a:xfrm>
          <a:prstGeom prst="rect">
            <a:avLst/>
          </a:prstGeom>
        </p:spPr>
        <p:txBody>
          <a:bodyPr wrap="square" rtlCol="0"/>
          <a:lstStyle/>
          <a:p>
            <a:r>
              <a:rPr lang="de-DE" sz="1600" dirty="0"/>
              <a:t>Bis zur nächsten Stunde!</a:t>
            </a:r>
          </a:p>
          <a:p>
            <a:pPr/>
            <a:r>
              <a:rPr lang="de-DE" sz="1600" dirty="0"/>
              <a:t> </a:t>
            </a:r>
          </a:p>
          <a:p>
            <a:pPr/>
            <a:r>
              <a:rPr lang="de-DE" sz="1600" dirty="0"/>
              <a:t>Hausaufgabe</a:t>
            </a:r>
          </a:p>
          <a:p>
            <a:pPr/>
            <a:r>
              <a:rPr lang="de-DE" sz="1600" dirty="0"/>
              <a:t>Mathebuch:</a:t>
            </a:r>
          </a:p>
          <a:p>
            <a:pPr/>
            <a:r>
              <a:rPr lang="de-DE" sz="1600" dirty="0"/>
              <a:t> Seite 170, Nummer 6</a:t>
            </a:r>
          </a:p>
          <a:p>
            <a:pPr/>
            <a:r>
              <a:rPr lang="de-DE" sz="1600" dirty="0"/>
              <a:t> Seite 174, Nummer 2 d und e,</a:t>
            </a:r>
          </a:p>
          <a:p>
            <a:pPr/>
            <a:r>
              <a:rPr lang="de-DE" sz="1600" dirty="0"/>
              <a:t> Nummer 5 d</a:t>
            </a:r>
          </a:p>
          <a:p>
            <a:pPr/>
            <a:r>
              <a:rPr lang="de-DE" sz="1600" dirty="0"/>
              <a:t> </a:t>
            </a:r>
          </a:p>
          <a:p>
            <a:pPr/>
            <a:r>
              <a:rPr lang="de-DE" sz="1600" dirty="0"/>
              <a:t>Notizen:</a:t>
            </a:r>
          </a:p>
          <a:p>
            <a:pPr/>
            <a:r>
              <a:rPr lang="de-DE" sz="1600" dirty="0"/>
              <a:t>[Bild] [Bild]</a:t>
            </a:r>
          </a:p>
          <a:p>
            <a:pPr/>
            <a:r>
              <a:rPr lang="de-DE" sz="1600" dirty="0"/>
              <a:t> </a:t>
            </a:r>
          </a:p>
          <a:p>
            <a:pPr/>
            <a:r>
              <a:rPr lang="de-DE" sz="1600" dirty="0"/>
              <a:t> [Bild]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Das neutrale Element der Addition und Multiplikation</a:t>
            </a:r>
          </a:p>
        </p:txBody>
      </p:sp>
      <p:sp>
        <p:nvSpPr>
          <p:cNvPr id="3" name="Text"/>
          <p:cNvSpPr txBox="1"/>
          <p:nvPr/>
        </p:nvSpPr>
        <p:spPr>
          <a:xfrm>
            <a:off x="457200" y="1600200"/>
            <a:ext cx="8229600" cy="4800600"/>
          </a:xfrm>
          <a:prstGeom prst="rect">
            <a:avLst/>
          </a:prstGeom>
        </p:spPr>
        <p:txBody>
          <a:bodyPr wrap="square" rtlCol="0"/>
          <a:lstStyle/>
          <a:p>
            <a:r>
              <a:rPr lang="de-DE" sz="1600" dirty="0"/>
              <a:t>Bei Rechenoperationen wie Addition oder Multiplikation gibt</a:t>
            </a:r>
          </a:p>
          <a:p>
            <a:pPr/>
            <a:r>
              <a:rPr lang="de-DE" sz="1600" dirty="0"/>
              <a:t>es ein sogenanntes neutrales Element mit einer besonderen Eigenschaft.</a:t>
            </a:r>
          </a:p>
          <a:p>
            <a:pPr/>
            <a:r>
              <a:rPr lang="de-DE" sz="1600" dirty="0"/>
              <a:t> </a:t>
            </a:r>
          </a:p>
          <a:p>
            <a:pPr/>
            <a:r>
              <a:rPr lang="de-DE" sz="1600" dirty="0"/>
              <a:t> • Beispielsweise ist das neutrale Element der</a:t>
            </a:r>
          </a:p>
          <a:p>
            <a:pPr/>
            <a:r>
              <a:rPr lang="de-DE" sz="1600" dirty="0"/>
              <a:t>Additio n in den reellen Zahlen die 0, denn</a:t>
            </a:r>
          </a:p>
          <a:p>
            <a:pPr/>
            <a:r>
              <a:rPr lang="de-DE" sz="1600" dirty="0"/>
              <a:t>es gilt x + 0 = x für alle x ∈ R .</a:t>
            </a:r>
          </a:p>
          <a:p>
            <a:pPr/>
            <a:r>
              <a:rPr lang="de-DE" sz="1600" dirty="0"/>
              <a:t>• Da außerdem x</a:t>
            </a:r>
          </a:p>
          <a:p>
            <a:pPr/>
            <a:r>
              <a:rPr lang="de-DE" sz="1600" dirty="0"/>
              <a:t> ∙ 1 = x für alle x ∈ ℝ gilt, ist 1 das neutrale</a:t>
            </a:r>
          </a:p>
          <a:p>
            <a:pPr/>
            <a:r>
              <a:rPr lang="de-DE" sz="1600" dirty="0"/>
              <a:t>Element der Multiplikation in der Menge der reellen</a:t>
            </a:r>
          </a:p>
          <a:p>
            <a:pPr/>
            <a:r>
              <a:rPr lang="de-DE" sz="1600" dirty="0"/>
              <a:t>Zahlen .</a:t>
            </a:r>
          </a:p>
          <a:p>
            <a:pPr/>
            <a:r>
              <a:rPr lang="de-DE" sz="1600" dirty="0"/>
              <a:t> </a:t>
            </a:r>
          </a:p>
          <a:p>
            <a:pPr/>
            <a:r>
              <a:rPr lang="de-DE" sz="1600" dirty="0"/>
              <a:t> Bestimmen Sie jeweils das neutrale Element für die Addition</a:t>
            </a:r>
          </a:p>
          <a:p>
            <a:pPr/>
            <a:r>
              <a:rPr lang="de-DE" sz="1600" dirty="0"/>
              <a:t>und die Multiplikation in der Menge der Matrizen ,</a:t>
            </a:r>
          </a:p>
          <a:p>
            <a:pPr/>
            <a:r>
              <a:rPr lang="de-DE" sz="1600" dirty="0"/>
              <a:t>also Matrizen</a:t>
            </a:r>
          </a:p>
          <a:p>
            <a:pPr/>
            <a:r>
              <a:rPr lang="de-DE" sz="1600" dirty="0"/>
              <a:t> </a:t>
            </a:r>
          </a:p>
          <a:p>
            <a:pPr/>
            <a:r>
              <a:rPr lang="de-DE" sz="1600" dirty="0"/>
              <a:t> • N 1 mit A</a:t>
            </a:r>
          </a:p>
          <a:p>
            <a:pPr/>
            <a:r>
              <a:rPr lang="de-DE" sz="1600" dirty="0"/>
              <a:t> + N 1 = A und</a:t>
            </a:r>
          </a:p>
          <a:p>
            <a:pPr/>
            <a:r>
              <a:rPr lang="de-DE" sz="1600" dirty="0"/>
              <a:t>• N 2 mit A</a:t>
            </a:r>
          </a:p>
          <a:p>
            <a:pPr/>
            <a:r>
              <a:rPr lang="de-DE" sz="1600" dirty="0"/>
              <a:t> ∙ N 2 = A .</a:t>
            </a:r>
          </a:p>
          <a:p>
            <a:pPr/>
            <a:r>
              <a:rPr lang="de-DE" sz="1600" dirty="0"/>
              <a:t> </a:t>
            </a:r>
          </a:p>
          <a:p>
            <a:pPr/>
            <a:r>
              <a:rPr lang="de-DE" sz="1600" dirty="0"/>
              <a:t>Notizen:</a:t>
            </a:r>
          </a:p>
          <a:p>
            <a:pPr/>
            <a:r>
              <a:rPr lang="de-DE" sz="1600" dirty="0"/>
              <a:t>[Bild]</a:t>
            </a:r>
          </a:p>
          <a:p>
            <a:pPr/>
            <a:r>
              <a:rPr lang="de-DE" sz="1600" dirty="0"/>
              <a:t> [Bild]</a:t>
            </a:r>
          </a:p>
          <a:p>
            <a:pPr/>
            <a:r>
              <a:rPr lang="de-DE" sz="1600" dirty="0"/>
              <a:t> </a:t>
            </a:r>
          </a:p>
          <a:p>
            <a:pPr/>
            <a:r>
              <a:rPr lang="de-DE" sz="1600" dirty="0"/>
              <a:t> [Bild]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Das neutrale Element der Addition und Multiplikation</a:t>
            </a:r>
          </a:p>
        </p:txBody>
      </p:sp>
      <p:sp>
        <p:nvSpPr>
          <p:cNvPr id="3" name="Text"/>
          <p:cNvSpPr txBox="1"/>
          <p:nvPr/>
        </p:nvSpPr>
        <p:spPr>
          <a:xfrm>
            <a:off x="457200" y="1600200"/>
            <a:ext cx="8229600" cy="4800600"/>
          </a:xfrm>
          <a:prstGeom prst="rect">
            <a:avLst/>
          </a:prstGeom>
        </p:spPr>
        <p:txBody>
          <a:bodyPr wrap="square" rtlCol="0"/>
          <a:lstStyle/>
          <a:p>
            <a:r>
              <a:rPr lang="de-DE" sz="1600" dirty="0"/>
              <a:t>Gesucht ist das neutrale Element der Matrizenaddition .</a:t>
            </a:r>
          </a:p>
          <a:p>
            <a:pPr/>
            <a:r>
              <a:rPr lang="de-DE" sz="1600" dirty="0"/>
              <a:t> Es soll gelten:</a:t>
            </a:r>
          </a:p>
          <a:p>
            <a:pPr/>
            <a:r>
              <a:rPr lang="de-DE" sz="1600" dirty="0"/>
              <a:t> A 1 + N = A 2</a:t>
            </a:r>
          </a:p>
          <a:p>
            <a:pPr/>
            <a:r>
              <a:rPr lang="de-DE" sz="1600" dirty="0"/>
              <a:t> wobei</a:t>
            </a:r>
          </a:p>
          <a:p>
            <a:pPr/>
            <a:r>
              <a:rPr lang="de-DE" sz="1600" dirty="0"/>
              <a:t> A 1 = A 2</a:t>
            </a:r>
          </a:p>
          <a:p>
            <a:pPr/>
            <a:r>
              <a:rPr lang="de-DE" sz="1600" dirty="0"/>
              <a:t> sein soll.</a:t>
            </a:r>
          </a:p>
          <a:p>
            <a:pPr/>
            <a:r>
              <a:rPr lang="de-DE" sz="1600" dirty="0"/>
              <a:t> Das neutrale Element der Matrizenaddition ist die Nullmatrix .</a:t>
            </a:r>
          </a:p>
          <a:p>
            <a:pPr/>
            <a:r>
              <a:rPr lang="de-DE" sz="1600" dirty="0"/>
              <a:t> Eigenschaften der Nullmatrix:</a:t>
            </a:r>
          </a:p>
          <a:p>
            <a:pPr/>
            <a:r>
              <a:rPr lang="de-DE" sz="1600" dirty="0"/>
              <a:t> • Alle Einträge sind Null.</a:t>
            </a:r>
          </a:p>
          <a:p>
            <a:pPr/>
            <a:r>
              <a:rPr lang="de-DE" sz="1600" dirty="0"/>
              <a:t>• Die Nullmatrix hat dieselbe Dimension wie die Matrix, zu der sie addiert wird.</a:t>
            </a:r>
          </a:p>
          <a:p>
            <a:pPr/>
            <a:r>
              <a:rPr lang="de-DE" sz="1600" dirty="0"/>
              <a:t> Beispiel:</a:t>
            </a:r>
          </a:p>
          <a:p>
            <a:pPr/>
            <a:r>
              <a:rPr lang="de-DE" sz="1600" dirty="0"/>
              <a:t> N = ( 0 0 0 0 )</a:t>
            </a:r>
          </a:p>
          <a:p>
            <a:pPr/>
            <a:r>
              <a:rPr lang="de-DE" sz="1600" dirty="0"/>
              <a:t> Dann gilt:</a:t>
            </a:r>
          </a:p>
          <a:p>
            <a:pPr/>
            <a:r>
              <a:rPr lang="de-DE" sz="1600" dirty="0"/>
              <a:t> A + N = A</a:t>
            </a:r>
          </a:p>
          <a:p>
            <a:pPr/>
            <a:r>
              <a:rPr lang="de-DE" sz="1600" dirty="0"/>
              <a:t> Beispiel 1: Quadratische Matrix</a:t>
            </a:r>
          </a:p>
          <a:p>
            <a:pPr/>
            <a:r>
              <a:rPr lang="de-DE" sz="1600" dirty="0"/>
              <a:t> ( 1 0 3 3 0 4 1 2 6 ) + ( 0 0 0 0 0 0 0 0 0 ) = ( 1 0 3 3 0 4 1 2 6 )</a:t>
            </a:r>
          </a:p>
          <a:p>
            <a:pPr/>
            <a:r>
              <a:rPr lang="de-DE" sz="1600" dirty="0"/>
              <a:t> Beispiel 2: Nicht-quadratische Matrix</a:t>
            </a:r>
          </a:p>
          <a:p>
            <a:pPr/>
            <a:r>
              <a:rPr lang="de-DE" sz="1600" dirty="0"/>
              <a:t> ( 2 7 3 1 1 5 ) + ( 0 0 0 0 0 0 ) = ( 2 7 3 1 1 5 )</a:t>
            </a:r>
          </a:p>
          <a:p>
            <a:pPr/>
            <a:r>
              <a:rPr lang="de-DE" sz="1600" dirty="0"/>
              <a:t> Merksatz</a:t>
            </a:r>
          </a:p>
          <a:p>
            <a:pPr/>
            <a:r>
              <a:rPr lang="de-DE" sz="1600" dirty="0"/>
              <a:t> </a:t>
            </a:r>
          </a:p>
          <a:p>
            <a:pPr/>
            <a:r>
              <a:rPr lang="de-DE" sz="1600" dirty="0"/>
              <a:t> • Das neutrale Element der Addition ist die Nullmatrix .</a:t>
            </a:r>
          </a:p>
          <a:p>
            <a:pPr/>
            <a:r>
              <a:rPr lang="de-DE" sz="1600" dirty="0"/>
              <a:t>• Das neutrale Element der Multiplikation ist die Einheitsmatrix .</a:t>
            </a:r>
          </a:p>
          <a:p>
            <a:pPr/>
            <a:r>
              <a:rPr lang="de-DE" sz="1600" dirty="0"/>
              <a:t>• Matrixaddition ist nur für Matrizen gleicher Dimension definiert.</a:t>
            </a:r>
          </a:p>
          <a:p>
            <a:pPr/>
            <a:r>
              <a:rPr lang="de-DE" sz="1600" dirty="0"/>
              <a:t>• Die Einheitsmatrix ist immer quadratisch .</a:t>
            </a:r>
          </a:p>
          <a:p>
            <a:pPr/>
            <a:r>
              <a:rPr lang="de-DE" sz="1600" dirty="0"/>
              <a:t> Gesucht ist das neutrale Element der Matrizenmultiplikation .</a:t>
            </a:r>
          </a:p>
          <a:p>
            <a:pPr/>
            <a:r>
              <a:rPr lang="de-DE" sz="1600" dirty="0"/>
              <a:t> Es soll gelten:</a:t>
            </a:r>
          </a:p>
          <a:p>
            <a:pPr/>
            <a:r>
              <a:rPr lang="de-DE" sz="1600" dirty="0"/>
              <a:t> </a:t>
            </a:r>
          </a:p>
          <a:p>
            <a:pPr/>
            <a:r>
              <a:rPr lang="de-DE" sz="1600" dirty="0"/>
              <a:t> A 1 ⋅ N = A 2 A_1 \cdot N = A_2</a:t>
            </a:r>
          </a:p>
          <a:p>
            <a:pPr/>
            <a:r>
              <a:rPr lang="de-DE" sz="1600" dirty="0"/>
              <a:t> </a:t>
            </a:r>
          </a:p>
          <a:p>
            <a:pPr/>
            <a:r>
              <a:rPr lang="de-DE" sz="1600" dirty="0"/>
              <a:t> wobei</a:t>
            </a:r>
          </a:p>
          <a:p>
            <a:pPr/>
            <a:r>
              <a:rPr lang="de-DE" sz="1600" dirty="0"/>
              <a:t> </a:t>
            </a:r>
          </a:p>
          <a:p>
            <a:pPr/>
            <a:r>
              <a:rPr lang="de-DE" sz="1600" dirty="0"/>
              <a:t> A 1 = A 2 A_1 = A_2</a:t>
            </a:r>
          </a:p>
          <a:p>
            <a:pPr/>
            <a:r>
              <a:rPr lang="de-DE" sz="1600" dirty="0"/>
              <a:t> </a:t>
            </a:r>
          </a:p>
          <a:p>
            <a:pPr/>
            <a:r>
              <a:rPr lang="de-DE" sz="1600" dirty="0"/>
              <a:t> sein soll.</a:t>
            </a:r>
          </a:p>
          <a:p>
            <a:pPr/>
            <a:r>
              <a:rPr lang="de-DE" sz="1600" dirty="0"/>
              <a:t> Das neutrale Element der Matrizenmultiplikation ist die Einheitsmatrix E E (an der Tafel mit N N bezeichnet).</a:t>
            </a:r>
          </a:p>
          <a:p>
            <a:pPr/>
            <a:r>
              <a:rPr lang="de-DE" sz="1600" dirty="0"/>
              <a:t> Eigenschaften der Einheitsmatrix:</a:t>
            </a:r>
          </a:p>
          <a:p>
            <a:pPr/>
            <a:r>
              <a:rPr lang="de-DE" sz="1600" dirty="0"/>
              <a:t> • Auf der Hauptdiagonalen stehen nur Einsen.</a:t>
            </a:r>
          </a:p>
          <a:p>
            <a:pPr/>
            <a:r>
              <a:rPr lang="de-DE" sz="1600" dirty="0"/>
              <a:t>• Alle anderen Einträge sind Null.</a:t>
            </a:r>
          </a:p>
          <a:p>
            <a:pPr/>
            <a:r>
              <a:rPr lang="de-DE" sz="1600" dirty="0"/>
              <a:t> Beispiel:</a:t>
            </a:r>
          </a:p>
          <a:p>
            <a:pPr/>
            <a:r>
              <a:rPr lang="de-DE" sz="1600" dirty="0"/>
              <a:t> </a:t>
            </a:r>
          </a:p>
          <a:p>
            <a:pPr/>
            <a:r>
              <a:rPr lang="de-DE" sz="1600" dirty="0"/>
              <a:t> E = ( 1 0 0 0 1 0 0 0 1 ) E=</a:t>
            </a:r>
          </a:p>
          <a:p>
            <a:pPr/>
            <a:r>
              <a:rPr lang="de-DE" sz="1600" dirty="0"/>
              <a:t>\begin{pmatrix}</a:t>
            </a:r>
          </a:p>
          <a:p>
            <a:pPr/>
            <a:r>
              <a:rPr lang="de-DE" sz="1600" dirty="0"/>
              <a:t>1 &amp; 0 &amp; 0\\</a:t>
            </a:r>
          </a:p>
          <a:p>
            <a:pPr/>
            <a:r>
              <a:rPr lang="de-DE" sz="1600" dirty="0"/>
              <a:t>0 &amp; 1 &amp; 0\\</a:t>
            </a:r>
          </a:p>
          <a:p>
            <a:pPr/>
            <a:r>
              <a:rPr lang="de-DE" sz="1600" dirty="0"/>
              <a:t>0 &amp; 0 &amp; 1</a:t>
            </a:r>
          </a:p>
          <a:p>
            <a:pPr/>
            <a:r>
              <a:rPr lang="de-DE" sz="1600" dirty="0"/>
              <a:t>\end{pmatrix}</a:t>
            </a:r>
          </a:p>
          <a:p>
            <a:pPr/>
            <a:r>
              <a:rPr lang="de-DE" sz="1600" dirty="0"/>
              <a:t> </a:t>
            </a:r>
          </a:p>
          <a:p>
            <a:pPr/>
            <a:r>
              <a:rPr lang="de-DE" sz="1600" dirty="0"/>
              <a:t> Dann gilt für jede passende Matrix A A :</a:t>
            </a:r>
          </a:p>
          <a:p>
            <a:pPr/>
            <a:r>
              <a:rPr lang="de-DE" sz="1600" dirty="0"/>
              <a:t> </a:t>
            </a:r>
          </a:p>
          <a:p>
            <a:pPr/>
            <a:r>
              <a:rPr lang="de-DE" sz="1600" dirty="0"/>
              <a:t> A ⋅ E = E ⋅ A = A A \cdot E = E \cdot A = A</a:t>
            </a:r>
          </a:p>
          <a:p>
            <a:pPr/>
            <a:r>
              <a:rPr lang="de-DE" sz="1600" dirty="0"/>
              <a:t> </a:t>
            </a:r>
          </a:p>
          <a:p>
            <a:pPr/>
            <a:r>
              <a:rPr lang="de-DE" sz="1600" dirty="0"/>
              <a:t> Beispiel 1: Quadratische Matrix</a:t>
            </a:r>
          </a:p>
          <a:p>
            <a:pPr/>
            <a:r>
              <a:rPr lang="de-DE" sz="1600" dirty="0"/>
              <a:t> </a:t>
            </a:r>
          </a:p>
          <a:p>
            <a:pPr/>
            <a:r>
              <a:rPr lang="de-DE" sz="1600" dirty="0"/>
              <a:t> ( 2 3 1 1 7 5 9 8 3 ) ⋅ ( 1 0 0 0 1 0 0 0 1 ) = ( 2 3 1 1 7 5 9 8 3 ) \begin{pmatrix}</a:t>
            </a:r>
          </a:p>
          <a:p>
            <a:pPr/>
            <a:r>
              <a:rPr lang="de-DE" sz="1600" dirty="0"/>
              <a:t>2 &amp; 3 &amp; 1\\</a:t>
            </a:r>
          </a:p>
          <a:p>
            <a:pPr/>
            <a:r>
              <a:rPr lang="de-DE" sz="1600" dirty="0"/>
              <a:t>1 &amp; 7 &amp; 5\\</a:t>
            </a:r>
          </a:p>
          <a:p>
            <a:pPr/>
            <a:r>
              <a:rPr lang="de-DE" sz="1600" dirty="0"/>
              <a:t>9 &amp; 8 &amp; 3</a:t>
            </a:r>
          </a:p>
          <a:p>
            <a:pPr/>
            <a:r>
              <a:rPr lang="de-DE" sz="1600" dirty="0"/>
              <a:t>\end{pmatrix}</a:t>
            </a:r>
          </a:p>
          <a:p>
            <a:pPr/>
            <a:r>
              <a:rPr lang="de-DE" sz="1600" dirty="0"/>
              <a:t>\cdot</a:t>
            </a:r>
          </a:p>
          <a:p>
            <a:pPr/>
            <a:r>
              <a:rPr lang="de-DE" sz="1600" dirty="0"/>
              <a:t>\begin{pmatrix}</a:t>
            </a:r>
          </a:p>
          <a:p>
            <a:pPr/>
            <a:r>
              <a:rPr lang="de-DE" sz="1600" dirty="0"/>
              <a:t>1 &amp; 0 &amp; 0\\</a:t>
            </a:r>
          </a:p>
          <a:p>
            <a:pPr/>
            <a:r>
              <a:rPr lang="de-DE" sz="1600" dirty="0"/>
              <a:t>0 &amp; 1 &amp; 0\\</a:t>
            </a:r>
          </a:p>
          <a:p>
            <a:pPr/>
            <a:r>
              <a:rPr lang="de-DE" sz="1600" dirty="0"/>
              <a:t>0 &amp; 0 &amp; 1</a:t>
            </a:r>
          </a:p>
          <a:p>
            <a:pPr/>
            <a:r>
              <a:rPr lang="de-DE" sz="1600" dirty="0"/>
              <a:t>\end{pmatrix}</a:t>
            </a:r>
          </a:p>
          <a:p>
            <a:pPr/>
            <a:r>
              <a:rPr lang="de-DE" sz="1600" dirty="0"/>
              <a:t>=</a:t>
            </a:r>
          </a:p>
          <a:p>
            <a:pPr/>
            <a:r>
              <a:rPr lang="de-DE" sz="1600" dirty="0"/>
              <a:t>\begin{pmatrix}</a:t>
            </a:r>
          </a:p>
          <a:p>
            <a:pPr/>
            <a:r>
              <a:rPr lang="de-DE" sz="1600" dirty="0"/>
              <a:t>2 &amp; 3 &amp; 1\\</a:t>
            </a:r>
          </a:p>
          <a:p>
            <a:pPr/>
            <a:r>
              <a:rPr lang="de-DE" sz="1600" dirty="0"/>
              <a:t>1 &amp; 7 &amp; 5\\</a:t>
            </a:r>
          </a:p>
          <a:p>
            <a:pPr/>
            <a:r>
              <a:rPr lang="de-DE" sz="1600" dirty="0"/>
              <a:t>9 &amp; 8 &amp; 3</a:t>
            </a:r>
          </a:p>
          <a:p>
            <a:pPr/>
            <a:r>
              <a:rPr lang="de-DE" sz="1600" dirty="0"/>
              <a:t>\end{pmatrix}</a:t>
            </a:r>
          </a:p>
          <a:p>
            <a:pPr/>
            <a:r>
              <a:rPr lang="de-DE" sz="1600" dirty="0"/>
              <a:t> </a:t>
            </a:r>
          </a:p>
          <a:p>
            <a:pPr/>
            <a:r>
              <a:rPr lang="de-DE" sz="1600" dirty="0"/>
              <a:t> Beispiel 2: Nicht-quadratische Matrix</a:t>
            </a:r>
          </a:p>
          <a:p>
            <a:pPr/>
            <a:r>
              <a:rPr lang="de-DE" sz="1600" dirty="0"/>
              <a:t> Die Einheitsmatrix bleibt quadratisch und muss zur inneren Dimension der Multiplikation passen:</a:t>
            </a:r>
          </a:p>
          <a:p>
            <a:pPr/>
            <a:r>
              <a:rPr lang="de-DE" sz="1600" dirty="0"/>
              <a:t> </a:t>
            </a:r>
          </a:p>
          <a:p>
            <a:pPr/>
            <a:r>
              <a:rPr lang="de-DE" sz="1600" dirty="0"/>
              <a:t> ( m × n ) ⋅ ( n × n ) (m \times n)\cdot(n \times n)</a:t>
            </a:r>
          </a:p>
          <a:p>
            <a:pPr/>
            <a:r>
              <a:rPr lang="de-DE" sz="1600" dirty="0"/>
              <a:t> </a:t>
            </a:r>
          </a:p>
          <a:p>
            <a:pPr/>
            <a:r>
              <a:rPr lang="de-DE" sz="1600" dirty="0"/>
              <a:t> Beispiel:</a:t>
            </a:r>
          </a:p>
          <a:p>
            <a:pPr/>
            <a:r>
              <a:rPr lang="de-DE" sz="1600" dirty="0"/>
              <a:t> </a:t>
            </a:r>
          </a:p>
          <a:p>
            <a:pPr/>
            <a:r>
              <a:rPr lang="de-DE" sz="1600" dirty="0"/>
              <a:t> ( 2 3 1 1 7 5 ) ⋅ ( 1 0 0 0 1 0 0 0 1 ) = ( 2 3 1 1 7 5 ) \begin{pmatrix}</a:t>
            </a:r>
          </a:p>
          <a:p>
            <a:pPr/>
            <a:r>
              <a:rPr lang="de-DE" sz="1600" dirty="0"/>
              <a:t>2 &amp; 3 &amp; 1\\</a:t>
            </a:r>
          </a:p>
          <a:p>
            <a:pPr/>
            <a:r>
              <a:rPr lang="de-DE" sz="1600" dirty="0"/>
              <a:t>1 &amp; 7 &amp; 5</a:t>
            </a:r>
          </a:p>
          <a:p>
            <a:pPr/>
            <a:r>
              <a:rPr lang="de-DE" sz="1600" dirty="0"/>
              <a:t>\end{pmatrix}</a:t>
            </a:r>
          </a:p>
          <a:p>
            <a:pPr/>
            <a:r>
              <a:rPr lang="de-DE" sz="1600" dirty="0"/>
              <a:t>\cdot</a:t>
            </a:r>
          </a:p>
          <a:p>
            <a:pPr/>
            <a:r>
              <a:rPr lang="de-DE" sz="1600" dirty="0"/>
              <a:t>\begin{pmatrix}</a:t>
            </a:r>
          </a:p>
          <a:p>
            <a:pPr/>
            <a:r>
              <a:rPr lang="de-DE" sz="1600" dirty="0"/>
              <a:t>1 &amp; 0 &amp; 0\\</a:t>
            </a:r>
          </a:p>
          <a:p>
            <a:pPr/>
            <a:r>
              <a:rPr lang="de-DE" sz="1600" dirty="0"/>
              <a:t>0 &amp; 1 &amp; 0\\</a:t>
            </a:r>
          </a:p>
          <a:p>
            <a:pPr/>
            <a:r>
              <a:rPr lang="de-DE" sz="1600" dirty="0"/>
              <a:t>0 &amp; 0 &amp; 1</a:t>
            </a:r>
          </a:p>
          <a:p>
            <a:pPr/>
            <a:r>
              <a:rPr lang="de-DE" sz="1600" dirty="0"/>
              <a:t>\end{pmatrix}</a:t>
            </a:r>
          </a:p>
          <a:p>
            <a:pPr/>
            <a:r>
              <a:rPr lang="de-DE" sz="1600" dirty="0"/>
              <a:t>=</a:t>
            </a:r>
          </a:p>
          <a:p>
            <a:pPr/>
            <a:r>
              <a:rPr lang="de-DE" sz="1600" dirty="0"/>
              <a:t>\begin{pmatrix}</a:t>
            </a:r>
          </a:p>
          <a:p>
            <a:pPr/>
            <a:r>
              <a:rPr lang="de-DE" sz="1600" dirty="0"/>
              <a:t>2 &amp; 3 &amp; 1\\</a:t>
            </a:r>
          </a:p>
          <a:p>
            <a:pPr/>
            <a:r>
              <a:rPr lang="de-DE" sz="1600" dirty="0"/>
              <a:t>1 &amp; 7 &amp; 5</a:t>
            </a:r>
          </a:p>
          <a:p>
            <a:pPr/>
            <a:r>
              <a:rPr lang="de-DE" sz="1600" dirty="0"/>
              <a:t>\end{pmatrix}</a:t>
            </a:r>
          </a:p>
          <a:p>
            <a:pPr/>
            <a:r>
              <a:rPr lang="de-DE" sz="1600" dirty="0"/>
              <a:t> </a:t>
            </a:r>
          </a:p>
          <a:p>
            <a:pPr/>
            <a:r>
              <a:rPr lang="de-DE" sz="1600" dirty="0"/>
              <a:t>Addition von Matrizen: Nullmatrix</a:t>
            </a:r>
          </a:p>
          <a:p>
            <a:pPr/>
            <a:r>
              <a:rPr lang="de-DE" sz="1600" dirty="0"/>
              <a:t> Gesucht ist das neutrale Element der Matrizenaddition .</a:t>
            </a:r>
          </a:p>
          <a:p>
            <a:pPr/>
            <a:r>
              <a:rPr lang="de-DE" sz="1600" dirty="0"/>
              <a:t> A 1 + N = A 2 wobei A 1 = A 2 sein soll.</a:t>
            </a:r>
          </a:p>
          <a:p>
            <a:pPr/>
            <a:r>
              <a:rPr lang="de-DE" sz="1600" dirty="0"/>
              <a:t> </a:t>
            </a:r>
          </a:p>
          <a:p>
            <a:pPr/>
            <a:r>
              <a:rPr lang="de-DE" sz="1600" dirty="0"/>
              <a:t> Das neutrale Element der Matrizenaddition ist die Nullmatrix .</a:t>
            </a:r>
          </a:p>
          <a:p>
            <a:pPr/>
            <a:r>
              <a:rPr lang="de-DE" sz="1600" dirty="0"/>
              <a:t> Eigenschaften der Nullmatrix:</a:t>
            </a:r>
          </a:p>
          <a:p>
            <a:pPr/>
            <a:r>
              <a:rPr lang="de-DE" sz="1600" dirty="0"/>
              <a:t> • Alle Einträge sind Null.</a:t>
            </a:r>
          </a:p>
          <a:p>
            <a:pPr/>
            <a:r>
              <a:rPr lang="de-DE" sz="1600" dirty="0"/>
              <a:t>• Die Nullmatrix hat dieselbe Dimension wie die Matrix, zu der sie addiert wird.</a:t>
            </a:r>
          </a:p>
          <a:p>
            <a:pPr/>
            <a:r>
              <a:rPr lang="de-DE" sz="1600" dirty="0"/>
              <a:t> </a:t>
            </a:r>
          </a:p>
          <a:p>
            <a:pPr/>
            <a:r>
              <a:rPr lang="de-DE" sz="1600" dirty="0"/>
              <a:t> Beispiel:</a:t>
            </a:r>
          </a:p>
          <a:p>
            <a:pPr/>
            <a:r>
              <a:rPr lang="de-DE" sz="1600" dirty="0"/>
              <a:t> </a:t>
            </a:r>
          </a:p>
          <a:p>
            <a:pPr/>
            <a:r>
              <a:rPr lang="de-DE" sz="1600" dirty="0"/>
              <a:t> N = ( 0 0 0 0 ) N=</a:t>
            </a:r>
          </a:p>
          <a:p>
            <a:pPr/>
            <a:r>
              <a:rPr lang="de-DE" sz="1600" dirty="0"/>
              <a:t>\begin{pmatrix}</a:t>
            </a:r>
          </a:p>
          <a:p>
            <a:pPr/>
            <a:r>
              <a:rPr lang="de-DE" sz="1600" dirty="0"/>
              <a:t>0 &amp; 0\\</a:t>
            </a:r>
          </a:p>
          <a:p>
            <a:pPr/>
            <a:r>
              <a:rPr lang="de-DE" sz="1600" dirty="0"/>
              <a:t>0 &amp; 0</a:t>
            </a:r>
          </a:p>
          <a:p>
            <a:pPr/>
            <a:r>
              <a:rPr lang="de-DE" sz="1600" dirty="0"/>
              <a:t>\end{pmatrix}</a:t>
            </a:r>
          </a:p>
          <a:p>
            <a:pPr/>
            <a:r>
              <a:rPr lang="de-DE" sz="1600" dirty="0"/>
              <a:t> </a:t>
            </a:r>
          </a:p>
          <a:p>
            <a:pPr/>
            <a:r>
              <a:rPr lang="de-DE" sz="1600" dirty="0"/>
              <a:t> Dann gilt:</a:t>
            </a:r>
          </a:p>
          <a:p>
            <a:pPr/>
            <a:r>
              <a:rPr lang="de-DE" sz="1600" dirty="0"/>
              <a:t> </a:t>
            </a:r>
          </a:p>
          <a:p>
            <a:pPr/>
            <a:r>
              <a:rPr lang="de-DE" sz="1600" dirty="0"/>
              <a:t> A + N = A A + N = A A+N=A</a:t>
            </a:r>
          </a:p>
          <a:p>
            <a:pPr/>
            <a:r>
              <a:rPr lang="de-DE" sz="1600" dirty="0"/>
              <a:t> </a:t>
            </a:r>
          </a:p>
          <a:p>
            <a:pPr/>
            <a:r>
              <a:rPr lang="de-DE" sz="1600" dirty="0"/>
              <a:t> Beispiel 1: Quadratische Matrix</a:t>
            </a:r>
          </a:p>
          <a:p>
            <a:pPr/>
            <a:r>
              <a:rPr lang="de-DE" sz="1600" dirty="0"/>
              <a:t> Beispiel 2: Nicht-quadratische Matrix</a:t>
            </a:r>
          </a:p>
          <a:p>
            <a:pPr/>
            <a:r>
              <a:rPr lang="de-DE" sz="1600" dirty="0"/>
              <a:t> </a:t>
            </a:r>
          </a:p>
          <a:p>
            <a:pPr/>
            <a:r>
              <a:rPr lang="de-DE" sz="1600" dirty="0"/>
              <a:t> ( 2 7 3 1 1 5 ) + ( 0 0 0 0 0 0 ) = ( 2 7 3 1 1 5 ) \begin{pmatrix}</a:t>
            </a:r>
          </a:p>
          <a:p>
            <a:pPr/>
            <a:r>
              <a:rPr lang="de-DE" sz="1600" dirty="0"/>
              <a:t>2 &amp; 7 &amp; 3\\</a:t>
            </a:r>
          </a:p>
          <a:p>
            <a:pPr/>
            <a:r>
              <a:rPr lang="de-DE" sz="1600" dirty="0"/>
              <a:t>1 &amp; 1 &amp; 5</a:t>
            </a:r>
          </a:p>
          <a:p>
            <a:pPr/>
            <a:r>
              <a:rPr lang="de-DE" sz="1600" dirty="0"/>
              <a:t>\end{pmatrix}</a:t>
            </a:r>
          </a:p>
          <a:p>
            <a:pPr/>
            <a:r>
              <a:rPr lang="de-DE" sz="1600" dirty="0"/>
              <a:t>+</a:t>
            </a:r>
          </a:p>
          <a:p>
            <a:pPr/>
            <a:r>
              <a:rPr lang="de-DE" sz="1600" dirty="0"/>
              <a:t>\begin{pmatrix}</a:t>
            </a:r>
          </a:p>
          <a:p>
            <a:pPr/>
            <a:r>
              <a:rPr lang="de-DE" sz="1600" dirty="0"/>
              <a:t>0 &amp; 0 &amp; 0\\</a:t>
            </a:r>
          </a:p>
          <a:p>
            <a:pPr/>
            <a:r>
              <a:rPr lang="de-DE" sz="1600" dirty="0"/>
              <a:t>0 &amp; 0 &amp; 0</a:t>
            </a:r>
          </a:p>
          <a:p>
            <a:pPr/>
            <a:r>
              <a:rPr lang="de-DE" sz="1600" dirty="0"/>
              <a:t>\end{pmatrix}</a:t>
            </a:r>
          </a:p>
          <a:p>
            <a:pPr/>
            <a:r>
              <a:rPr lang="de-DE" sz="1600" dirty="0"/>
              <a:t>=</a:t>
            </a:r>
          </a:p>
          <a:p>
            <a:pPr/>
            <a:r>
              <a:rPr lang="de-DE" sz="1600" dirty="0"/>
              <a:t>\begin{pmatrix}</a:t>
            </a:r>
          </a:p>
          <a:p>
            <a:pPr/>
            <a:r>
              <a:rPr lang="de-DE" sz="1600" dirty="0"/>
              <a:t>2 &amp; 7 &amp; 3\\</a:t>
            </a:r>
          </a:p>
          <a:p>
            <a:pPr/>
            <a:r>
              <a:rPr lang="de-DE" sz="1600" dirty="0"/>
              <a:t>1 &amp; 1 &amp; 5</a:t>
            </a:r>
          </a:p>
          <a:p>
            <a:pPr/>
            <a:r>
              <a:rPr lang="de-DE" sz="1600" dirty="0"/>
              <a:t>\end{pmatrix} (21​71​35​)+(00​00​00​)=(21​71​35​)</a:t>
            </a:r>
          </a:p>
          <a:p>
            <a:pPr/>
            <a:r>
              <a:rPr lang="de-DE" sz="1600" dirty="0"/>
              <a:t> </a:t>
            </a:r>
          </a:p>
          <a:p>
            <a:pPr/>
            <a:r>
              <a:rPr lang="de-DE" sz="1600" dirty="0"/>
              <a:t>Gesucht ist das neutrale Element der Matrizenmultiplikation .</a:t>
            </a:r>
          </a:p>
          <a:p>
            <a:pPr/>
            <a:r>
              <a:rPr lang="de-DE" sz="1600" dirty="0"/>
              <a:t> Es soll gelten:</a:t>
            </a:r>
          </a:p>
          <a:p>
            <a:pPr/>
            <a:r>
              <a:rPr lang="de-DE" sz="1600" dirty="0"/>
              <a:t> </a:t>
            </a:r>
          </a:p>
          <a:p>
            <a:pPr/>
            <a:r>
              <a:rPr lang="de-DE" sz="1600" dirty="0"/>
              <a:t> A 1 ⋅ N = A 2 A_1 \cdot N = A_2 A1​⋅N=A2​</a:t>
            </a:r>
          </a:p>
          <a:p>
            <a:pPr/>
            <a:r>
              <a:rPr lang="de-DE" sz="1600" dirty="0"/>
              <a:t> </a:t>
            </a:r>
          </a:p>
          <a:p>
            <a:pPr/>
            <a:r>
              <a:rPr lang="de-DE" sz="1600" dirty="0"/>
              <a:t> wobei</a:t>
            </a:r>
          </a:p>
          <a:p>
            <a:pPr/>
            <a:r>
              <a:rPr lang="de-DE" sz="1600" dirty="0"/>
              <a:t> </a:t>
            </a:r>
          </a:p>
          <a:p>
            <a:pPr/>
            <a:r>
              <a:rPr lang="de-DE" sz="1600" dirty="0"/>
              <a:t> A 1 = A 2 A_1 = A_2 A1​=A2​</a:t>
            </a:r>
          </a:p>
          <a:p>
            <a:pPr/>
            <a:r>
              <a:rPr lang="de-DE" sz="1600" dirty="0"/>
              <a:t> </a:t>
            </a:r>
          </a:p>
          <a:p>
            <a:pPr/>
            <a:r>
              <a:rPr lang="de-DE" sz="1600" dirty="0"/>
              <a:t> sein soll.</a:t>
            </a:r>
          </a:p>
          <a:p>
            <a:pPr/>
            <a:r>
              <a:rPr lang="de-DE" sz="1600" dirty="0"/>
              <a:t> Das neutrale Element der Matrizenmultiplikation ist die Einheitsmatrix E E E (an der Tafel mit N N N bezeichnet).</a:t>
            </a:r>
          </a:p>
          <a:p>
            <a:pPr/>
            <a:r>
              <a:rPr lang="de-DE" sz="1600" dirty="0"/>
              <a:t> Eigenschaften der Einheitsmatrix:</a:t>
            </a:r>
          </a:p>
          <a:p>
            <a:pPr/>
            <a:r>
              <a:rPr lang="de-DE" sz="1600" dirty="0"/>
              <a:t> • Auf der Hauptdiagonalen stehen nur Einsen.</a:t>
            </a:r>
          </a:p>
          <a:p>
            <a:pPr/>
            <a:r>
              <a:rPr lang="de-DE" sz="1600" dirty="0"/>
              <a:t>• Alle anderen Einträge sind Null.</a:t>
            </a:r>
          </a:p>
          <a:p>
            <a:pPr/>
            <a:r>
              <a:rPr lang="de-DE" sz="1600" dirty="0"/>
              <a:t> Beispiel:</a:t>
            </a:r>
          </a:p>
          <a:p>
            <a:pPr/>
            <a:r>
              <a:rPr lang="de-DE" sz="1600" dirty="0"/>
              <a:t> </a:t>
            </a:r>
          </a:p>
          <a:p>
            <a:pPr/>
            <a:r>
              <a:rPr lang="de-DE" sz="1600" dirty="0"/>
              <a:t> E = ( 1 0 0 0 1 0 0 0 1 ) E=</a:t>
            </a:r>
          </a:p>
          <a:p>
            <a:pPr/>
            <a:r>
              <a:rPr lang="de-DE" sz="1600" dirty="0"/>
              <a:t>\begin{pmatrix}</a:t>
            </a:r>
          </a:p>
          <a:p>
            <a:pPr/>
            <a:r>
              <a:rPr lang="de-DE" sz="1600" dirty="0"/>
              <a:t>1 &amp; 0 &amp; 0\\</a:t>
            </a:r>
          </a:p>
          <a:p>
            <a:pPr/>
            <a:r>
              <a:rPr lang="de-DE" sz="1600" dirty="0"/>
              <a:t>0 &amp; 1 &amp; 0\\</a:t>
            </a:r>
          </a:p>
          <a:p>
            <a:pPr/>
            <a:r>
              <a:rPr lang="de-DE" sz="1600" dirty="0"/>
              <a:t>0 &amp; 0 &amp; 1</a:t>
            </a:r>
          </a:p>
          <a:p>
            <a:pPr/>
            <a:r>
              <a:rPr lang="de-DE" sz="1600" dirty="0"/>
              <a:t>\end{pmatrix} E=​</a:t>
            </a:r>
          </a:p>
          <a:p>
            <a:pPr/>
            <a:r>
              <a:rPr lang="de-DE" sz="1600" dirty="0"/>
              <a:t> Dann gilt für jede passende Matrix A A A:</a:t>
            </a:r>
          </a:p>
          <a:p>
            <a:pPr/>
            <a:r>
              <a:rPr lang="de-DE" sz="1600" dirty="0"/>
              <a:t> </a:t>
            </a:r>
          </a:p>
          <a:p>
            <a:pPr/>
            <a:r>
              <a:rPr lang="de-DE" sz="1600" dirty="0"/>
              <a:t> A ⋅ E = E ⋅ A = 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Prozesse Schokolade</a:t>
            </a:r>
          </a:p>
        </p:txBody>
      </p:sp>
      <p:sp>
        <p:nvSpPr>
          <p:cNvPr id="3" name="Text"/>
          <p:cNvSpPr txBox="1"/>
          <p:nvPr/>
        </p:nvSpPr>
        <p:spPr>
          <a:xfrm>
            <a:off x="457200" y="1600200"/>
            <a:ext cx="8229600" cy="4800600"/>
          </a:xfrm>
          <a:prstGeom prst="rect">
            <a:avLst/>
          </a:prstGeom>
        </p:spPr>
        <p:txBody>
          <a:bodyPr wrap="square" rtlCol="0"/>
          <a:lstStyle/>
          <a:p>
            <a:r>
              <a:rPr lang="de-DE" sz="1600" dirty="0"/>
              <a:t>6g</a:t>
            </a:r>
          </a:p>
          <a:p>
            <a:pPr/>
            <a:r>
              <a:rPr lang="de-DE" sz="1600" dirty="0"/>
              <a:t> </a:t>
            </a:r>
          </a:p>
          <a:p>
            <a:pPr/>
            <a:r>
              <a:rPr lang="de-DE" sz="1600" dirty="0"/>
              <a:t>3g</a:t>
            </a:r>
          </a:p>
          <a:p>
            <a:pPr/>
            <a:r>
              <a:rPr lang="de-DE" sz="1600" dirty="0"/>
              <a:t> </a:t>
            </a:r>
          </a:p>
          <a:p>
            <a:pPr/>
            <a:r>
              <a:rPr lang="de-DE" sz="1600" dirty="0"/>
              <a:t>1g</a:t>
            </a:r>
          </a:p>
          <a:p>
            <a:pPr/>
            <a:r>
              <a:rPr lang="de-DE" sz="1600" dirty="0"/>
              <a:t> </a:t>
            </a:r>
          </a:p>
          <a:p>
            <a:pPr/>
            <a:r>
              <a:rPr lang="de-DE" sz="1600" dirty="0"/>
              <a:t>3g</a:t>
            </a:r>
          </a:p>
          <a:p>
            <a:pPr/>
            <a:r>
              <a:rPr lang="de-DE" sz="1600" dirty="0"/>
              <a:t> </a:t>
            </a:r>
          </a:p>
          <a:p>
            <a:pPr/>
            <a:r>
              <a:rPr lang="de-DE" sz="1600" dirty="0"/>
              <a:t>5g</a:t>
            </a:r>
          </a:p>
          <a:p>
            <a:pPr/>
            <a:r>
              <a:rPr lang="de-DE" sz="1600" dirty="0"/>
              <a:t> </a:t>
            </a:r>
          </a:p>
          <a:p>
            <a:pPr/>
            <a:r>
              <a:rPr lang="de-DE" sz="1600" dirty="0"/>
              <a:t>3g</a:t>
            </a:r>
          </a:p>
          <a:p>
            <a:pPr/>
            <a:r>
              <a:rPr lang="de-DE" sz="1600" dirty="0"/>
              <a:t> </a:t>
            </a:r>
          </a:p>
          <a:p>
            <a:pPr/>
            <a:r>
              <a:rPr lang="de-DE" sz="1600" dirty="0"/>
              <a:t>3g</a:t>
            </a:r>
          </a:p>
          <a:p>
            <a:pPr/>
            <a:r>
              <a:rPr lang="de-DE" sz="1600" dirty="0"/>
              <a:t> </a:t>
            </a:r>
          </a:p>
          <a:p>
            <a:pPr/>
            <a:r>
              <a:rPr lang="de-DE" sz="1600" dirty="0"/>
              <a:t>1g</a:t>
            </a:r>
          </a:p>
          <a:p>
            <a:pPr/>
            <a:r>
              <a:rPr lang="de-DE" sz="1600" dirty="0"/>
              <a:t> </a:t>
            </a:r>
          </a:p>
          <a:p>
            <a:pPr/>
            <a:r>
              <a:rPr lang="de-DE" sz="1600" dirty="0"/>
              <a:t>3g</a:t>
            </a:r>
          </a:p>
          <a:p>
            <a:pPr/>
            <a:r>
              <a:rPr lang="de-DE" sz="1600" dirty="0"/>
              <a:t> </a:t>
            </a:r>
          </a:p>
          <a:p>
            <a:pPr/>
            <a:r>
              <a:rPr lang="de-DE" sz="1600" dirty="0"/>
              <a:t>2g</a:t>
            </a:r>
          </a:p>
          <a:p>
            <a:pPr/>
            <a:r>
              <a:rPr lang="de-DE" sz="1600" dirty="0"/>
              <a:t> </a:t>
            </a:r>
          </a:p>
          <a:p>
            <a:pPr/>
            <a:r>
              <a:rPr lang="de-DE" sz="1600" dirty="0"/>
              <a:t>6</a:t>
            </a:r>
          </a:p>
          <a:p>
            <a:pPr/>
            <a:r>
              <a:rPr lang="de-DE" sz="1600" dirty="0"/>
              <a:t> </a:t>
            </a:r>
          </a:p>
          <a:p>
            <a:pPr/>
            <a:r>
              <a:rPr lang="de-DE" sz="1600" dirty="0"/>
              <a:t>2</a:t>
            </a:r>
          </a:p>
          <a:p>
            <a:pPr/>
            <a:r>
              <a:rPr lang="de-DE" sz="1600" dirty="0"/>
              <a:t> </a:t>
            </a:r>
          </a:p>
          <a:p>
            <a:pPr/>
            <a:r>
              <a:rPr lang="de-DE" sz="1600" dirty="0"/>
              <a:t>2</a:t>
            </a:r>
          </a:p>
          <a:p>
            <a:pPr/>
            <a:r>
              <a:rPr lang="de-DE" sz="1600" dirty="0"/>
              <a:t> </a:t>
            </a:r>
          </a:p>
          <a:p>
            <a:pPr/>
            <a:r>
              <a:rPr lang="de-DE" sz="1600" dirty="0"/>
              <a:t>2</a:t>
            </a:r>
          </a:p>
          <a:p>
            <a:pPr/>
            <a:r>
              <a:rPr lang="de-DE" sz="1600" dirty="0"/>
              <a:t> </a:t>
            </a:r>
          </a:p>
          <a:p>
            <a:pPr/>
            <a:r>
              <a:rPr lang="de-DE" sz="1600" dirty="0"/>
              <a:t>5</a:t>
            </a:r>
          </a:p>
          <a:p>
            <a:pPr/>
            <a:r>
              <a:rPr lang="de-DE" sz="1600" dirty="0"/>
              <a:t> </a:t>
            </a:r>
          </a:p>
          <a:p>
            <a:pPr/>
            <a:r>
              <a:rPr lang="de-DE" sz="1600" dirty="0"/>
              <a:t>3</a:t>
            </a:r>
          </a:p>
          <a:p>
            <a:pPr/>
            <a:r>
              <a:rPr lang="de-DE" sz="1600" dirty="0"/>
              <a:t> </a:t>
            </a:r>
          </a:p>
          <a:p>
            <a:pPr/>
            <a:r>
              <a:rPr lang="de-DE" sz="1600" dirty="0"/>
              <a:t>Kakaopulver</a:t>
            </a:r>
          </a:p>
          <a:p>
            <a:pPr/>
            <a:r>
              <a:rPr lang="de-DE" sz="1600" dirty="0"/>
              <a:t> </a:t>
            </a:r>
          </a:p>
          <a:p>
            <a:pPr/>
            <a:r>
              <a:rPr lang="de-DE" sz="1600" dirty="0"/>
              <a:t>Kakaobutter</a:t>
            </a:r>
          </a:p>
          <a:p>
            <a:pPr/>
            <a:r>
              <a:rPr lang="de-DE" sz="1600" dirty="0"/>
              <a:t> </a:t>
            </a:r>
          </a:p>
          <a:p>
            <a:pPr/>
            <a:r>
              <a:rPr lang="de-DE" sz="1600" dirty="0"/>
              <a:t>Zucker</a:t>
            </a:r>
          </a:p>
          <a:p>
            <a:pPr/>
            <a:r>
              <a:rPr lang="de-DE" sz="1600" dirty="0"/>
              <a:t> </a:t>
            </a:r>
          </a:p>
          <a:p>
            <a:pPr/>
            <a:r>
              <a:rPr lang="de-DE" sz="1600" dirty="0"/>
              <a:t>Milchpulver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Mehrstufe Prozessmatrizen</a:t>
            </a:r>
          </a:p>
        </p:txBody>
      </p:sp>
      <p:sp>
        <p:nvSpPr>
          <p:cNvPr id="3" name="Text"/>
          <p:cNvSpPr txBox="1"/>
          <p:nvPr/>
        </p:nvSpPr>
        <p:spPr>
          <a:xfrm>
            <a:off x="457200" y="1600200"/>
            <a:ext cx="8229600" cy="4800600"/>
          </a:xfrm>
          <a:prstGeom prst="rect">
            <a:avLst/>
          </a:prstGeom>
        </p:spPr>
        <p:txBody>
          <a:bodyPr wrap="square" rtlCol="0"/>
          <a:lstStyle/>
          <a:p>
            <a:r>
              <a:rPr lang="de-DE" sz="1600" dirty="0"/>
              <a:t>• Stelle die Teilbedarfsmatrix A für die Pralinenpackungen und die Teilbedarfsmatrix B für die Rohstoffe auf .</a:t>
            </a:r>
          </a:p>
          <a:p>
            <a:pPr/>
            <a:r>
              <a:rPr lang="de-DE" sz="1600" dirty="0"/>
              <a:t>• Berechne die Gesamtbedarfsmatrix G .</a:t>
            </a:r>
          </a:p>
          <a:p>
            <a:pPr/>
            <a:r>
              <a:rPr lang="de-DE" sz="1600" dirty="0"/>
              <a:t>• Ein Kunde bestellt:</a:t>
            </a:r>
          </a:p>
          <a:p>
            <a:pPr/>
            <a:r>
              <a:rPr lang="de-DE" sz="1600" dirty="0"/>
              <a:t> </a:t>
            </a:r>
          </a:p>
          <a:p>
            <a:pPr/>
            <a:r>
              <a:rPr lang="de-DE" sz="1600" dirty="0"/>
              <a:t> • 100 Packungen „Edle Mischung“</a:t>
            </a:r>
          </a:p>
          <a:p>
            <a:pPr/>
            <a:r>
              <a:rPr lang="de-DE" sz="1600" dirty="0"/>
              <a:t>• 80 Packungen „Süße Mischung“</a:t>
            </a:r>
          </a:p>
          <a:p>
            <a:pPr/>
            <a:r>
              <a:rPr lang="de-DE" sz="1600" dirty="0"/>
              <a:t> </a:t>
            </a:r>
          </a:p>
          <a:p>
            <a:pPr/>
            <a:r>
              <a:rPr lang="de-DE" sz="1600" dirty="0"/>
              <a:t> Berechne den Gesamtbedarf an Rohstoffen.</a:t>
            </a:r>
          </a:p>
          <a:p>
            <a:pPr/>
            <a:r>
              <a:rPr lang="de-DE" sz="1600" dirty="0"/>
              <a:t> </a:t>
            </a:r>
          </a:p>
          <a:p>
            <a:pPr/>
            <a:r>
              <a:rPr lang="de-DE" sz="1600" dirty="0"/>
              <a:t> Bonusfrage: Warum kann man den Rohstoffbedarf entweder über die Gesamtbedarfsmatrix G G oder durch eine zweistufige Rechnung (zuerst Schokoladenbedarf, dann Rohstoffbedarf) bestimmen? Begründen mithilfe der Matrixmultiplikation.</a:t>
            </a:r>
          </a:p>
          <a:p>
            <a:pPr/>
            <a:r>
              <a:rPr lang="de-DE" sz="1600" dirty="0"/>
              <a:t> </a:t>
            </a:r>
          </a:p>
          <a:p>
            <a:pPr/>
            <a:r>
              <a:rPr lang="de-DE" sz="1600" dirty="0"/>
              <a:t>Notizen:</a:t>
            </a:r>
          </a:p>
          <a:p>
            <a:pPr/>
            <a:r>
              <a:rPr lang="de-DE" sz="1600" dirty="0"/>
              <a:t>Matrix A (Schokoladenbedarf je Packung)</a:t>
            </a:r>
          </a:p>
          <a:p>
            <a:pPr/>
            <a:r>
              <a:rPr lang="de-DE" sz="1600" dirty="0"/>
              <a:t> </a:t>
            </a:r>
          </a:p>
          <a:p>
            <a:pPr/>
            <a:r>
              <a:rPr lang="de-DE" sz="1600" dirty="0"/>
              <a:t> Zeilen: Schokoladensorten ( Zeile 1: Zartbitterschokolade, Zeile 2: Weiße Schokolade ...)</a:t>
            </a:r>
          </a:p>
          <a:p>
            <a:pPr/>
            <a:r>
              <a:rPr lang="de-DE" sz="1600" dirty="0"/>
              <a:t> </a:t>
            </a:r>
          </a:p>
          <a:p>
            <a:pPr/>
            <a:r>
              <a:rPr lang="de-DE" sz="1600" dirty="0"/>
              <a:t> Spalten: Packungen (Spalte 1: Edle Mischung, Spalte 2: Süße Mischung)</a:t>
            </a:r>
          </a:p>
          <a:p>
            <a:pPr/>
            <a:r>
              <a:rPr lang="de-DE" sz="1600" dirty="0"/>
              <a:t> </a:t>
            </a:r>
          </a:p>
          <a:p>
            <a:pPr/>
            <a:r>
              <a:rPr lang="de-DE" sz="1600" dirty="0"/>
              <a:t> A = ( 6 2 2 3 2 5 ) A=</a:t>
            </a:r>
          </a:p>
          <a:p>
            <a:pPr/>
            <a:r>
              <a:rPr lang="de-DE" sz="1600" dirty="0"/>
              <a:t>\begin{pmatrix}</a:t>
            </a:r>
          </a:p>
          <a:p>
            <a:pPr/>
            <a:r>
              <a:rPr lang="de-DE" sz="1600" dirty="0"/>
              <a:t>6 &amp; 2\\</a:t>
            </a:r>
          </a:p>
          <a:p>
            <a:pPr/>
            <a:r>
              <a:rPr lang="de-DE" sz="1600" dirty="0"/>
              <a:t>2 &amp; 3\\</a:t>
            </a:r>
          </a:p>
          <a:p>
            <a:pPr/>
            <a:r>
              <a:rPr lang="de-DE" sz="1600" dirty="0"/>
              <a:t>2 &amp; 5</a:t>
            </a:r>
          </a:p>
          <a:p>
            <a:pPr/>
            <a:r>
              <a:rPr lang="de-DE" sz="1600" dirty="0"/>
              <a:t>\end{pmatrix} ​​</a:t>
            </a:r>
          </a:p>
          <a:p>
            <a:pPr/>
            <a:r>
              <a:rPr lang="de-DE" sz="1600" dirty="0"/>
              <a:t> </a:t>
            </a:r>
          </a:p>
          <a:p>
            <a:pPr/>
            <a:r>
              <a:rPr lang="de-DE" sz="1600" dirty="0"/>
              <a:t> Matrix B (Rohstoffbedarf je Schokoladenstück)</a:t>
            </a:r>
          </a:p>
          <a:p>
            <a:pPr/>
            <a:r>
              <a:rPr lang="de-DE" sz="1600" dirty="0"/>
              <a:t> </a:t>
            </a:r>
          </a:p>
          <a:p>
            <a:pPr/>
            <a:r>
              <a:rPr lang="de-DE" sz="1600" dirty="0"/>
              <a:t> Zeilen: Rohstoffe, Spalten: Schokoladensorten</a:t>
            </a:r>
          </a:p>
          <a:p>
            <a:pPr/>
            <a:r>
              <a:rPr lang="de-DE" sz="1600" dirty="0"/>
              <a:t> </a:t>
            </a:r>
          </a:p>
          <a:p>
            <a:pPr/>
            <a:r>
              <a:rPr lang="de-DE" sz="1600" dirty="0"/>
              <a:t> B = ( 6 0 3 1 5 3 3 3 1 0 0 2 ) B=</a:t>
            </a:r>
          </a:p>
          <a:p>
            <a:pPr/>
            <a:r>
              <a:rPr lang="de-DE" sz="1600" dirty="0"/>
              <a:t>\begin{pmatrix}</a:t>
            </a:r>
          </a:p>
          <a:p>
            <a:pPr/>
            <a:r>
              <a:rPr lang="de-DE" sz="1600" dirty="0"/>
              <a:t>6 &amp; 0 &amp; 3\\</a:t>
            </a:r>
          </a:p>
          <a:p>
            <a:pPr/>
            <a:r>
              <a:rPr lang="de-DE" sz="1600" dirty="0"/>
              <a:t>1 &amp; 5 &amp; 3\\</a:t>
            </a:r>
          </a:p>
          <a:p>
            <a:pPr/>
            <a:r>
              <a:rPr lang="de-DE" sz="1600" dirty="0"/>
              <a:t>3 &amp; 3 &amp; 1\\</a:t>
            </a:r>
          </a:p>
          <a:p>
            <a:pPr/>
            <a:r>
              <a:rPr lang="de-DE" sz="1600" dirty="0"/>
              <a:t>0 &amp; 0 &amp; 2</a:t>
            </a:r>
          </a:p>
          <a:p>
            <a:pPr/>
            <a:r>
              <a:rPr lang="de-DE" sz="1600" dirty="0"/>
              <a:t>\end{pmatrix}</a:t>
            </a:r>
          </a:p>
          <a:p>
            <a:pPr/>
            <a:r>
              <a:rPr lang="de-DE" sz="1600" dirty="0"/>
              <a:t> </a:t>
            </a:r>
          </a:p>
          <a:p>
            <a:pPr/>
            <a:r>
              <a:rPr lang="de-DE" sz="1600" dirty="0"/>
              <a:t> Gesamtbedarfsmatrix</a:t>
            </a:r>
          </a:p>
          <a:p>
            <a:pPr/>
            <a:r>
              <a:rPr lang="de-DE" sz="1600" dirty="0"/>
              <a:t> </a:t>
            </a:r>
          </a:p>
          <a:p>
            <a:pPr/>
            <a:r>
              <a:rPr lang="de-DE" sz="1600" dirty="0"/>
              <a:t> G= B⋅A</a:t>
            </a:r>
          </a:p>
          <a:p>
            <a:pPr/>
            <a:r>
              <a:rPr lang="de-DE" sz="1600" dirty="0"/>
              <a:t> G = ( 6 0 3 1 5 3 3 3 1 0 0 2 ) ⋅ ( 6 2 2 3 2 5 ) ​</a:t>
            </a:r>
          </a:p>
          <a:p>
            <a:pPr/>
            <a:r>
              <a:rPr lang="de-DE" sz="1600" dirty="0"/>
              <a:t> [Bild]</a:t>
            </a:r>
          </a:p>
          <a:p>
            <a:pPr/>
            <a:r>
              <a:rPr lang="de-DE" sz="1600" dirty="0"/>
              <a:t> </a:t>
            </a:r>
          </a:p>
          <a:p>
            <a:pPr/>
            <a:r>
              <a:rPr lang="de-DE" sz="1600" dirty="0"/>
              <a:t> Kundenbestellung</a:t>
            </a:r>
          </a:p>
          <a:p>
            <a:pPr/>
            <a:r>
              <a:rPr lang="de-DE" sz="1600" dirty="0"/>
              <a:t> </a:t>
            </a:r>
          </a:p>
          <a:p>
            <a:pPr/>
            <a:r>
              <a:rPr lang="de-DE" sz="1600" dirty="0"/>
              <a:t> Bestellvektor:</a:t>
            </a:r>
          </a:p>
          <a:p>
            <a:pPr/>
            <a:r>
              <a:rPr lang="de-DE" sz="1600" dirty="0"/>
              <a:t> </a:t>
            </a:r>
          </a:p>
          <a:p>
            <a:pPr/>
            <a:r>
              <a:rPr lang="de-DE" sz="1600" dirty="0"/>
              <a:t> x = ( 100 80 ) x=</a:t>
            </a:r>
          </a:p>
          <a:p>
            <a:pPr/>
            <a:r>
              <a:rPr lang="de-DE" sz="1600" dirty="0"/>
              <a:t>\begin{pmatrix}</a:t>
            </a:r>
          </a:p>
          <a:p>
            <a:pPr/>
            <a:r>
              <a:rPr lang="de-DE" sz="1600" dirty="0"/>
              <a:t>100\\</a:t>
            </a:r>
          </a:p>
          <a:p>
            <a:pPr/>
            <a:r>
              <a:rPr lang="de-DE" sz="1600" dirty="0"/>
              <a:t>80</a:t>
            </a:r>
          </a:p>
          <a:p>
            <a:pPr/>
            <a:r>
              <a:rPr lang="de-DE" sz="1600" dirty="0"/>
              <a:t>\end{pmatrix}</a:t>
            </a:r>
          </a:p>
          <a:p>
            <a:pPr/>
            <a:r>
              <a:rPr lang="de-DE" sz="1600" dirty="0"/>
              <a:t> </a:t>
            </a:r>
          </a:p>
          <a:p>
            <a:pPr/>
            <a:r>
              <a:rPr lang="de-DE" sz="1600" dirty="0"/>
              <a:t> Gesamtbedarf:</a:t>
            </a:r>
          </a:p>
          <a:p>
            <a:pPr/>
            <a:r>
              <a:rPr lang="de-DE" sz="1600" dirty="0"/>
              <a:t> </a:t>
            </a:r>
          </a:p>
          <a:p>
            <a:pPr/>
            <a:r>
              <a:rPr lang="de-DE" sz="1600" dirty="0"/>
              <a:t> r = G ⋅ x r=G\cdot x</a:t>
            </a:r>
          </a:p>
          <a:p>
            <a:pPr/>
            <a:r>
              <a:rPr lang="de-DE" sz="1600" dirty="0"/>
              <a:t> </a:t>
            </a:r>
          </a:p>
          <a:p>
            <a:pPr/>
            <a:r>
              <a:rPr lang="de-DE" sz="1600" dirty="0"/>
              <a:t> r = ( 42 27 22 32 26 20 4 10 ) ⋅ ( 100 80 ) r=</a:t>
            </a:r>
          </a:p>
          <a:p>
            <a:pPr/>
            <a:r>
              <a:rPr lang="de-DE" sz="1600" dirty="0"/>
              <a:t>\begin{pmatrix}</a:t>
            </a:r>
          </a:p>
          <a:p>
            <a:pPr/>
            <a:r>
              <a:rPr lang="de-DE" sz="1600" dirty="0"/>
              <a:t>42 &amp; 27\\</a:t>
            </a:r>
          </a:p>
          <a:p>
            <a:pPr/>
            <a:r>
              <a:rPr lang="de-DE" sz="1600" dirty="0"/>
              <a:t>22 &amp; 32\\</a:t>
            </a:r>
          </a:p>
          <a:p>
            <a:pPr/>
            <a:r>
              <a:rPr lang="de-DE" sz="1600" dirty="0"/>
              <a:t>26 &amp; 20\\</a:t>
            </a:r>
          </a:p>
          <a:p>
            <a:pPr/>
            <a:r>
              <a:rPr lang="de-DE" sz="1600" dirty="0"/>
              <a:t>4 &amp; 10</a:t>
            </a:r>
          </a:p>
          <a:p>
            <a:pPr/>
            <a:r>
              <a:rPr lang="de-DE" sz="1600" dirty="0"/>
              <a:t>\end{pmatrix}</a:t>
            </a:r>
          </a:p>
          <a:p>
            <a:pPr/>
            <a:r>
              <a:rPr lang="de-DE" sz="1600" dirty="0"/>
              <a:t>\cdot</a:t>
            </a:r>
          </a:p>
          <a:p>
            <a:pPr/>
            <a:r>
              <a:rPr lang="de-DE" sz="1600" dirty="0"/>
              <a:t>\begin{pmatrix}</a:t>
            </a:r>
          </a:p>
          <a:p>
            <a:pPr/>
            <a:r>
              <a:rPr lang="de-DE" sz="1600" dirty="0"/>
              <a:t>100\\</a:t>
            </a:r>
          </a:p>
          <a:p>
            <a:pPr/>
            <a:r>
              <a:rPr lang="de-DE" sz="1600" dirty="0"/>
              <a:t>80</a:t>
            </a:r>
          </a:p>
          <a:p>
            <a:pPr/>
            <a:r>
              <a:rPr lang="de-DE" sz="1600" dirty="0"/>
              <a:t>\end{pmatrix}</a:t>
            </a:r>
          </a:p>
          <a:p>
            <a:pPr/>
            <a:r>
              <a:rPr lang="de-DE" sz="1600" dirty="0"/>
              <a:t> </a:t>
            </a:r>
          </a:p>
          <a:p>
            <a:pPr/>
            <a:r>
              <a:rPr lang="de-DE" sz="1600" dirty="0"/>
              <a:t> Ergebnis</a:t>
            </a:r>
          </a:p>
          <a:p>
            <a:pPr/>
            <a:r>
              <a:rPr lang="de-DE" sz="1600" dirty="0"/>
              <a:t> </a:t>
            </a:r>
          </a:p>
          <a:p>
            <a:pPr/>
            <a:r>
              <a:rPr lang="de-DE" sz="1600" dirty="0"/>
              <a:t> Für die Bestellung von 100 Edlen Mischungen und 80 Süßen Mischungen werden benötigt:</a:t>
            </a:r>
          </a:p>
          <a:p>
            <a:pPr/>
            <a:r>
              <a:rPr lang="de-DE" sz="1600" dirty="0"/>
              <a:t> </a:t>
            </a:r>
          </a:p>
          <a:p>
            <a:pPr/>
            <a:r>
              <a:rPr lang="de-DE" sz="1600" dirty="0"/>
              <a:t> Rohstoff Bedarf Kakaopulver 6.360 g Kakaobutter 4.760 g Zucker 4.200 g Milchpulver 1.200 g</a:t>
            </a:r>
          </a:p>
          <a:p>
            <a:pPr/>
            <a:r>
              <a:rPr lang="de-DE" sz="1600" dirty="0"/>
              <a:t> </a:t>
            </a:r>
          </a:p>
          <a:p>
            <a:pPr/>
            <a:r>
              <a:rPr lang="de-DE" sz="1600" dirty="0"/>
              <a:t> ____________________________________________________________</a:t>
            </a:r>
          </a:p>
          <a:p>
            <a:pPr/>
            <a:r>
              <a:rPr lang="de-DE" sz="1600" dirty="0"/>
              <a:t> Weg 1: Zweistufige Rechnung</a:t>
            </a:r>
          </a:p>
          <a:p>
            <a:pPr/>
            <a:r>
              <a:rPr lang="de-DE" sz="1600" dirty="0"/>
              <a:t> </a:t>
            </a:r>
          </a:p>
          <a:p>
            <a:pPr/>
            <a:r>
              <a:rPr lang="de-DE" sz="1600" dirty="0"/>
              <a:t> Zuerst wird aus der Bestellung der Bedarf an Schokoladensorten berechnet. Anschließend wird aus diesem Schokoladenbedarf der Rohstoffbedarf bestimmt.</a:t>
            </a:r>
          </a:p>
          <a:p>
            <a:pPr/>
            <a:r>
              <a:rPr lang="de-DE" sz="1600" dirty="0"/>
              <a:t> </a:t>
            </a:r>
          </a:p>
          <a:p>
            <a:pPr/>
            <a:r>
              <a:rPr lang="de-DE" sz="1600" dirty="0"/>
              <a:t> Mathematisch:</a:t>
            </a:r>
          </a:p>
          <a:p>
            <a:pPr/>
            <a:r>
              <a:rPr lang="de-DE" sz="1600" dirty="0"/>
              <a:t> </a:t>
            </a:r>
          </a:p>
          <a:p>
            <a:pPr/>
            <a:r>
              <a:rPr lang="de-DE" sz="1600" dirty="0"/>
              <a:t> Rohstoffbedarf = A ⋅ ( B ⋅ x ) \text{Rohstoffbedarf}</a:t>
            </a:r>
          </a:p>
          <a:p>
            <a:pPr/>
            <a:r>
              <a:rPr lang="de-DE" sz="1600" dirty="0"/>
              <a:t>= A \cdot (B \cdot x)</a:t>
            </a:r>
          </a:p>
          <a:p>
            <a:pPr/>
            <a:r>
              <a:rPr lang="de-DE" sz="1600" dirty="0"/>
              <a:t> Dabei ist</a:t>
            </a:r>
          </a:p>
          <a:p>
            <a:pPr/>
            <a:r>
              <a:rPr lang="de-DE" sz="1600" dirty="0"/>
              <a:t> </a:t>
            </a:r>
          </a:p>
          <a:p>
            <a:pPr/>
            <a:r>
              <a:rPr lang="de-DE" sz="1600" dirty="0"/>
              <a:t> • A A : Rohstoffe → Schokoladensorten</a:t>
            </a:r>
          </a:p>
          <a:p>
            <a:pPr/>
            <a:r>
              <a:rPr lang="de-DE" sz="1600" dirty="0"/>
              <a:t>• B B : Schokoladensorten → Pralinenpackungen</a:t>
            </a:r>
          </a:p>
          <a:p>
            <a:pPr/>
            <a:r>
              <a:rPr lang="de-DE" sz="1600" dirty="0"/>
              <a:t>• x x : Bestellvektor</a:t>
            </a:r>
          </a:p>
          <a:p>
            <a:pPr/>
            <a:r>
              <a:rPr lang="de-DE" sz="1600" dirty="0"/>
              <a:t> </a:t>
            </a:r>
          </a:p>
          <a:p>
            <a:pPr/>
            <a:r>
              <a:rPr lang="de-DE" sz="1600" dirty="0"/>
              <a:t> Weg 2: Gesamtbedarfsmatrix</a:t>
            </a:r>
          </a:p>
          <a:p>
            <a:pPr/>
            <a:r>
              <a:rPr lang="de-DE" sz="1600" dirty="0"/>
              <a:t> </a:t>
            </a:r>
          </a:p>
          <a:p>
            <a:pPr/>
            <a:r>
              <a:rPr lang="de-DE" sz="1600" dirty="0"/>
              <a:t> Zunächst werden die beiden Teilbedarfsmatrizen zu einer Gesamtbedarfsmatrix zusammengefasst:</a:t>
            </a:r>
          </a:p>
          <a:p>
            <a:pPr/>
            <a:r>
              <a:rPr lang="de-DE" sz="1600" dirty="0"/>
              <a:t> </a:t>
            </a:r>
          </a:p>
          <a:p>
            <a:pPr/>
            <a:r>
              <a:rPr lang="de-DE" sz="1600" dirty="0"/>
              <a:t> G = A ⋅ B . G=A\cdot B.</a:t>
            </a:r>
          </a:p>
          <a:p>
            <a:pPr/>
            <a:r>
              <a:rPr lang="de-DE" sz="1600" dirty="0"/>
              <a:t> Dann genügt eine einzige Matrixmultiplikation:</a:t>
            </a:r>
          </a:p>
          <a:p>
            <a:pPr/>
            <a:r>
              <a:rPr lang="de-DE" sz="1600" dirty="0"/>
              <a:t> </a:t>
            </a:r>
          </a:p>
          <a:p>
            <a:pPr/>
            <a:r>
              <a:rPr lang="de-DE" sz="1600" dirty="0"/>
              <a:t> Rohstoffbedarf = G ⋅ x . \text{Rohstoffbedarf}</a:t>
            </a:r>
          </a:p>
          <a:p>
            <a:pPr/>
            <a:r>
              <a:rPr lang="de-DE" sz="1600" dirty="0"/>
              <a:t>= G \cdot x.</a:t>
            </a:r>
          </a:p>
          <a:p>
            <a:pPr/>
            <a:r>
              <a:rPr lang="de-DE" sz="1600" dirty="0"/>
              <a:t> </a:t>
            </a:r>
          </a:p>
          <a:p>
            <a:pPr/>
            <a:r>
              <a:rPr lang="de-DE" sz="1600" dirty="0"/>
              <a:t> Begründung</a:t>
            </a:r>
          </a:p>
          <a:p>
            <a:pPr/>
            <a:r>
              <a:rPr lang="de-DE" sz="1600" dirty="0"/>
              <a:t> </a:t>
            </a:r>
          </a:p>
          <a:p>
            <a:pPr/>
            <a:r>
              <a:rPr lang="de-DE" sz="1600" dirty="0"/>
              <a:t> Beide Wege liefern dasselbe Ergebnis, weil die Matrixmultiplikation assoziativ ist:</a:t>
            </a:r>
          </a:p>
          <a:p>
            <a:pPr/>
            <a:r>
              <a:rPr lang="de-DE" sz="1600" dirty="0"/>
              <a:t> </a:t>
            </a:r>
          </a:p>
          <a:p>
            <a:pPr/>
            <a:r>
              <a:rPr lang="de-DE" sz="1600" dirty="0"/>
              <a:t> A ⋅ ( B ⋅ x ) = ( A ⋅ B ) ⋅ x . A\cdot(B\cdot x)</a:t>
            </a:r>
          </a:p>
          <a:p>
            <a:pPr/>
            <a:r>
              <a:rPr lang="de-DE" sz="1600" dirty="0"/>
              <a:t>=</a:t>
            </a:r>
          </a:p>
          <a:p>
            <a:pPr/>
            <a:r>
              <a:rPr lang="de-DE" sz="1600" dirty="0"/>
              <a:t>(A\cdot B)\cdot x.</a:t>
            </a:r>
          </a:p>
          <a:p>
            <a:pPr/>
            <a:r>
              <a:rPr lang="de-DE" sz="1600" dirty="0"/>
              <a:t> Deshalb kann man entweder</a:t>
            </a:r>
          </a:p>
          <a:p>
            <a:pPr/>
            <a:r>
              <a:rPr lang="de-DE" sz="1600" dirty="0"/>
              <a:t> </a:t>
            </a:r>
          </a:p>
          <a:p>
            <a:pPr/>
            <a:r>
              <a:rPr lang="de-DE" sz="1600" dirty="0"/>
              <a:t> • die Berechnung Schritt für Schritt entlang der Produktionsstufen durchführen oder</a:t>
            </a:r>
          </a:p>
          <a:p>
            <a:pPr/>
            <a:r>
              <a:rPr lang="de-DE" sz="1600" dirty="0"/>
              <a:t>• die Produktionsstufen zunächst zu einer Gesamtbedarfsmatrix zusammenfassen.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a:t>
            </a:r>
          </a:p>
        </p:txBody>
      </p:sp>
      <p:sp>
        <p:nvSpPr>
          <p:cNvPr id="3" name="Text"/>
          <p:cNvSpPr txBox="1"/>
          <p:nvPr/>
        </p:nvSpPr>
        <p:spPr>
          <a:xfrm>
            <a:off x="457200" y="1600200"/>
            <a:ext cx="8229600" cy="4800600"/>
          </a:xfrm>
          <a:prstGeom prst="rect">
            <a:avLst/>
          </a:prstGeom>
        </p:spPr>
        <p:txBody>
          <a:bodyPr wrap="square" rtlCol="0"/>
          <a:lstStyle/>
          <a:p>
            <a:r>
              <a:rPr lang="de-DE" sz="1600" dirty="0"/>
              <a:t>Bis zur nächsten Stunde!</a:t>
            </a:r>
          </a:p>
          <a:p>
            <a:pPr/>
            <a:r>
              <a:rPr lang="de-DE" sz="1600" dirty="0"/>
              <a:t> </a:t>
            </a:r>
          </a:p>
          <a:p>
            <a:pPr/>
            <a:r>
              <a:rPr lang="de-DE" sz="1600" dirty="0"/>
              <a:t>Hausaufgabe</a:t>
            </a:r>
          </a:p>
          <a:p>
            <a:pPr/>
            <a:r>
              <a:rPr lang="de-DE" sz="1600" dirty="0"/>
              <a:t>Mathebuch:</a:t>
            </a:r>
          </a:p>
          <a:p>
            <a:pPr/>
            <a:r>
              <a:rPr lang="de-DE" sz="1600" dirty="0"/>
              <a:t> Seite 175, Nummer 9</a:t>
            </a:r>
          </a:p>
          <a:p>
            <a:pPr/>
            <a:r>
              <a:rPr lang="de-DE" sz="1600" dirty="0"/>
              <a:t> </a:t>
            </a:r>
          </a:p>
          <a:p>
            <a:pPr/>
            <a:r>
              <a:rPr lang="de-DE" sz="1600" dirty="0"/>
              <a:t>Notizen:</a:t>
            </a:r>
          </a:p>
          <a:p>
            <a:pPr/>
            <a:r>
              <a:rPr lang="de-DE" sz="1600" dirty="0"/>
              <a:t>[Bild]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23</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24</a:t>
            </a:r>
          </a:p>
        </p:txBody>
      </p:sp>
      <p:sp>
        <p:nvSpPr>
          <p:cNvPr id="3" name="Text"/>
          <p:cNvSpPr txBox="1"/>
          <p:nvPr/>
        </p:nvSpPr>
        <p:spPr>
          <a:xfrm>
            <a:off x="457200" y="1600200"/>
            <a:ext cx="8229600" cy="4800600"/>
          </a:xfrm>
          <a:prstGeom prst="rect">
            <a:avLst/>
          </a:prstGeom>
        </p:spPr>
        <p:txBody>
          <a:bodyPr wrap="square" rtlCol="0"/>
          <a:lstStyle/>
          <a:p>
            <a:r>
              <a:rPr lang="de-DE" sz="1600" dirty="0"/>
              <a:t>Seite 173</a:t>
            </a:r>
          </a:p>
          <a:p>
            <a:pPr/>
            <a:r>
              <a:rPr lang="de-DE" sz="1600" dirty="0"/>
              <a:t> </a:t>
            </a:r>
          </a:p>
          <a:p>
            <a:pPr/>
            <a:r>
              <a:rPr lang="de-DE" sz="1600" dirty="0"/>
              <a:t>Notizen:</a:t>
            </a:r>
          </a:p>
          <a:p>
            <a:pPr/>
            <a:r>
              <a:rPr lang="de-DE" sz="1600" dirty="0"/>
              <a:t>[Bild]</a:t>
            </a:r>
          </a:p>
          <a:p>
            <a:pPr/>
            <a:r>
              <a:rPr lang="de-DE" sz="1600" dirty="0"/>
              <a:t> </a:t>
            </a:r>
          </a:p>
          <a:p>
            <a:pPr/>
            <a:r>
              <a:rPr lang="de-DE" sz="1600" dirty="0"/>
              <a:t> [Bild]</a:t>
            </a:r>
          </a:p>
          <a:p>
            <a:pPr/>
            <a:r>
              <a:rPr lang="de-DE" sz="1600" dirty="0"/>
              <a:t> </a:t>
            </a:r>
          </a:p>
          <a:p>
            <a:pPr/>
            <a:r>
              <a:rPr lang="de-DE" sz="1600" dirty="0"/>
              <a:t> [Bild]</a:t>
            </a:r>
          </a:p>
          <a:p>
            <a:pPr/>
            <a:r>
              <a:rPr lang="de-DE" sz="1600" dirty="0"/>
              <a:t> </a:t>
            </a:r>
          </a:p>
          <a:p>
            <a:pPr/>
            <a:r>
              <a:rPr lang="de-DE" sz="1600" dirty="0"/>
              <a:t> [Bild]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a:t>
            </a:r>
          </a:p>
        </p:txBody>
      </p:sp>
      <p:sp>
        <p:nvSpPr>
          <p:cNvPr id="3" name="Text"/>
          <p:cNvSpPr txBox="1"/>
          <p:nvPr/>
        </p:nvSpPr>
        <p:spPr>
          <a:xfrm>
            <a:off x="457200" y="1600200"/>
            <a:ext cx="8229600" cy="4800600"/>
          </a:xfrm>
          <a:prstGeom prst="rect">
            <a:avLst/>
          </a:prstGeom>
        </p:spPr>
        <p:txBody>
          <a:bodyPr wrap="square" rtlCol="0"/>
          <a:lstStyle/>
          <a:p>
            <a:r>
              <a:rPr lang="de-DE" sz="1600" dirty="0"/>
              <a:t>Bis zur nächsten Stunde!</a:t>
            </a:r>
          </a:p>
          <a:p>
            <a:pPr/>
            <a:r>
              <a:rPr lang="de-DE" sz="1600" dirty="0"/>
              <a:t> </a:t>
            </a:r>
          </a:p>
          <a:p>
            <a:pPr/>
            <a:r>
              <a:rPr lang="de-DE" sz="1600" dirty="0"/>
              <a:t>Hausaufgabe</a:t>
            </a:r>
          </a:p>
          <a:p>
            <a:pPr/>
            <a:r>
              <a:rPr lang="de-DE" sz="1600" dirty="0"/>
              <a:t>Mathebuch:</a:t>
            </a:r>
          </a:p>
          <a:p>
            <a:pPr/>
            <a:r>
              <a:rPr lang="de-DE" sz="1600" dirty="0"/>
              <a:t> Seite , Nummer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26</a:t>
            </a:r>
          </a:p>
        </p:txBody>
      </p:sp>
      <p:sp>
        <p:nvSpPr>
          <p:cNvPr id="3" name="Text"/>
          <p:cNvSpPr txBox="1"/>
          <p:nvPr/>
        </p:nvSpPr>
        <p:spPr>
          <a:xfrm>
            <a:off x="457200" y="1600200"/>
            <a:ext cx="8229600" cy="4800600"/>
          </a:xfrm>
          <a:prstGeom prst="rect">
            <a:avLst/>
          </a:prstGeom>
        </p:spPr>
        <p:txBody>
          <a:bodyPr wrap="square" rtlCol="0"/>
          <a:lstStyle/>
          <a:p>
            <a:r>
              <a:rPr lang="de-DE" sz="1600" dirty="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27</a:t>
            </a:r>
          </a:p>
        </p:txBody>
      </p:sp>
      <p:sp>
        <p:nvSpPr>
          <p:cNvPr id="3" name="Text"/>
          <p:cNvSpPr txBox="1"/>
          <p:nvPr/>
        </p:nvSpPr>
        <p:spPr>
          <a:xfrm>
            <a:off x="457200" y="1600200"/>
            <a:ext cx="8229600" cy="4800600"/>
          </a:xfrm>
          <a:prstGeom prst="rect">
            <a:avLst/>
          </a:prstGeom>
        </p:spPr>
        <p:txBody>
          <a:bodyPr wrap="square" rtlCol="0"/>
          <a:lstStyle/>
          <a:p>
            <a:r>
              <a:rPr lang="de-DE" sz="1600" dirty="0"/>
              <a:t>0,1</a:t>
            </a:r>
          </a:p>
          <a:p>
            <a:pPr/>
            <a:r>
              <a:rPr lang="de-DE" sz="1600" dirty="0"/>
              <a:t> </a:t>
            </a:r>
          </a:p>
          <a:p>
            <a:pPr/>
            <a:r>
              <a:rPr lang="de-DE" sz="1600" dirty="0"/>
              <a:t>1</a:t>
            </a:r>
          </a:p>
          <a:p>
            <a:pPr/>
            <a:r>
              <a:rPr lang="de-DE" sz="1600" dirty="0"/>
              <a:t> </a:t>
            </a:r>
          </a:p>
          <a:p>
            <a:pPr/>
            <a:r>
              <a:rPr lang="de-DE" sz="1600" dirty="0"/>
              <a:t>𝑎 ^ 0 = ( ( 1 10 260 )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28</a:t>
            </a:r>
          </a:p>
        </p:txBody>
      </p:sp>
      <p:sp>
        <p:nvSpPr>
          <p:cNvPr id="3" name="Text"/>
          <p:cNvSpPr txBox="1"/>
          <p:nvPr/>
        </p:nvSpPr>
        <p:spPr>
          <a:xfrm>
            <a:off x="457200" y="1600200"/>
            <a:ext cx="8229600" cy="4800600"/>
          </a:xfrm>
          <a:prstGeom prst="rect">
            <a:avLst/>
          </a:prstGeom>
        </p:spPr>
        <p:txBody>
          <a:bodyPr wrap="square" rtlCol="0"/>
          <a:lstStyle/>
          <a:p>
            <a:r>
              <a:rPr lang="de-DE" sz="1600" dirty="0"/>
              <a:t>0,1</a:t>
            </a:r>
          </a:p>
          <a:p>
            <a:pPr/>
            <a:r>
              <a:rPr lang="de-DE" sz="1600" dirty="0"/>
              <a:t> </a:t>
            </a:r>
          </a:p>
          <a:p>
            <a:pPr/>
            <a:r>
              <a:rPr lang="de-DE" sz="1600" dirty="0"/>
              <a:t>1</a:t>
            </a:r>
          </a:p>
          <a:p>
            <a:pPr/>
            <a:r>
              <a:rPr lang="de-DE" sz="1600" dirty="0"/>
              <a:t> </a:t>
            </a:r>
          </a:p>
          <a:p>
            <a:pPr/>
            <a:r>
              <a:rPr lang="de-DE" sz="1600" dirty="0"/>
              <a:t>𝑎 ^ 0 = ( ( 1 10 260 ) )</a:t>
            </a:r>
          </a:p>
          <a:p>
            <a:pPr/>
            <a:r>
              <a:rPr lang="de-DE" sz="1600" dirty="0"/>
              <a:t> </a:t>
            </a:r>
          </a:p>
          <a:p>
            <a:pPr/>
            <a:r>
              <a:rPr lang="de-DE" sz="1600" dirty="0"/>
              <a:t>Text hier…</a:t>
            </a:r>
          </a:p>
          <a:p>
            <a:pPr/>
            <a:r>
              <a:rPr lang="de-DE" sz="1600" dirty="0"/>
              <a:t> </a:t>
            </a:r>
          </a:p>
          <a:p>
            <a:pPr/>
            <a:r>
              <a:rPr lang="de-DE" sz="1600" dirty="0"/>
              <a:t>\[</a:t>
            </a:r>
          </a:p>
          <a:p>
            <a:pPr/>
            <a:r>
              <a:rPr lang="de-DE" sz="1600" dirty="0"/>
              <a:t> \vec{a}_0=</a:t>
            </a:r>
          </a:p>
          <a:p>
            <a:pPr/>
            <a:r>
              <a:rPr lang="de-DE" sz="1600" dirty="0"/>
              <a:t> \begin{pmatrix}</a:t>
            </a:r>
          </a:p>
          <a:p>
            <a:pPr/>
            <a:r>
              <a:rPr lang="de-DE" sz="1600" dirty="0"/>
              <a:t> 110\\</a:t>
            </a:r>
          </a:p>
          <a:p>
            <a:pPr/>
            <a:r>
              <a:rPr lang="de-DE" sz="1600" dirty="0"/>
              <a:t> 260</a:t>
            </a:r>
          </a:p>
          <a:p>
            <a:pPr/>
            <a:r>
              <a:rPr lang="de-DE" sz="1600" dirty="0"/>
              <a:t> \end{pmatrix}</a:t>
            </a:r>
          </a:p>
          <a:p>
            <a:pPr/>
            <a:r>
              <a:rPr lang="de-DE" sz="1600" dirty="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Folie 29</a:t>
            </a:r>
          </a:p>
        </p:txBody>
      </p:sp>
      <p:sp>
        <p:nvSpPr>
          <p:cNvPr id="3" name="Text"/>
          <p:cNvSpPr txBox="1"/>
          <p:nvPr/>
        </p:nvSpPr>
        <p:spPr>
          <a:xfrm>
            <a:off x="457200" y="1600200"/>
            <a:ext cx="8229600" cy="4800600"/>
          </a:xfrm>
          <a:prstGeom prst="rect">
            <a:avLst/>
          </a:prstGeom>
        </p:spPr>
        <p:txBody>
          <a:bodyPr wrap="square" rtlCol="0"/>
          <a:lstStyle/>
          <a:p>
            <a:r>
              <a:rPr lang="de-DE" sz="1600" dirty="0"/>
              <a:t>Aufgaben</a:t>
            </a:r>
          </a:p>
          <a:p>
            <a:pPr/>
            <a:r>
              <a:rPr lang="de-DE" sz="1600" dirty="0"/>
              <a:t>• Stelle die Übergangsmatrix A A , die beschreibt, wie sich die Fahrzeuge zwischen den beiden Bereichen bewegen, auf .</a:t>
            </a:r>
          </a:p>
          <a:p>
            <a:pPr/>
            <a:r>
              <a:rPr lang="de-DE" sz="1600" dirty="0"/>
              <a:t>• Interpretiere den Eintrag a 12 = 0,1 a_{12}=0{,}1 im Sachzusammenhang.</a:t>
            </a:r>
          </a:p>
          <a:p>
            <a:pPr/>
            <a:r>
              <a:rPr lang="de-DE" sz="1600" dirty="0"/>
              <a:t>• Zu Beginn befinden sich 110 Fahrzeuge in der Reparaturhalle und 260 im Verkaufslager. Bestimme den Zustand nach einem, zwei und sowie n Übergängen.</a:t>
            </a:r>
          </a:p>
          <a:p>
            <a:pPr/>
            <a:r>
              <a:rPr lang="de-DE" sz="1600" dirty="0"/>
              <a:t>• Entwickele ein Verfahren, mit dem auch der vorherige Zustand bestimmt werden könnte. Untersuche insbesondere, unter welcher Voraussetzung dies eindeutig möglich ist.</a:t>
            </a:r>
          </a:p>
          <a:p>
            <a:pPr/>
            <a:r>
              <a:rPr lang="de-DE" sz="1600" dirty="0"/>
              <a:t>• Bestimme , ob aus a ⃗ 1 \vec a_1 der Anfangszustand eindeutig bestimmt werden kann.</a:t>
            </a:r>
          </a:p>
          <a:p>
            <a:pPr/>
            <a:r>
              <a:rPr lang="de-DE" sz="1600" dirty="0"/>
              <a:t> </a:t>
            </a:r>
          </a:p>
          <a:p>
            <a:pPr/>
            <a:r>
              <a:rPr lang="de-DE" sz="1600" dirty="0"/>
              <a:t>Notizen:</a:t>
            </a:r>
          </a:p>
          <a:p>
            <a:pPr/>
            <a:r>
              <a:rPr lang="de-DE" sz="1600" dirty="0"/>
              <a:t>Lernziele der Stunde</a:t>
            </a:r>
          </a:p>
          <a:p>
            <a:pPr/>
            <a:r>
              <a:rPr lang="de-DE" sz="1600" dirty="0"/>
              <a:t> Matrixpotenz, Inverse Matrix</a:t>
            </a:r>
          </a:p>
          <a:p>
            <a:pPr/>
            <a:r>
              <a:rPr lang="de-DE" sz="1600" dirty="0"/>
              <a:t> </a:t>
            </a:r>
          </a:p>
          <a:p>
            <a:pPr/>
            <a:r>
              <a:rPr lang="de-DE" sz="1600" dirty="0"/>
              <a:t> Beispiellösung:</a:t>
            </a:r>
          </a:p>
          <a:p>
            <a:pPr/>
            <a:r>
              <a:rPr lang="de-DE" sz="1600" dirty="0"/>
              <a:t> </a:t>
            </a:r>
          </a:p>
          <a:p>
            <a:pPr/>
            <a:r>
              <a:rPr lang="de-DE" sz="1600" dirty="0"/>
              <a:t> • [Bild]</a:t>
            </a:r>
          </a:p>
          <a:p>
            <a:pPr/>
            <a:r>
              <a:rPr lang="de-DE" sz="1600" dirty="0"/>
              <a:t> </a:t>
            </a:r>
          </a:p>
          <a:p>
            <a:pPr/>
            <a:r>
              <a:rPr lang="de-DE" sz="1600" dirty="0"/>
              <a:t>• 10% der Fahrzeuge aus dem Verkaufslager wechseln in die Reparaturhalle.</a:t>
            </a:r>
          </a:p>
          <a:p>
            <a:pPr/>
            <a:r>
              <a:rPr lang="de-DE" sz="1600" dirty="0"/>
              <a:t>• [Bild] [Bild] [Bild]</a:t>
            </a:r>
          </a:p>
          <a:p>
            <a:pPr/>
            <a:r>
              <a:rPr lang="de-DE" sz="1600" dirty="0"/>
              <a:t> </a:t>
            </a:r>
          </a:p>
          <a:p>
            <a:pPr/>
            <a:r>
              <a:rPr lang="de-DE" sz="1600" dirty="0"/>
              <a:t>• [Bild]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p:cNvSpPr txBox="1"/>
          <p:nvPr/>
        </p:nvSpPr>
        <p:spPr>
          <a:xfrm>
            <a:off x="457200" y="228600"/>
            <a:ext cx="8229600" cy="1143000"/>
          </a:xfrm>
          <a:prstGeom prst="rect">
            <a:avLst/>
          </a:prstGeom>
        </p:spPr>
        <p:txBody>
          <a:bodyPr wrap="square" rtlCol="0"/>
          <a:lstStyle/>
          <a:p>
            <a:r>
              <a:rPr lang="de-DE" sz="2800" b="1" dirty="0"/>
              <a:t>Hausaufgabe</a:t>
            </a:r>
          </a:p>
        </p:txBody>
      </p:sp>
      <p:sp>
        <p:nvSpPr>
          <p:cNvPr id="3" name="Text"/>
          <p:cNvSpPr txBox="1"/>
          <p:nvPr/>
        </p:nvSpPr>
        <p:spPr>
          <a:xfrm>
            <a:off x="457200" y="1600200"/>
            <a:ext cx="8229600" cy="4800600"/>
          </a:xfrm>
          <a:prstGeom prst="rect">
            <a:avLst/>
          </a:prstGeom>
        </p:spPr>
        <p:txBody>
          <a:bodyPr wrap="square" rtlCol="0"/>
          <a:lstStyle/>
          <a:p>
            <a:r>
              <a:rPr lang="de-DE" sz="1600" dirty="0"/>
              <a:t>Bis zur nächsten Stunde!</a:t>
            </a:r>
          </a:p>
          <a:p>
            <a:pPr/>
            <a:r>
              <a:rPr lang="de-DE" sz="1600" dirty="0"/>
              <a:t> </a:t>
            </a:r>
          </a:p>
          <a:p>
            <a:pPr/>
            <a:r>
              <a:rPr lang="de-DE" sz="1600" dirty="0"/>
              <a:t>Hausaufgabe</a:t>
            </a:r>
          </a:p>
          <a:p>
            <a:pPr/>
            <a:r>
              <a:rPr lang="de-DE" sz="1600" dirty="0"/>
              <a:t>Mathebuch:</a:t>
            </a:r>
          </a:p>
          <a:p>
            <a:pPr/>
            <a:r>
              <a:rPr lang="de-DE" sz="1600" dirty="0"/>
              <a:t> Seite , Nummer</a:t>
            </a:r>
          </a:p>
          <a:p>
            <a:pPr/>
            <a:r>
              <a:rPr lang="de-DE" sz="1600" dirty="0"/>
              <a:t> </a:t>
            </a:r>
          </a:p>
          <a:p>
            <a:pPr/>
            <a:r>
              <a:rPr lang="de-DE" sz="1600" dirty="0"/>
              <a:t>a ⃗ 0 = ( 110 260 ) \vec{a}_0=</a:t>
            </a:r>
          </a:p>
          <a:p>
            <a:pPr/>
            <a:r>
              <a:rPr lang="de-DE" sz="1600" dirty="0"/>
              <a:t>\begin{pmatrix}</a:t>
            </a:r>
          </a:p>
          <a:p>
            <a:pPr/>
            <a:r>
              <a:rPr lang="de-DE" sz="1600" dirty="0"/>
              <a:t>110\\</a:t>
            </a:r>
          </a:p>
          <a:p>
            <a:pPr/>
            <a:r>
              <a:rPr lang="de-DE" sz="1600" dirty="0"/>
              <a:t>260</a:t>
            </a:r>
          </a:p>
          <a:p>
            <a:pPr/>
            <a:r>
              <a:rPr lang="de-DE" sz="1600" dirty="0"/>
              <a:t>\end{pmatrix} ​</a:t>
            </a:r>
          </a:p>
        </p:txBody>
      </p:sp>
    </p:spTree>
  </p:cSld>
  <p:clrMapOvr>
    <a:masterClrMapping/>
  </p:clrMapOvr>
</p:sld>
</file>