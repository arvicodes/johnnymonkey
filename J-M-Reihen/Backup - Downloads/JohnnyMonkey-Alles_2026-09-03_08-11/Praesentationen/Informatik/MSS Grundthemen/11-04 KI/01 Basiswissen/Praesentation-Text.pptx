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Lst>
  <p:sldSz cx="9144000" cy="6858000" type="screen4x3"/>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 Id="rId35" Type="http://schemas.openxmlformats.org/officeDocument/2006/relationships/slide" Target="slides/slide35.xml"/><Relationship Id="rId36" Type="http://schemas.openxmlformats.org/officeDocument/2006/relationships/slide" Target="slides/slide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Guten Morgen!</a:t>
            </a:r>
          </a:p>
        </p:txBody>
      </p:sp>
      <p:sp>
        <p:nvSpPr>
          <p:cNvPr id="3" name="Text"/>
          <p:cNvSpPr txBox="1"/>
          <p:nvPr/>
        </p:nvSpPr>
        <p:spPr>
          <a:xfrm>
            <a:off x="457200" y="1600200"/>
            <a:ext cx="8229600" cy="4800600"/>
          </a:xfrm>
          <a:prstGeom prst="rect">
            <a:avLst/>
          </a:prstGeom>
        </p:spPr>
        <p:txBody>
          <a:bodyPr wrap="square" rtlCol="0"/>
          <a:lstStyle/>
          <a:p>
            <a:r>
              <a:rPr lang="de-DE" sz="1600"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KI sucht Mensch</a:t>
            </a:r>
          </a:p>
        </p:txBody>
      </p:sp>
      <p:sp>
        <p:nvSpPr>
          <p:cNvPr id="3" name="Text"/>
          <p:cNvSpPr txBox="1"/>
          <p:nvPr/>
        </p:nvSpPr>
        <p:spPr>
          <a:xfrm>
            <a:off x="457200" y="1600200"/>
            <a:ext cx="8229600" cy="4800600"/>
          </a:xfrm>
          <a:prstGeom prst="rect">
            <a:avLst/>
          </a:prstGeom>
        </p:spPr>
        <p:txBody>
          <a:bodyPr wrap="square" rtlCol="0"/>
          <a:lstStyle/>
          <a:p>
            <a:r>
              <a:rPr lang="de-DE" sz="1600" dirty="0"/>
              <a:t>​"Ich bin .... und mein KI Merkmal ist ..." ​</a:t>
            </a:r>
          </a:p>
          <a:p>
            <a:pPr/>
            <a:r>
              <a:rPr lang="de-DE" sz="1600" dirty="0"/>
              <a:t> </a:t>
            </a:r>
          </a:p>
          <a:p>
            <a:pPr/>
            <a:r>
              <a:rPr lang="de-DE" sz="1600" dirty="0"/>
              <a:t> • Überlege dir einen Satz mit deinem Roboter/Informatik-Merkmal.</a:t>
            </a:r>
          </a:p>
          <a:p>
            <a:pPr/>
            <a:r>
              <a:rPr lang="de-DE" sz="1600" dirty="0"/>
              <a:t>• Überlege dir eine Bewegung dazu.</a:t>
            </a:r>
          </a:p>
          <a:p>
            <a:pPr/>
            <a:r>
              <a:rPr lang="de-DE" sz="1600" dirty="0"/>
              <a:t> </a:t>
            </a:r>
          </a:p>
          <a:p>
            <a:pPr/>
            <a:r>
              <a:rPr lang="de-DE" sz="1600" dirty="0"/>
              <a:t> Phase 1: Jeder/Jede wiederholt Namen plus Bewegung.</a:t>
            </a:r>
          </a:p>
          <a:p>
            <a:pPr/>
            <a:r>
              <a:rPr lang="de-DE" sz="1600" dirty="0"/>
              <a:t> Phase 2 : Jetzt läuft eine Person in die Mitte und zeigt nur die Bewegung einer Mitschülerin oder eines Mitschülers. Die Klasse ruft den Namen.</a:t>
            </a:r>
          </a:p>
          <a:p>
            <a:pPr/>
            <a:r>
              <a:rPr lang="de-DE" sz="1600" dirty="0"/>
              <a:t> • Richtig erkannt: „Modell erfolgreich trainiert.“ Falsch erkannt: „Fehlklassifikation.“</a:t>
            </a:r>
          </a:p>
          <a:p>
            <a:pPr/>
            <a:r>
              <a:rPr lang="de-DE" sz="1600" dirty="0"/>
              <a:t>• Bei Fehlern: Benennt woran es lag: „Zu ähnliche Trainingsdaten.“ „Zu wenig Wiederholung.“ „Das Modell hat übergeneralisiert.“</a:t>
            </a:r>
          </a:p>
          <a:p>
            <a:pPr/>
            <a:r>
              <a:rPr lang="de-DE" sz="1600" dirty="0"/>
              <a:t> </a:t>
            </a:r>
          </a:p>
          <a:p>
            <a:pPr/>
            <a:r>
              <a:rPr lang="de-DE" sz="1600" dirty="0"/>
              <a:t> Phase 3 : Eine Person ist die „Eingabe“ . Sie nennt ein Merkmal, aber nicht den Namen: „Diese Person hatte etwas mit Pizza.“</a:t>
            </a:r>
          </a:p>
          <a:p>
            <a:pPr/>
            <a:r>
              <a:rPr lang="de-DE" sz="1600" dirty="0"/>
              <a:t> </a:t>
            </a:r>
          </a:p>
          <a:p>
            <a:pPr/>
            <a:r>
              <a:rPr lang="de-DE" sz="1600" dirty="0"/>
              <a:t> • Person zeigt auf zwei bis drei Personen im Kreis. Diese sind „Neuronen“ und müssen jeweils eine Assoziation nennen oder eine Bewegung machen .</a:t>
            </a:r>
          </a:p>
          <a:p>
            <a:pPr/>
            <a:r>
              <a:rPr lang="de-DE" sz="1600" dirty="0"/>
              <a:t> • Beispiel : Neuron 1: „Tablet Bewegung.“ Neuron 2: „Essen.“ Neuron 3: „Lara?“ Die Klasse entscheidet gemeinsam, welche Ausgabe richtig ist. Danach wechselt die Eingabe.</a:t>
            </a:r>
          </a:p>
          <a:p>
            <a:pPr/>
            <a:r>
              <a:rPr lang="de-DE" sz="1600" dirty="0"/>
              <a:t> </a:t>
            </a:r>
          </a:p>
          <a:p>
            <a:pPr/>
            <a:r>
              <a:rPr lang="de-DE" sz="1600" dirty="0"/>
              <a:t> Abschlussphase : Geht alle durcheinander durch den Raum. Bildet auf Kommando Zweiergruppen.</a:t>
            </a:r>
          </a:p>
          <a:p>
            <a:pPr/>
            <a:r>
              <a:rPr lang="de-DE" sz="1600" dirty="0"/>
              <a:t> </a:t>
            </a:r>
          </a:p>
          <a:p>
            <a:pPr/>
            <a:r>
              <a:rPr lang="de-DE" sz="1600" dirty="0"/>
              <a:t> • Auftrag: „ Nenne den Namen der anderen Person und nenne ein mögliches KI Problem, das zu ihr passt.“</a:t>
            </a:r>
          </a:p>
          <a:p>
            <a:pPr/>
            <a:r>
              <a:rPr lang="de-DE" sz="1600" dirty="0"/>
              <a:t> • Beispiele : „Das ist Tim . Problem: Sein Roboter würde beim Sport überhitzen.“ „Das ist Amira . Problem: Ihre KI erkennt Sarkasmus zu gut.“ „Das ist Jonas . Problem: Sein Algorithmus braucht erst drei Snacks, bevor er startet.“</a:t>
            </a:r>
          </a:p>
          <a:p>
            <a:pPr/>
            <a:r>
              <a:rPr lang="de-DE" sz="1600" dirty="0"/>
              <a:t> </a:t>
            </a:r>
          </a:p>
          <a:p>
            <a:pPr/>
            <a:r>
              <a:rPr lang="de-DE" sz="1600" dirty="0"/>
              <a:t> ​</a:t>
            </a:r>
          </a:p>
          <a:p>
            <a:pPr/>
            <a:r>
              <a:rPr lang="de-DE" sz="1600" dirty="0"/>
              <a:t> </a:t>
            </a:r>
          </a:p>
          <a:p>
            <a:pPr/>
            <a:r>
              <a:rPr lang="de-DE" sz="1600" dirty="0"/>
              <a:t>Phase 2</a:t>
            </a:r>
          </a:p>
          <a:p>
            <a:pPr/>
            <a:r>
              <a:rPr lang="de-DE" sz="1600" dirty="0"/>
              <a:t> </a:t>
            </a:r>
          </a:p>
          <a:p>
            <a:pPr/>
            <a:r>
              <a:rPr lang="de-DE" sz="1600" dirty="0"/>
              <a:t>Phase 3</a:t>
            </a:r>
          </a:p>
          <a:p>
            <a:pPr/>
            <a:r>
              <a:rPr lang="de-DE" sz="1600" dirty="0"/>
              <a:t> </a:t>
            </a:r>
          </a:p>
          <a:p>
            <a:pPr/>
            <a:r>
              <a:rPr lang="de-DE" sz="1600" dirty="0"/>
              <a:t>Notizen:</a:t>
            </a:r>
          </a:p>
          <a:p>
            <a:pPr/>
            <a:r>
              <a:rPr lang="de-DE" sz="1600" dirty="0"/>
              <a:t>Material</a:t>
            </a:r>
          </a:p>
          <a:p>
            <a:pPr/>
            <a:r>
              <a:rPr lang="de-DE" sz="1600" dirty="0"/>
              <a:t> Phase 1: Karten mit Beispieltexten</a:t>
            </a:r>
          </a:p>
          <a:p>
            <a:pPr/>
            <a:r>
              <a:rPr lang="de-DE" sz="1600" dirty="0"/>
              <a:t> Phase 2: grüne Karte und rote Karte</a:t>
            </a:r>
          </a:p>
          <a:p>
            <a:pPr/>
            <a:r>
              <a:rPr lang="de-DE" sz="1600" dirty="0"/>
              <a:t> + leere Karten &amp; Eding</a:t>
            </a:r>
          </a:p>
          <a:p>
            <a:pPr/>
            <a:r>
              <a:rPr lang="de-DE" sz="1600" dirty="0"/>
              <a:t> → Woran lag es? notieren</a:t>
            </a:r>
          </a:p>
          <a:p>
            <a:pPr/>
            <a:r>
              <a:rPr lang="de-DE" sz="1600" dirty="0"/>
              <a:t> </a:t>
            </a:r>
          </a:p>
          <a:p>
            <a:pPr/>
            <a:r>
              <a:rPr lang="de-DE" sz="1600" dirty="0"/>
              <a:t> Draußen im Kreis:</a:t>
            </a:r>
          </a:p>
          <a:p>
            <a:pPr/>
            <a:r>
              <a:rPr lang="de-DE" sz="1600" dirty="0"/>
              <a:t> Es liegen Beispielkarten auf dem Boden im Kreis, man darf sie kurz ansehen:</a:t>
            </a:r>
          </a:p>
          <a:p>
            <a:pPr/>
            <a:r>
              <a:rPr lang="de-DE" sz="1600" dirty="0"/>
              <a:t> </a:t>
            </a:r>
          </a:p>
          <a:p>
            <a:pPr/>
            <a:r>
              <a:rPr lang="de-DE" sz="1600" dirty="0"/>
              <a:t> • „ Ich würde einer KI verbieten, meine Hausaufgaben zu bewerten.“</a:t>
            </a:r>
          </a:p>
          <a:p>
            <a:pPr/>
            <a:r>
              <a:rPr lang="de-DE" sz="1600" dirty="0"/>
              <a:t>• „Mein Roboter müsste zuerst lernen, Kaffee zu kochen.“</a:t>
            </a:r>
          </a:p>
          <a:p>
            <a:pPr/>
            <a:r>
              <a:rPr lang="de-DE" sz="1600" dirty="0"/>
              <a:t>• „Meine KI Superkraft wäre: schlechte Ausreden erkennen.“</a:t>
            </a:r>
          </a:p>
          <a:p>
            <a:pPr/>
            <a:r>
              <a:rPr lang="de-DE" sz="1600" dirty="0"/>
              <a:t>• „Wenn ich ein Algorithmus wäre, wäre ich ein Chaos Sort.“</a:t>
            </a:r>
          </a:p>
          <a:p>
            <a:pPr/>
            <a:r>
              <a:rPr lang="de-DE" sz="1600" dirty="0"/>
              <a:t>• „Meine Trainingsdaten bestehen aus Sport, Schlafmangel und Snacks.“</a:t>
            </a:r>
          </a:p>
          <a:p>
            <a:pPr/>
            <a:r>
              <a:rPr lang="de-DE" sz="1600" dirty="0"/>
              <a:t> </a:t>
            </a:r>
          </a:p>
          <a:p>
            <a:pPr/>
            <a:r>
              <a:rPr lang="de-DE" sz="1600" dirty="0"/>
              <a:t> Sprechakte</a:t>
            </a:r>
          </a:p>
          <a:p>
            <a:pPr/>
            <a:r>
              <a:rPr lang="de-DE" sz="1600" dirty="0"/>
              <a:t> Ich beginne: „Ich bin Vera Christ, ich debugge Code, Klassen und manchmal auch mein eigenes Leben.“ Oder : „Wenn mein Gehirn ein Computer wäre, hätte er sehr viele Tabs offen.“ ODER „mein Spezialgebiet ist: Menschen, Maschinen und Schüler*innen wieder zum Laufen bringen.“</a:t>
            </a:r>
          </a:p>
          <a:p>
            <a:pPr/>
            <a:r>
              <a:rPr lang="de-DE" sz="1600" dirty="0"/>
              <a:t> Pose : Lupe machen, Tastatur tippen, dann dramatisch auf sich selbst zeigen. Schnell viele imaginäre Fenster antippen, dann kurz überfordert gucken. Auf imaginären Startknopf drücken, dann loslaufen.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Was hat das Spiel mit KI zu tun?</a:t>
            </a:r>
          </a:p>
        </p:txBody>
      </p:sp>
      <p:sp>
        <p:nvSpPr>
          <p:cNvPr id="3" name="Text"/>
          <p:cNvSpPr txBox="1"/>
          <p:nvPr/>
        </p:nvSpPr>
        <p:spPr>
          <a:xfrm>
            <a:off x="457200" y="1600200"/>
            <a:ext cx="8229600" cy="4800600"/>
          </a:xfrm>
          <a:prstGeom prst="rect">
            <a:avLst/>
          </a:prstGeom>
        </p:spPr>
        <p:txBody>
          <a:bodyPr wrap="square" rtlCol="0"/>
          <a:lstStyle/>
          <a:p>
            <a:r>
              <a:rPr lang="de-DE" sz="1600" dirty="0"/>
              <a:t>Notizen:</a:t>
            </a:r>
          </a:p>
          <a:p>
            <a:pPr/>
            <a:r>
              <a:rPr lang="de-DE" sz="1600" dirty="0"/>
              <a:t>Setup</a:t>
            </a:r>
          </a:p>
          <a:p>
            <a:pPr/>
            <a:r>
              <a:rPr lang="de-DE" sz="1600" dirty="0"/>
              <a:t> Die Folie ist leer, wir sammeln auf der Folie order einfach auf den Karten und ich nehme sie für nächste Stunde mit.</a:t>
            </a:r>
          </a:p>
          <a:p>
            <a:pPr/>
            <a:r>
              <a:rPr lang="de-DE" sz="1600" dirty="0"/>
              <a:t> </a:t>
            </a:r>
          </a:p>
          <a:p>
            <a:pPr/>
            <a:r>
              <a:rPr lang="de-DE" sz="1600" dirty="0"/>
              <a:t> Mögliche Ergebnisse:</a:t>
            </a:r>
          </a:p>
          <a:p>
            <a:pPr/>
            <a:r>
              <a:rPr lang="de-DE" sz="1600" dirty="0"/>
              <a:t> • Namen und Bewegungen waren Trainingsdaten.</a:t>
            </a:r>
          </a:p>
          <a:p>
            <a:pPr/>
            <a:r>
              <a:rPr lang="de-DE" sz="1600" dirty="0"/>
              <a:t>• Die Klasse hat Muster erkannt.</a:t>
            </a:r>
          </a:p>
          <a:p>
            <a:pPr/>
            <a:r>
              <a:rPr lang="de-DE" sz="1600" dirty="0"/>
              <a:t>• Fehler waren Fehlklassifikationen.</a:t>
            </a:r>
          </a:p>
          <a:p>
            <a:pPr/>
            <a:r>
              <a:rPr lang="de-DE" sz="1600" dirty="0"/>
              <a:t>• Einseitige Daten führten zu Bias.</a:t>
            </a:r>
          </a:p>
          <a:p>
            <a:pPr/>
            <a:r>
              <a:rPr lang="de-DE" sz="1600" dirty="0"/>
              <a:t>• Zu ähnliche Bewegungen machten die Vorhersage schwieriger.</a:t>
            </a:r>
          </a:p>
          <a:p>
            <a:pPr/>
            <a:r>
              <a:rPr lang="de-DE" sz="1600" dirty="0"/>
              <a:t>• Mehr Wiederholung verbessert das Modell.</a:t>
            </a:r>
          </a:p>
          <a:p>
            <a:pPr/>
            <a:r>
              <a:rPr lang="de-DE" sz="1600" dirty="0"/>
              <a:t> Merksatz: Eine KI ist nur so gut wie ihre Trainingsdaten, ihre Merkmale und die Art, wie sie daraus Muster bildet.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Hausaufgabe: Wer bist du als Person?</a:t>
            </a:r>
          </a:p>
        </p:txBody>
      </p:sp>
      <p:sp>
        <p:nvSpPr>
          <p:cNvPr id="3" name="Text"/>
          <p:cNvSpPr txBox="1"/>
          <p:nvPr/>
        </p:nvSpPr>
        <p:spPr>
          <a:xfrm>
            <a:off x="457200" y="1600200"/>
            <a:ext cx="8229600" cy="4800600"/>
          </a:xfrm>
          <a:prstGeom prst="rect">
            <a:avLst/>
          </a:prstGeom>
        </p:spPr>
        <p:txBody>
          <a:bodyPr wrap="square" rtlCol="0"/>
          <a:lstStyle/>
          <a:p>
            <a:r>
              <a:rPr lang="de-DE" sz="1600" dirty="0"/>
              <a:t>• Schreibe einen kurzen Steckbrief zu dir: • Notiere hier deinen Satz und deine Bewegung. Erstelle einen kurzen Steckbrie</a:t>
            </a:r>
          </a:p>
          <a:p>
            <a:pPr/>
            <a:r>
              <a:rPr lang="de-DE" sz="1600" dirty="0"/>
              <a:t> </a:t>
            </a:r>
          </a:p>
          <a:p>
            <a:pPr/>
            <a:r>
              <a:rPr lang="de-DE" sz="1600" dirty="0"/>
              <a:t> • Kurzer Können-/Wunschzettel : • Erläutere in wenigen Worte …. dein Vorwissen zu Informatik, deine Erwartungen an das Fach, deine Wünsche für das Fach, deine Wünsche für den Unterricht im Allgemeinen.</a:t>
            </a:r>
          </a:p>
          <a:p>
            <a:pPr/>
            <a:r>
              <a:rPr lang="de-DE" sz="1600" dirty="0"/>
              <a:t>• Was möchtest du noch sagen?</a:t>
            </a:r>
          </a:p>
          <a:p>
            <a:pPr/>
            <a:r>
              <a:rPr lang="de-DE" sz="1600" dirty="0"/>
              <a:t> </a:t>
            </a:r>
          </a:p>
          <a:p>
            <a:pPr/>
            <a:r>
              <a:rPr lang="de-DE" sz="1600" dirty="0"/>
              <a:t> • Bringe ein leeres, kariertes A4 Heft mit. Dieses benötigen wir ab jetzt jede Stunde.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Bis zur nächsten Stunde!</a:t>
            </a:r>
          </a:p>
        </p:txBody>
      </p:sp>
      <p:sp>
        <p:nvSpPr>
          <p:cNvPr id="3" name="Text"/>
          <p:cNvSpPr txBox="1"/>
          <p:nvPr/>
        </p:nvSpPr>
        <p:spPr>
          <a:xfrm>
            <a:off x="457200" y="1600200"/>
            <a:ext cx="8229600" cy="4800600"/>
          </a:xfrm>
          <a:prstGeom prst="rect">
            <a:avLst/>
          </a:prstGeom>
        </p:spPr>
        <p:txBody>
          <a:bodyPr wrap="square" rtlCol="0"/>
          <a:lstStyle/>
          <a:p>
            <a:r>
              <a:rPr lang="de-DE" sz="1600" dirty="0"/>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Referenz</a:t>
            </a:r>
          </a:p>
        </p:txBody>
      </p:sp>
      <p:sp>
        <p:nvSpPr>
          <p:cNvPr id="3" name="Text"/>
          <p:cNvSpPr txBox="1"/>
          <p:nvPr/>
        </p:nvSpPr>
        <p:spPr>
          <a:xfrm>
            <a:off x="457200" y="1600200"/>
            <a:ext cx="8229600" cy="4800600"/>
          </a:xfrm>
          <a:prstGeom prst="rect">
            <a:avLst/>
          </a:prstGeom>
        </p:spPr>
        <p:txBody>
          <a:bodyPr wrap="square" rtlCol="0"/>
          <a:lstStyle/>
          <a:p>
            <a:r>
              <a:rPr lang="de-DE" sz="1600" dirty="0"/>
              <a:t>Notizen:</a:t>
            </a:r>
          </a:p>
          <a:p>
            <a:pPr/>
            <a:r>
              <a:rPr lang="de-DE" sz="1600" dirty="0"/>
              <a:t>Referenz-URL im Element bearbeiten (z. B. /wall-of-fame). In der Präsentation zoombar.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Organisatorisches - Benotung</a:t>
            </a:r>
          </a:p>
        </p:txBody>
      </p:sp>
      <p:sp>
        <p:nvSpPr>
          <p:cNvPr id="3" name="Text"/>
          <p:cNvSpPr txBox="1"/>
          <p:nvPr/>
        </p:nvSpPr>
        <p:spPr>
          <a:xfrm>
            <a:off x="457200" y="1600200"/>
            <a:ext cx="8229600" cy="4800600"/>
          </a:xfrm>
          <a:prstGeom prst="rect">
            <a:avLst/>
          </a:prstGeom>
        </p:spPr>
        <p:txBody>
          <a:bodyPr wrap="square" rtlCol="0"/>
          <a:lstStyle/>
          <a:p>
            <a:r>
              <a:rPr lang="de-DE" sz="1600" dirty="0"/>
              <a:t>• Kursarbeit — Gewichtung: 1/3</a:t>
            </a:r>
          </a:p>
          <a:p>
            <a:pPr/>
            <a:r>
              <a:rPr lang="de-DE" sz="1600" dirty="0"/>
              <a:t>• Andere Leistungen — Gewichtung: 2/3 - Epos, Projekte, Hüs, etc.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Organisatorisches - Material und Technik</a:t>
            </a:r>
          </a:p>
        </p:txBody>
      </p:sp>
      <p:sp>
        <p:nvSpPr>
          <p:cNvPr id="3" name="Text"/>
          <p:cNvSpPr txBox="1"/>
          <p:nvPr/>
        </p:nvSpPr>
        <p:spPr>
          <a:xfrm>
            <a:off x="457200" y="1600200"/>
            <a:ext cx="8229600" cy="4800600"/>
          </a:xfrm>
          <a:prstGeom prst="rect">
            <a:avLst/>
          </a:prstGeom>
        </p:spPr>
        <p:txBody>
          <a:bodyPr wrap="square" rtlCol="0"/>
          <a:lstStyle/>
          <a:p>
            <a:r>
              <a:rPr lang="de-DE" sz="1600" dirty="0"/>
              <a:t>​ ​ Die Johnny Monkey App</a:t>
            </a:r>
          </a:p>
          <a:p>
            <a:pPr/>
            <a:r>
              <a:rPr lang="de-DE" sz="1600" dirty="0"/>
              <a:t> • Wir arbeiten mit der App Johnny Monkey , erreichbar durch folgende Eingabe in der Browsersuchleiste: https://mnsplusdocker:44443</a:t>
            </a:r>
          </a:p>
          <a:p>
            <a:pPr/>
            <a:r>
              <a:rPr lang="de-DE" sz="1600" dirty="0"/>
              <a:t>• Login mit Schulcomputerlogin.</a:t>
            </a:r>
          </a:p>
          <a:p>
            <a:pPr/>
            <a:r>
              <a:rPr lang="de-DE" sz="1600" dirty="0"/>
              <a:t> </a:t>
            </a:r>
          </a:p>
          <a:p>
            <a:pPr/>
            <a:r>
              <a:rPr lang="de-DE" sz="1600" dirty="0"/>
              <a:t> → Logge dich IMMER sofort zu Stundenbeginn ein und lege direkt los !</a:t>
            </a:r>
          </a:p>
          <a:p>
            <a:pPr/>
            <a:r>
              <a:rPr lang="de-DE" sz="1600" dirty="0"/>
              <a:t> </a:t>
            </a:r>
          </a:p>
          <a:p>
            <a:pPr/>
            <a:r>
              <a:rPr lang="de-DE" sz="1600" dirty="0"/>
              <a:t> Das Materialheft ​</a:t>
            </a:r>
          </a:p>
          <a:p>
            <a:pPr/>
            <a:r>
              <a:rPr lang="de-DE" sz="1600" dirty="0"/>
              <a:t> • Notiere die Adresse und deine Login Daten im Materialheft auf Seite 1.</a:t>
            </a:r>
          </a:p>
          <a:p>
            <a:pPr/>
            <a:r>
              <a:rPr lang="de-DE" sz="1600" dirty="0"/>
              <a:t>• Starte nächste Stunde auf Seite 2.</a:t>
            </a:r>
          </a:p>
          <a:p>
            <a:pPr/>
            <a:r>
              <a:rPr lang="de-DE" sz="1600" dirty="0"/>
              <a:t>• Beschrifte das Materialheft mit Namen und designe das Cover nach Belieben.</a:t>
            </a:r>
          </a:p>
          <a:p>
            <a:pPr/>
            <a:r>
              <a:rPr lang="de-DE" sz="1600" dirty="0"/>
              <a:t> </a:t>
            </a:r>
          </a:p>
          <a:p>
            <a:pPr/>
            <a:r>
              <a:rPr lang="de-DE" sz="1600" dirty="0"/>
              <a:t> Unser Moderator, unsere Moderatorin</a:t>
            </a:r>
          </a:p>
          <a:p>
            <a:pPr/>
            <a:r>
              <a:rPr lang="de-DE" sz="1600" dirty="0"/>
              <a:t> • Pro Woche</a:t>
            </a:r>
          </a:p>
          <a:p>
            <a:pPr/>
            <a:r>
              <a:rPr lang="de-DE" sz="1600" dirty="0"/>
              <a:t>• Startet und Beendet die Stunde mit Entry - und Exit -Ticket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Themen der Informatik in der MSS</a:t>
            </a:r>
          </a:p>
        </p:txBody>
      </p:sp>
      <p:sp>
        <p:nvSpPr>
          <p:cNvPr id="3" name="Text"/>
          <p:cNvSpPr txBox="1"/>
          <p:nvPr/>
        </p:nvSpPr>
        <p:spPr>
          <a:xfrm>
            <a:off x="457200" y="1600200"/>
            <a:ext cx="8229600" cy="4800600"/>
          </a:xfrm>
          <a:prstGeom prst="rect">
            <a:avLst/>
          </a:prstGeom>
        </p:spPr>
        <p:txBody>
          <a:bodyPr wrap="square" rtlCol="0"/>
          <a:lstStyle/>
          <a:p>
            <a:r>
              <a:rPr lang="de-DE" sz="1600" dirty="0"/>
              <a:t>• Künstliche Intelligenz: Grundlagen des machine learnings</a:t>
            </a:r>
          </a:p>
          <a:p>
            <a:pPr/>
            <a:r>
              <a:rPr lang="de-DE" sz="1600" dirty="0"/>
              <a:t> </a:t>
            </a:r>
          </a:p>
          <a:p>
            <a:pPr/>
            <a:r>
              <a:rPr lang="de-DE" sz="1600" dirty="0"/>
              <a:t>• Algorithmen: Ablaufdiagramme am Beispiel bekannter Algorithmen (Suchen, Sortieren, Pfade planen), Korrektheit</a:t>
            </a:r>
          </a:p>
          <a:p>
            <a:pPr/>
            <a:r>
              <a:rPr lang="de-DE" sz="1600" dirty="0"/>
              <a:t>• Programmierung: Einstieg in die Programmierung in</a:t>
            </a:r>
          </a:p>
          <a:p>
            <a:pPr/>
            <a:r>
              <a:rPr lang="de-DE" sz="1600" dirty="0"/>
              <a:t>Python, oftmals mit Projekt : Ein kleines Spiel in Python</a:t>
            </a:r>
          </a:p>
          <a:p>
            <a:pPr/>
            <a:r>
              <a:rPr lang="de-DE" sz="1600" dirty="0"/>
              <a:t>programmieren</a:t>
            </a:r>
          </a:p>
          <a:p>
            <a:pPr/>
            <a:r>
              <a:rPr lang="de-DE" sz="1600" dirty="0"/>
              <a:t>• Objekt orientierung: Java Greenfoot - Klassen, Objekte, Vererbung,</a:t>
            </a:r>
          </a:p>
          <a:p>
            <a:pPr/>
            <a:r>
              <a:rPr lang="de-DE" sz="1600" dirty="0"/>
              <a:t>Spezifikation, UML</a:t>
            </a:r>
          </a:p>
          <a:p>
            <a:pPr/>
            <a:r>
              <a:rPr lang="de-DE" sz="1600" dirty="0"/>
              <a:t> </a:t>
            </a:r>
          </a:p>
          <a:p>
            <a:pPr/>
            <a:r>
              <a:rPr lang="de-DE" sz="1600" dirty="0"/>
              <a:t> • Geschichte: Entstehung der Computern und der Informatik als</a:t>
            </a:r>
          </a:p>
          <a:p>
            <a:pPr/>
            <a:r>
              <a:rPr lang="de-DE" sz="1600" dirty="0"/>
              <a:t>Wissenschaft</a:t>
            </a:r>
          </a:p>
          <a:p>
            <a:pPr/>
            <a:r>
              <a:rPr lang="de-DE" sz="1600" dirty="0"/>
              <a:t>• Logik : Binärsystem, Logik &amp;</a:t>
            </a:r>
          </a:p>
          <a:p>
            <a:pPr/>
            <a:r>
              <a:rPr lang="de-DE" sz="1600" dirty="0"/>
              <a:t>Schaltwerke</a:t>
            </a:r>
          </a:p>
          <a:p>
            <a:pPr/>
            <a:r>
              <a:rPr lang="de-DE" sz="1600" dirty="0"/>
              <a:t>• Digitaltechnik : Computeraufbau, Automaten &amp;</a:t>
            </a:r>
          </a:p>
          <a:p>
            <a:pPr/>
            <a:r>
              <a:rPr lang="de-DE" sz="1600" dirty="0"/>
              <a:t>Assembler, häufig mit Projekt : Arduino Mikrocontroller oder Micro:Bit</a:t>
            </a:r>
          </a:p>
          <a:p>
            <a:pPr/>
            <a:r>
              <a:rPr lang="de-DE" sz="1600" dirty="0"/>
              <a:t> </a:t>
            </a:r>
          </a:p>
          <a:p>
            <a:pPr/>
            <a:r>
              <a:rPr lang="de-DE" sz="1600" dirty="0"/>
              <a:t> •</a:t>
            </a:r>
          </a:p>
          <a:p>
            <a:pPr/>
            <a:r>
              <a:rPr lang="de-DE" sz="1600" dirty="0"/>
              <a:t> </a:t>
            </a:r>
          </a:p>
          <a:p>
            <a:pPr/>
            <a:r>
              <a:rPr lang="de-DE" sz="1600" dirty="0"/>
              <a:t> Internet: Kommunikation in Netzwerken, IP Adressen , Router etc.</a:t>
            </a:r>
          </a:p>
          <a:p>
            <a:pPr/>
            <a:r>
              <a:rPr lang="de-DE" sz="1600" dirty="0"/>
              <a:t> </a:t>
            </a:r>
          </a:p>
          <a:p>
            <a:pPr/>
            <a:r>
              <a:rPr lang="de-DE" sz="1600" dirty="0"/>
              <a:t>• IT Sicherheit: Kryptographie &amp; Verschlüsselung</a:t>
            </a:r>
          </a:p>
          <a:p>
            <a:pPr/>
            <a:r>
              <a:rPr lang="de-DE" sz="1600" dirty="0"/>
              <a:t> • Datenbanken: Datenbanken in SQL erstellen und</a:t>
            </a:r>
          </a:p>
          <a:p>
            <a:pPr/>
            <a:r>
              <a:rPr lang="de-DE" sz="1600" dirty="0"/>
              <a:t>verwalten</a:t>
            </a:r>
          </a:p>
          <a:p>
            <a:pPr/>
            <a:r>
              <a:rPr lang="de-DE" sz="1600" dirty="0"/>
              <a:t>• Webentwicklung in HTML, CSS, Java Script , SQL: Immer als Projekt</a:t>
            </a:r>
          </a:p>
          <a:p>
            <a:pPr/>
            <a:r>
              <a:rPr lang="de-DE" sz="1600" dirty="0"/>
              <a:t> </a:t>
            </a:r>
          </a:p>
          <a:p>
            <a:pPr/>
            <a:r>
              <a:rPr lang="de-DE" sz="1600" dirty="0"/>
              <a:t> • Bildverarbeitung und Computergrafik: Pixel, Grafiken, Kameras</a:t>
            </a:r>
          </a:p>
          <a:p>
            <a:pPr/>
            <a:r>
              <a:rPr lang="de-DE" sz="1600" dirty="0"/>
              <a:t>• 3D Animation: Grundlagen mit</a:t>
            </a:r>
          </a:p>
          <a:p>
            <a:pPr/>
            <a:r>
              <a:rPr lang="de-DE" sz="1600" dirty="0"/>
              <a:t>Blender, immer als Projekt</a:t>
            </a:r>
          </a:p>
          <a:p>
            <a:pPr/>
            <a:r>
              <a:rPr lang="de-DE" sz="1600" dirty="0"/>
              <a:t> </a:t>
            </a:r>
          </a:p>
          <a:p>
            <a:pPr/>
            <a:r>
              <a:rPr lang="de-DE" sz="1600" dirty="0"/>
              <a:t> • Optional: Spieledesign - Desktop und mobile Spiele in Unity 3D entwickeln</a:t>
            </a:r>
          </a:p>
          <a:p>
            <a:pPr/>
            <a:r>
              <a:rPr lang="de-DE" sz="1600" dirty="0"/>
              <a:t>• Optional: 3D Druck</a:t>
            </a:r>
          </a:p>
          <a:p>
            <a:pPr/>
            <a:r>
              <a:rPr lang="de-DE" sz="1600" dirty="0"/>
              <a:t> </a:t>
            </a:r>
          </a:p>
          <a:p>
            <a:pPr/>
            <a:r>
              <a:rPr lang="de-DE" sz="1600" dirty="0"/>
              <a:t>• Künstliche Intelligenz: Grundlagen des machine learnings</a:t>
            </a:r>
          </a:p>
          <a:p>
            <a:pPr/>
            <a:r>
              <a:rPr lang="de-DE" sz="1600" dirty="0"/>
              <a:t> </a:t>
            </a:r>
          </a:p>
          <a:p>
            <a:pPr/>
            <a:r>
              <a:rPr lang="de-DE" sz="1600" dirty="0"/>
              <a:t> • Algorithmen: Ablaufdiagramme am Beispiel bekannter Algorithmen (Suchen, Sortieren, Pfade planen), Korrektheit</a:t>
            </a:r>
          </a:p>
          <a:p>
            <a:pPr/>
            <a:r>
              <a:rPr lang="de-DE" sz="1600" dirty="0"/>
              <a:t>• Programmierung: Einstieg in die Programmierung</a:t>
            </a:r>
          </a:p>
          <a:p>
            <a:pPr/>
            <a:r>
              <a:rPr lang="de-DE" sz="1600" dirty="0"/>
              <a:t> in Python, oftmals mit Projekt : Ein kleines Spiel in Python</a:t>
            </a:r>
          </a:p>
          <a:p>
            <a:pPr/>
            <a:r>
              <a:rPr lang="de-DE" sz="1600" dirty="0"/>
              <a:t> • Objekt orientierung: Java Greenfoot - Klassen, Objekte, Vererbung, Spezifikation, UML</a:t>
            </a:r>
          </a:p>
          <a:p>
            <a:pPr/>
            <a:r>
              <a:rPr lang="de-DE" sz="1600" dirty="0"/>
              <a:t> </a:t>
            </a:r>
          </a:p>
          <a:p>
            <a:pPr/>
            <a:r>
              <a:rPr lang="de-DE" sz="1600" dirty="0"/>
              <a:t> • Internet: Kommunikation in Netzwerken, IP Adressen, Router etc.</a:t>
            </a:r>
          </a:p>
          <a:p>
            <a:pPr/>
            <a:r>
              <a:rPr lang="de-DE" sz="1600" dirty="0"/>
              <a:t> </a:t>
            </a:r>
          </a:p>
          <a:p>
            <a:pPr/>
            <a:r>
              <a:rPr lang="de-DE" sz="1600" dirty="0"/>
              <a:t>• IT Sicherheit: Kryptographie &amp; Verschlüsselung</a:t>
            </a:r>
          </a:p>
          <a:p>
            <a:pPr/>
            <a:r>
              <a:rPr lang="de-DE" sz="1600" dirty="0"/>
              <a:t> • Datenbanken: Datenbanken in SQL erstellen und verwalten</a:t>
            </a:r>
          </a:p>
          <a:p>
            <a:pPr/>
            <a:r>
              <a:rPr lang="de-DE" sz="1600" dirty="0"/>
              <a:t>• Webentwicklung in HTML, CSS, Java Script , SQL: Immer als Projekt</a:t>
            </a:r>
          </a:p>
          <a:p>
            <a:pPr/>
            <a:r>
              <a:rPr lang="de-DE" sz="1600" dirty="0"/>
              <a:t> </a:t>
            </a:r>
          </a:p>
          <a:p>
            <a:pPr/>
            <a:r>
              <a:rPr lang="de-DE" sz="1600" dirty="0"/>
              <a:t>• Geschichte: Entstehung der Computern und der Informatik als Wissenschaft</a:t>
            </a:r>
          </a:p>
          <a:p>
            <a:pPr/>
            <a:r>
              <a:rPr lang="de-DE" sz="1600" dirty="0"/>
              <a:t>• Logik : Binärsystem, Logik &amp; Schaltwerke</a:t>
            </a:r>
          </a:p>
          <a:p>
            <a:pPr/>
            <a:r>
              <a:rPr lang="de-DE" sz="1600" dirty="0"/>
              <a:t>• Digitaltechnik : Computeraufbau, Automaten &amp; Assembler, häufig mit Projekt : Arduino Mikrocontroller oder Micro:Bit</a:t>
            </a:r>
          </a:p>
          <a:p>
            <a:pPr/>
            <a:r>
              <a:rPr lang="de-DE" sz="1600" dirty="0"/>
              <a:t> </a:t>
            </a:r>
          </a:p>
          <a:p>
            <a:pPr/>
            <a:r>
              <a:rPr lang="de-DE" sz="1600" dirty="0"/>
              <a:t> • Bildverarbeitung und Computergrafik: Pixel, Grafiken, Kameras</a:t>
            </a:r>
          </a:p>
          <a:p>
            <a:pPr/>
            <a:r>
              <a:rPr lang="de-DE" sz="1600" dirty="0"/>
              <a:t>• 3D Animation: Grundlagen mit Blender, immer als Projekt</a:t>
            </a:r>
          </a:p>
          <a:p>
            <a:pPr/>
            <a:r>
              <a:rPr lang="de-DE" sz="1600" dirty="0"/>
              <a:t> </a:t>
            </a:r>
          </a:p>
          <a:p>
            <a:pPr/>
            <a:r>
              <a:rPr lang="de-DE" sz="1600" dirty="0"/>
              <a:t> • Optional: Spieledesign - Desktop und mobile Spiele in Unity 3D entwickeln</a:t>
            </a:r>
          </a:p>
          <a:p>
            <a:pPr/>
            <a:r>
              <a:rPr lang="de-DE" sz="1600" dirty="0"/>
              <a:t>• Optional: 3D Druck</a:t>
            </a:r>
          </a:p>
          <a:p>
            <a:pPr/>
            <a:r>
              <a:rPr lang="de-DE" sz="1600" dirty="0"/>
              <a:t> </a:t>
            </a:r>
          </a:p>
          <a:p>
            <a:pPr/>
            <a:r>
              <a:rPr lang="de-DE" sz="1600" dirty="0"/>
              <a:t>gn - Desktop und mobile Spiele in Unity 3D entwickeln</a:t>
            </a:r>
          </a:p>
          <a:p>
            <a:pPr/>
            <a:r>
              <a:rPr lang="de-DE" sz="1600" dirty="0"/>
              <a:t>• Optional: 3D Druck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Hausaufgabe: Wer bist du als Person? Jetzt in der App!</a:t>
            </a:r>
          </a:p>
        </p:txBody>
      </p:sp>
      <p:sp>
        <p:nvSpPr>
          <p:cNvPr id="3" name="Text"/>
          <p:cNvSpPr txBox="1"/>
          <p:nvPr/>
        </p:nvSpPr>
        <p:spPr>
          <a:xfrm>
            <a:off x="457200" y="1600200"/>
            <a:ext cx="8229600" cy="4800600"/>
          </a:xfrm>
          <a:prstGeom prst="rect">
            <a:avLst/>
          </a:prstGeom>
        </p:spPr>
        <p:txBody>
          <a:bodyPr wrap="square" rtlCol="0"/>
          <a:lstStyle/>
          <a:p>
            <a:r>
              <a:rPr lang="de-DE" sz="1600" dirty="0"/>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Hausaufgabe: Wer bist du als Person? Jetzt in der App!</a:t>
            </a:r>
          </a:p>
        </p:txBody>
      </p:sp>
      <p:sp>
        <p:nvSpPr>
          <p:cNvPr id="3" name="Text"/>
          <p:cNvSpPr txBox="1"/>
          <p:nvPr/>
        </p:nvSpPr>
        <p:spPr>
          <a:xfrm>
            <a:off x="457200" y="1600200"/>
            <a:ext cx="8229600" cy="4800600"/>
          </a:xfrm>
          <a:prstGeom prst="rect">
            <a:avLst/>
          </a:prstGeom>
        </p:spPr>
        <p:txBody>
          <a:bodyPr wrap="square" rtlCol="0"/>
          <a:lstStyle/>
          <a:p>
            <a:r>
              <a:rPr lang="de-DE" sz="1600" dirty="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Start</a:t>
            </a:r>
          </a:p>
        </p:txBody>
      </p:sp>
      <p:sp>
        <p:nvSpPr>
          <p:cNvPr id="3" name="Text"/>
          <p:cNvSpPr txBox="1"/>
          <p:nvPr/>
        </p:nvSpPr>
        <p:spPr>
          <a:xfrm>
            <a:off x="457200" y="1600200"/>
            <a:ext cx="8229600" cy="4800600"/>
          </a:xfrm>
          <a:prstGeom prst="rect">
            <a:avLst/>
          </a:prstGeom>
        </p:spPr>
        <p:txBody>
          <a:bodyPr wrap="square" rtlCol="0"/>
          <a:lstStyle/>
          <a:p>
            <a:r>
              <a:rPr lang="de-DE" sz="1600" dirty="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Start</a:t>
            </a:r>
          </a:p>
        </p:txBody>
      </p:sp>
      <p:sp>
        <p:nvSpPr>
          <p:cNvPr id="3" name="Text"/>
          <p:cNvSpPr txBox="1"/>
          <p:nvPr/>
        </p:nvSpPr>
        <p:spPr>
          <a:xfrm>
            <a:off x="457200" y="1600200"/>
            <a:ext cx="8229600" cy="4800600"/>
          </a:xfrm>
          <a:prstGeom prst="rect">
            <a:avLst/>
          </a:prstGeom>
        </p:spPr>
        <p:txBody>
          <a:bodyPr wrap="square" rtlCol="0"/>
          <a:lstStyle/>
          <a:p>
            <a:r>
              <a:rPr lang="de-DE" sz="1600" dirty="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Start</a:t>
            </a:r>
          </a:p>
        </p:txBody>
      </p:sp>
      <p:sp>
        <p:nvSpPr>
          <p:cNvPr id="3" name="Text"/>
          <p:cNvSpPr txBox="1"/>
          <p:nvPr/>
        </p:nvSpPr>
        <p:spPr>
          <a:xfrm>
            <a:off x="457200" y="1600200"/>
            <a:ext cx="8229600" cy="4800600"/>
          </a:xfrm>
          <a:prstGeom prst="rect">
            <a:avLst/>
          </a:prstGeom>
        </p:spPr>
        <p:txBody>
          <a:bodyPr wrap="square" rtlCol="0"/>
          <a:lstStyle/>
          <a:p>
            <a:r>
              <a:rPr lang="de-DE" sz="1600" dirty="0"/>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Start</a:t>
            </a:r>
          </a:p>
        </p:txBody>
      </p:sp>
      <p:sp>
        <p:nvSpPr>
          <p:cNvPr id="3" name="Text"/>
          <p:cNvSpPr txBox="1"/>
          <p:nvPr/>
        </p:nvSpPr>
        <p:spPr>
          <a:xfrm>
            <a:off x="457200" y="1600200"/>
            <a:ext cx="8229600" cy="4800600"/>
          </a:xfrm>
          <a:prstGeom prst="rect">
            <a:avLst/>
          </a:prstGeom>
        </p:spPr>
        <p:txBody>
          <a:bodyPr wrap="square" rtlCol="0"/>
          <a:lstStyle/>
          <a:p>
            <a:r>
              <a:rPr lang="de-DE" sz="1600" dirty="0"/>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Start</a:t>
            </a:r>
          </a:p>
        </p:txBody>
      </p:sp>
      <p:sp>
        <p:nvSpPr>
          <p:cNvPr id="3" name="Text"/>
          <p:cNvSpPr txBox="1"/>
          <p:nvPr/>
        </p:nvSpPr>
        <p:spPr>
          <a:xfrm>
            <a:off x="457200" y="1600200"/>
            <a:ext cx="8229600" cy="4800600"/>
          </a:xfrm>
          <a:prstGeom prst="rect">
            <a:avLst/>
          </a:prstGeom>
        </p:spPr>
        <p:txBody>
          <a:bodyPr wrap="square" rtlCol="0"/>
          <a:lstStyle/>
          <a:p>
            <a:r>
              <a:rPr lang="de-DE" sz="1600" dirty="0"/>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Start</a:t>
            </a:r>
          </a:p>
        </p:txBody>
      </p:sp>
      <p:sp>
        <p:nvSpPr>
          <p:cNvPr id="3" name="Text"/>
          <p:cNvSpPr txBox="1"/>
          <p:nvPr/>
        </p:nvSpPr>
        <p:spPr>
          <a:xfrm>
            <a:off x="457200" y="1600200"/>
            <a:ext cx="8229600" cy="4800600"/>
          </a:xfrm>
          <a:prstGeom prst="rect">
            <a:avLst/>
          </a:prstGeom>
        </p:spPr>
        <p:txBody>
          <a:bodyPr wrap="square" rtlCol="0"/>
          <a:lstStyle/>
          <a:p>
            <a:r>
              <a:rPr lang="de-DE" sz="1600" dirty="0"/>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Optional: Gruppenvideos</a:t>
            </a:r>
          </a:p>
        </p:txBody>
      </p:sp>
      <p:sp>
        <p:nvSpPr>
          <p:cNvPr id="3" name="Text"/>
          <p:cNvSpPr txBox="1"/>
          <p:nvPr/>
        </p:nvSpPr>
        <p:spPr>
          <a:xfrm>
            <a:off x="457200" y="1600200"/>
            <a:ext cx="8229600" cy="4800600"/>
          </a:xfrm>
          <a:prstGeom prst="rect">
            <a:avLst/>
          </a:prstGeom>
        </p:spPr>
        <p:txBody>
          <a:bodyPr wrap="square" rtlCol="0"/>
          <a:lstStyle/>
          <a:p>
            <a:r>
              <a:rPr lang="de-DE" sz="1600" dirty="0"/>
              <a:t>Erstellt kurze Vorstellungsv ideos in kleinen Gruppen (3 Personen).</a:t>
            </a:r>
          </a:p>
          <a:p>
            <a:pPr/>
            <a:r>
              <a:rPr lang="de-DE" sz="1600" dirty="0"/>
              <a:t> → Jeder Name sollte mindestens 3 mal genannt werden.</a:t>
            </a:r>
          </a:p>
          <a:p>
            <a:pPr/>
            <a:r>
              <a:rPr lang="de-DE" sz="1600" dirty="0"/>
              <a:t> → Es gibt kein Thema, einfach witzig, skurril oder normal. Egal! Seid kreativ!</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Hausaufgabe: Wer bist du als Person? Jetzt in der App!</a:t>
            </a:r>
          </a:p>
        </p:txBody>
      </p:sp>
      <p:sp>
        <p:nvSpPr>
          <p:cNvPr id="3" name="Text"/>
          <p:cNvSpPr txBox="1"/>
          <p:nvPr/>
        </p:nvSpPr>
        <p:spPr>
          <a:xfrm>
            <a:off x="457200" y="1600200"/>
            <a:ext cx="8229600" cy="4800600"/>
          </a:xfrm>
          <a:prstGeom prst="rect">
            <a:avLst/>
          </a:prstGeom>
        </p:spPr>
        <p:txBody>
          <a:bodyPr wrap="square" rtlCol="0"/>
          <a:lstStyle/>
          <a:p>
            <a:r>
              <a:rPr lang="de-DE" sz="1600" dirty="0"/>
              <a:t>• Lade ein Foto von dir hoch. Dein Gesicht muss gut erkennbar sein, das Foto sollte ein tatsächliches, aktuelles Aussehen widerspiegeln.</a:t>
            </a:r>
          </a:p>
          <a:p>
            <a:pPr/>
            <a:r>
              <a:rPr lang="de-DE" sz="1600" dirty="0"/>
              <a:t> </a:t>
            </a:r>
          </a:p>
          <a:p>
            <a:pPr/>
            <a:r>
              <a:rPr lang="de-DE" sz="1600" dirty="0"/>
              <a:t> • Übertrage deinen Satz , deinen Steckbrief und deinen Wunschzettel aus der letzten Hausaufgabe in die App.</a:t>
            </a:r>
          </a:p>
          <a:p>
            <a:pPr/>
            <a:r>
              <a:rPr lang="de-DE" sz="1600" dirty="0"/>
              <a:t> </a:t>
            </a:r>
          </a:p>
          <a:p>
            <a:pPr/>
            <a:r>
              <a:rPr lang="de-DE" sz="1600" dirty="0"/>
              <a:t> • Optional: der Ersteller des Videos lädt dieses auch hoch.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Bis zur nächsten Stunde!</a:t>
            </a:r>
          </a:p>
        </p:txBody>
      </p:sp>
      <p:sp>
        <p:nvSpPr>
          <p:cNvPr id="3" name="Text"/>
          <p:cNvSpPr txBox="1"/>
          <p:nvPr/>
        </p:nvSpPr>
        <p:spPr>
          <a:xfrm>
            <a:off x="457200" y="1600200"/>
            <a:ext cx="8229600" cy="4800600"/>
          </a:xfrm>
          <a:prstGeom prst="rect">
            <a:avLst/>
          </a:prstGeom>
        </p:spPr>
        <p:txBody>
          <a:bodyPr wrap="square" rtlCol="0"/>
          <a:lstStyle/>
          <a:p>
            <a:r>
              <a:rPr lang="de-DE" sz="1600" dirty="0"/>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Was heißt eigentlich "Künstliche Intelligenz" ?</a:t>
            </a:r>
          </a:p>
        </p:txBody>
      </p:sp>
      <p:sp>
        <p:nvSpPr>
          <p:cNvPr id="3" name="Text"/>
          <p:cNvSpPr txBox="1"/>
          <p:nvPr/>
        </p:nvSpPr>
        <p:spPr>
          <a:xfrm>
            <a:off x="457200" y="1600200"/>
            <a:ext cx="8229600" cy="4800600"/>
          </a:xfrm>
          <a:prstGeom prst="rect">
            <a:avLst/>
          </a:prstGeom>
        </p:spPr>
        <p:txBody>
          <a:bodyPr wrap="square" rtlCol="0"/>
          <a:lstStyle/>
          <a:p>
            <a:r>
              <a:rPr lang="de-DE" sz="1600" dirty="0"/>
              <a:t>• Notiere SPONTAN , ohne zu recherchieren und ohne deine Nachbarn zu fragen deine Antwort .</a:t>
            </a:r>
          </a:p>
          <a:p>
            <a:pPr/>
            <a:r>
              <a:rPr lang="de-DE" sz="1600" dirty="0"/>
              <a:t> </a:t>
            </a:r>
          </a:p>
          <a:p>
            <a:pPr/>
            <a:r>
              <a:rPr lang="de-DE" sz="1600" dirty="0"/>
              <a:t> • Tausche dich mit anderen aus : "Welche Antwort habt ihr gerade notiert?". Findet gemeinsam eine bessere Antwort . Tagt eure Antworten in der Leinwand ein.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KI suchen ....</a:t>
            </a:r>
          </a:p>
        </p:txBody>
      </p:sp>
      <p:sp>
        <p:nvSpPr>
          <p:cNvPr id="3" name="Text"/>
          <p:cNvSpPr txBox="1"/>
          <p:nvPr/>
        </p:nvSpPr>
        <p:spPr>
          <a:xfrm>
            <a:off x="457200" y="1600200"/>
            <a:ext cx="8229600" cy="4800600"/>
          </a:xfrm>
          <a:prstGeom prst="rect">
            <a:avLst/>
          </a:prstGeom>
        </p:spPr>
        <p:txBody>
          <a:bodyPr wrap="square" rtlCol="0"/>
          <a:lstStyle/>
          <a:p>
            <a:r>
              <a:rPr lang="de-DE" sz="1600" dirty="0"/>
              <a:t>•</a:t>
            </a:r>
          </a:p>
          <a:p>
            <a:pPr/>
            <a:r>
              <a:rPr lang="de-DE" sz="1600" dirty="0"/>
              <a:t> </a:t>
            </a:r>
          </a:p>
          <a:p>
            <a:pPr/>
            <a:r>
              <a:rPr lang="de-DE" sz="1600" dirty="0"/>
              <a:t>Finde im Wimmelbild recht die Stellen, an denen deiner Meinung nach KI auftritt. Fülle die Tabelle aus.</a:t>
            </a:r>
          </a:p>
          <a:p>
            <a:pPr/>
            <a:r>
              <a:rPr lang="de-DE" sz="1600" dirty="0"/>
              <a:t> </a:t>
            </a:r>
          </a:p>
          <a:p>
            <a:pPr/>
            <a:r>
              <a:rPr lang="de-DE" sz="1600" dirty="0"/>
              <a:t>KI Vorkommen</a:t>
            </a:r>
          </a:p>
          <a:p>
            <a:pPr/>
            <a:r>
              <a:rPr lang="de-DE" sz="1600" dirty="0"/>
              <a:t> </a:t>
            </a:r>
          </a:p>
          <a:p>
            <a:pPr/>
            <a:r>
              <a:rPr lang="de-DE" sz="1600" dirty="0"/>
              <a:t> Was macht die KI? Welches Problem löst die KI? Wessen Aufgaben übernimmt die KI?</a:t>
            </a:r>
          </a:p>
          <a:p>
            <a:pPr/>
            <a:r>
              <a:rPr lang="de-DE" sz="1600" dirty="0"/>
              <a:t> </a:t>
            </a:r>
          </a:p>
          <a:p>
            <a:pPr/>
            <a:r>
              <a:rPr lang="de-DE" sz="1600" dirty="0"/>
              <a:t> Wo und wie tritt die KI auf?</a:t>
            </a:r>
          </a:p>
          <a:p>
            <a:pPr/>
            <a:r>
              <a:rPr lang="de-DE" sz="1600" dirty="0"/>
              <a:t> </a:t>
            </a:r>
          </a:p>
          <a:p>
            <a:pPr/>
            <a:r>
              <a:rPr lang="de-DE" sz="1600" dirty="0"/>
              <a:t> Welche Daten benötigt die KI?</a:t>
            </a:r>
          </a:p>
          <a:p>
            <a:pPr/>
            <a:r>
              <a:rPr lang="de-DE" sz="1600" dirty="0"/>
              <a:t> </a:t>
            </a:r>
          </a:p>
          <a:p>
            <a:pPr/>
            <a:r>
              <a:rPr lang="de-DE" sz="1600" dirty="0"/>
              <a:t> Woher bekommt sie diese Daten?</a:t>
            </a:r>
          </a:p>
          <a:p>
            <a:pPr/>
            <a:r>
              <a:rPr lang="de-DE" sz="1600" dirty="0"/>
              <a:t> </a:t>
            </a:r>
          </a:p>
          <a:p>
            <a:pPr/>
            <a:r>
              <a:rPr lang="de-DE" sz="1600" dirty="0"/>
              <a:t> Welche Daten gibt die KI aus?</a:t>
            </a:r>
          </a:p>
          <a:p>
            <a:pPr/>
            <a:r>
              <a:rPr lang="de-DE" sz="1600" dirty="0"/>
              <a:t> </a:t>
            </a:r>
          </a:p>
          <a:p>
            <a:pPr/>
            <a:r>
              <a:rPr lang="de-DE" sz="1600" dirty="0"/>
              <a:t> Wie gibt die KI diese Daten aus?</a:t>
            </a:r>
          </a:p>
          <a:p>
            <a:pPr/>
            <a:r>
              <a:rPr lang="de-DE" sz="1600" dirty="0"/>
              <a:t> </a:t>
            </a:r>
          </a:p>
          <a:p>
            <a:pPr/>
            <a:r>
              <a:rPr lang="de-DE" sz="1600" dirty="0"/>
              <a:t> Woran kann man die Leistungsfähigkeit der KI bewerten?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Schwache und starke Künstliche Intelligenz</a:t>
            </a:r>
          </a:p>
        </p:txBody>
      </p:sp>
      <p:sp>
        <p:nvSpPr>
          <p:cNvPr id="3" name="Text"/>
          <p:cNvSpPr txBox="1"/>
          <p:nvPr/>
        </p:nvSpPr>
        <p:spPr>
          <a:xfrm>
            <a:off x="457200" y="1600200"/>
            <a:ext cx="8229600" cy="4800600"/>
          </a:xfrm>
          <a:prstGeom prst="rect">
            <a:avLst/>
          </a:prstGeom>
        </p:spPr>
        <p:txBody>
          <a:bodyPr wrap="square" rtlCol="0"/>
          <a:lstStyle/>
          <a:p>
            <a:r>
              <a:rPr lang="de-DE" sz="1600" dirty="0"/>
              <a:t>Schwache KI</a:t>
            </a:r>
          </a:p>
          <a:p>
            <a:pPr/>
            <a:r>
              <a:rPr lang="de-DE" sz="1600" dirty="0"/>
              <a:t>• auf bestimmte Aufgaben</a:t>
            </a:r>
          </a:p>
          <a:p>
            <a:pPr/>
            <a:r>
              <a:rPr lang="de-DE" sz="1600" dirty="0"/>
              <a:t>spezialisiert</a:t>
            </a:r>
          </a:p>
          <a:p>
            <a:pPr/>
            <a:r>
              <a:rPr lang="de-DE" sz="1600" dirty="0"/>
              <a:t>• erkennt Muster und verarbeitet</a:t>
            </a:r>
          </a:p>
          <a:p>
            <a:pPr/>
            <a:r>
              <a:rPr lang="de-DE" sz="1600" dirty="0"/>
              <a:t>große Datenmengen</a:t>
            </a:r>
          </a:p>
          <a:p>
            <a:pPr/>
            <a:r>
              <a:rPr lang="de-DE" sz="1600" dirty="0"/>
              <a:t>• handelt nur innerhalb ihres</a:t>
            </a:r>
          </a:p>
          <a:p>
            <a:pPr/>
            <a:r>
              <a:rPr lang="de-DE" sz="1600" dirty="0"/>
              <a:t>vorgesehenen Anwendungsbereichs</a:t>
            </a:r>
          </a:p>
          <a:p>
            <a:pPr/>
            <a:r>
              <a:rPr lang="de-DE" sz="1600" dirty="0"/>
              <a:t>• besitzt kein allgemeines</a:t>
            </a:r>
          </a:p>
          <a:p>
            <a:pPr/>
            <a:r>
              <a:rPr lang="de-DE" sz="1600" dirty="0"/>
              <a:t>Verständnis</a:t>
            </a:r>
          </a:p>
          <a:p>
            <a:pPr/>
            <a:r>
              <a:rPr lang="de-DE" sz="1600" dirty="0"/>
              <a:t> </a:t>
            </a:r>
          </a:p>
          <a:p>
            <a:pPr/>
            <a:r>
              <a:rPr lang="de-DE" sz="1600" dirty="0"/>
              <a:t>Starke KI</a:t>
            </a:r>
          </a:p>
          <a:p>
            <a:pPr/>
            <a:r>
              <a:rPr lang="de-DE" sz="1600" dirty="0"/>
              <a:t>• hätte menschenähnliche allgemeine Intelligenz</a:t>
            </a:r>
          </a:p>
          <a:p>
            <a:pPr/>
            <a:r>
              <a:rPr lang="de-DE" sz="1600" dirty="0"/>
              <a:t>• könnte neue Problemstellungen selbstständig erkennen</a:t>
            </a:r>
          </a:p>
          <a:p>
            <a:pPr/>
            <a:r>
              <a:rPr lang="de-DE" sz="1600" dirty="0"/>
              <a:t>• könnte Wissen flexibel auf verschiedene Bereiche übertragen</a:t>
            </a:r>
          </a:p>
          <a:p>
            <a:pPr/>
            <a:r>
              <a:rPr lang="de-DE" sz="1600" dirty="0"/>
              <a:t>• könnte eigenständig Lösungswege entwickeln</a:t>
            </a:r>
          </a:p>
          <a:p>
            <a:pPr/>
            <a:r>
              <a:rPr lang="de-DE" sz="1600" dirty="0"/>
              <a:t> </a:t>
            </a:r>
          </a:p>
          <a:p>
            <a:pPr/>
            <a:r>
              <a:rPr lang="de-DE" sz="1600" dirty="0"/>
              <a:t>Wichtig:</a:t>
            </a:r>
          </a:p>
          <a:p>
            <a:pPr/>
            <a:r>
              <a:rPr lang="de-DE" sz="1600" dirty="0"/>
              <a:t>Alle heute existierenden KI Systeme zählen zur schwachen KI.</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Folie 24</a:t>
            </a:r>
          </a:p>
        </p:txBody>
      </p:sp>
      <p:sp>
        <p:nvSpPr>
          <p:cNvPr id="3" name="Text"/>
          <p:cNvSpPr txBox="1"/>
          <p:nvPr/>
        </p:nvSpPr>
        <p:spPr>
          <a:xfrm>
            <a:off x="457200" y="1600200"/>
            <a:ext cx="8229600" cy="4800600"/>
          </a:xfrm>
          <a:prstGeom prst="rect">
            <a:avLst/>
          </a:prstGeom>
        </p:spPr>
        <p:txBody>
          <a:bodyPr wrap="square" rtlCol="0"/>
          <a:lstStyle/>
          <a:p>
            <a:r>
              <a:rPr lang="de-DE" sz="1600" dirty="0"/>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Folie 25</a:t>
            </a:r>
          </a:p>
        </p:txBody>
      </p:sp>
      <p:sp>
        <p:nvSpPr>
          <p:cNvPr id="3" name="Text"/>
          <p:cNvSpPr txBox="1"/>
          <p:nvPr/>
        </p:nvSpPr>
        <p:spPr>
          <a:xfrm>
            <a:off x="457200" y="1600200"/>
            <a:ext cx="8229600" cy="4800600"/>
          </a:xfrm>
          <a:prstGeom prst="rect">
            <a:avLst/>
          </a:prstGeom>
        </p:spPr>
        <p:txBody>
          <a:bodyPr wrap="square" rtlCol="0"/>
          <a:lstStyle/>
          <a:p>
            <a:r>
              <a:rPr lang="de-DE" sz="1600" dirty="0"/>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Hausaufgabe</a:t>
            </a:r>
          </a:p>
        </p:txBody>
      </p:sp>
      <p:sp>
        <p:nvSpPr>
          <p:cNvPr id="3" name="Text"/>
          <p:cNvSpPr txBox="1"/>
          <p:nvPr/>
        </p:nvSpPr>
        <p:spPr>
          <a:xfrm>
            <a:off x="457200" y="1600200"/>
            <a:ext cx="8229600" cy="4800600"/>
          </a:xfrm>
          <a:prstGeom prst="rect">
            <a:avLst/>
          </a:prstGeom>
        </p:spPr>
        <p:txBody>
          <a:bodyPr wrap="square" rtlCol="0"/>
          <a:lstStyle/>
          <a:p>
            <a:r>
              <a:rPr lang="de-DE" sz="1600" dirty="0"/>
              <a:t>• Beschreibe eine starke KI, die du dir im Alltag wünschen würdest (du kannst dir selbst eine erdenken oder eine aus einer Sci-Fi-Realität beschreiben). Z eichne auch ein Bild. Begründe , dass es sich um eine starke und nicht um eine schwache KI handelt. Nenne Chancen und Risiken der von dir erwünschten KI.</a:t>
            </a:r>
          </a:p>
          <a:p>
            <a:pPr/>
            <a:r>
              <a:rPr lang="de-DE" sz="1600" dirty="0"/>
              <a:t> </a:t>
            </a:r>
          </a:p>
          <a:p>
            <a:pPr/>
            <a:r>
              <a:rPr lang="de-DE" sz="1600" dirty="0"/>
              <a:t> • Laut Wolfgang Wahlster ( https://www.awhamburg.de/fileadmin/redakteure/Vortraege/Vortrag_Wahlster_pdf.pdf ) gibt es folgende zehn Merkmale intelligenter IT-Systeme im Sinne der Künstlichen Intelligenz: • autonom, proaktiv, adaptiv, selbsterklärend, fehlertolerant</a:t>
            </a:r>
          </a:p>
          <a:p>
            <a:pPr/>
            <a:r>
              <a:rPr lang="de-DE" sz="1600" dirty="0"/>
              <a:t>• selbstoptimierend, lernfähig, zielorientiert, flexibel und kooperativ.</a:t>
            </a:r>
          </a:p>
          <a:p>
            <a:pPr/>
            <a:r>
              <a:rPr lang="de-DE" sz="1600" dirty="0"/>
              <a:t> </a:t>
            </a:r>
          </a:p>
          <a:p>
            <a:pPr/>
            <a:r>
              <a:rPr lang="de-DE" sz="1600" dirty="0"/>
              <a:t> → Analysiere die in der PDF gegebenen Informationen und erkläre diese Merkmale anhand von selbst gewählten Beispielen .</a:t>
            </a:r>
          </a:p>
          <a:p>
            <a:pPr/>
            <a:r>
              <a:rPr lang="de-DE" sz="1600" dirty="0"/>
              <a:t> </a:t>
            </a:r>
          </a:p>
          <a:p>
            <a:pPr/>
            <a:r>
              <a:rPr lang="de-DE" sz="1600" dirty="0"/>
              <a:t>Notizen:</a:t>
            </a:r>
          </a:p>
          <a:p>
            <a:pPr/>
            <a:r>
              <a:rPr lang="de-DE" sz="1600" dirty="0"/>
              <a:t>Musterlösung:</a:t>
            </a:r>
          </a:p>
          <a:p>
            <a:pPr/>
            <a:r>
              <a:rPr lang="de-DE" sz="1600" dirty="0"/>
              <a:t> </a:t>
            </a:r>
          </a:p>
          <a:p>
            <a:pPr/>
            <a:r>
              <a:rPr lang="de-DE" sz="1600" dirty="0"/>
              <a:t> Merkmal Erklärung Beispiel autonom Das System kann ohne ständige Steuerung durch einen Menschen selbstständig handeln. Ein autonomes Fahrzeug erkennt seine Umgebung und entscheidet selbst, wann es lenken oder bremsen muss. Wahlster beschreibt kognitive Agenten als Systeme, die ihre Umgebung wahrnehmen und darin handeln. proaktiv Das System wartet nicht nur auf einen Auftrag, sondern wird von sich aus aktiv, wenn es Handlungsbedarf erkennt. Ein Fahrzeug erkennt Aquaplaning und warnt andere Fahrzeuge, bevor diese die Gefahrenstelle erreichen. adaptiv Das System passt sein Verhalten an eine veränderte Umgebung oder Situation an. Ein Roboter verändert seine Bewegungen, wenn er statt auf festem Boden plötzlich auf Schnee oder unebenem Gelände unterwegs ist. Wahlster zeigt hierfür unter anderem Roboter für schwieriges Gelände. selbsterklärend Das System kann verständlich machen, warum es eine bestimmte Entscheidung getroffen hat. Ein intelligentes Fahrzeug erklärt, dass es abbremst, weil eine Verkehrsregel oder eine erkannte Gefahr dies erfordert. Wahlster ordnet insbesondere wissensbasierte, symbolische Prozesse einer Ebene mit Erklärungsmöglichkeit zu. fehlertolerant Das System kann auch bei Störungen, unvollständigen Informationen oder einzelnen Fehlern weiterhin sinnvoll arbeiten. Ein Roboter kann trotz rutschigem Untergrund sein Gleichgewicht halten und seine Aufgabe weiter ausführen. Wahlster hebt bei bestimmten KI Verfahren eine schnelle und robuste Verarbeitung hervor. selbstoptimierend Das System kann sein eigenes Verhalten so verändern, dass es seine Aufgabe zunehmend besser oder effizienter erfüllt. Ein Fahrassistenzsystem passt seine Strategie so an, dass eine Strecke sicherer oder mit geringerem Energieverbrauch zurückgelegt wird. lernfähig Das System kann aus Daten oder Erfahrungen neues Wissen gewinnen und sein zukünftiges Verhalten verändern. Ein Bilderkennungssystem lernt anhand vieler Beispielbilder, bestimmte Gegenstände immer zuverlässiger zu erkennen. Wahlster nennt Lernen und maschinelles Lernen als zentrale Bestandteile der KI. zielorientiert Das System richtet seine Handlungen auf ein vorgegebenes oder selbst erkanntes Ziel aus. Ein autonomes Fahrzeug plant seine Handlungen so, dass es sein Fahrtziel sicher erreicht. Sensorbasierte Handlungsplanung ist bei Wahlster ein zentrales Merkmal kognitiver Agenten. flexibel Das System kann auf unterschiedliche und auch unerwartete Situationen reagieren und verschiedene Lösungswege nutzen. Ein Roboter erkennt, dass sein ursprünglicher Weg blockiert ist, und wählt selbstständig einen anderen Weg zum Ziel. kooperativ Das System kann Informationen mit anderen Systemen austauschen und gemeinsam mit i</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Bis zur nächsten Stunde!</a:t>
            </a:r>
          </a:p>
        </p:txBody>
      </p:sp>
      <p:sp>
        <p:nvSpPr>
          <p:cNvPr id="3" name="Text"/>
          <p:cNvSpPr txBox="1"/>
          <p:nvPr/>
        </p:nvSpPr>
        <p:spPr>
          <a:xfrm>
            <a:off x="457200" y="1600200"/>
            <a:ext cx="8229600" cy="4800600"/>
          </a:xfrm>
          <a:prstGeom prst="rect">
            <a:avLst/>
          </a:prstGeom>
        </p:spPr>
        <p:txBody>
          <a:bodyPr wrap="square" rtlCol="0"/>
          <a:lstStyle/>
          <a:p>
            <a:r>
              <a:rPr lang="de-DE" sz="1600" dirty="0"/>
              <a: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Auf nach draußen ...</a:t>
            </a:r>
          </a:p>
        </p:txBody>
      </p:sp>
      <p:sp>
        <p:nvSpPr>
          <p:cNvPr id="3" name="Text"/>
          <p:cNvSpPr txBox="1"/>
          <p:nvPr/>
        </p:nvSpPr>
        <p:spPr>
          <a:xfrm>
            <a:off x="457200" y="1600200"/>
            <a:ext cx="8229600" cy="4800600"/>
          </a:xfrm>
          <a:prstGeom prst="rect">
            <a:avLst/>
          </a:prstGeom>
        </p:spPr>
        <p:txBody>
          <a:bodyPr wrap="square" rtlCol="0"/>
          <a:lstStyle/>
          <a:p>
            <a:r>
              <a:rPr lang="de-DE" sz="1600" dirty="0"/>
              <a:t>Wir gehen frei herum .... Tausche dich mit so vielen Mitschüler:innen über dein Bild, deine KI aus. Beschreibe deine KI. Dein Gegenüber benennt mögliche Probleme. Diskutiert .</a:t>
            </a:r>
          </a:p>
          <a:p>
            <a:pPr/>
            <a:r>
              <a:rPr lang="de-DE" sz="1600" dirty="0"/>
              <a:t> </a:t>
            </a:r>
          </a:p>
          <a:p>
            <a:pPr/>
            <a:r>
              <a:rPr lang="de-DE" sz="1600" dirty="0"/>
              <a:t> Besuche alle 10 Stationen. Trefft je eine andere Person an einer der Stationen. Einigt euch gemeinsam ein eine Begriffserklärung und ein Beispiel. Schreibt diese auf die vorliegenden Karteikarten.</a:t>
            </a:r>
          </a:p>
          <a:p>
            <a:pPr/>
            <a:r>
              <a:rPr lang="de-DE" sz="1600" dirty="0"/>
              <a:t> </a:t>
            </a:r>
          </a:p>
          <a:p>
            <a:pPr/>
            <a:r>
              <a:rPr lang="de-DE" sz="1600" dirty="0"/>
              <a:t>Notizen:</a:t>
            </a:r>
          </a:p>
          <a:p>
            <a:pPr/>
            <a:r>
              <a:rPr lang="de-DE" sz="1600" dirty="0"/>
              <a:t>Material:</a:t>
            </a:r>
          </a:p>
          <a:p>
            <a:pPr/>
            <a:r>
              <a:rPr lang="de-DE" sz="1600" dirty="0"/>
              <a:t> </a:t>
            </a:r>
          </a:p>
          <a:p>
            <a:pPr/>
            <a:r>
              <a:rPr lang="de-DE" sz="1600" dirty="0"/>
              <a:t> • Karten mit den 10 Begriffen.</a:t>
            </a:r>
          </a:p>
          <a:p>
            <a:pPr/>
            <a:r>
              <a:rPr lang="de-DE" sz="1600" dirty="0"/>
              <a:t>• Leere Karten pro Station</a:t>
            </a:r>
          </a:p>
          <a:p>
            <a:pPr/>
            <a:r>
              <a:rPr lang="de-DE" sz="1600" dirty="0"/>
              <a:t> </a:t>
            </a:r>
          </a:p>
          <a:p>
            <a:pPr/>
            <a:r>
              <a:rPr lang="de-DE" sz="1600" dirty="0"/>
              <a:t> Musterlösung:</a:t>
            </a:r>
          </a:p>
          <a:p>
            <a:pPr/>
            <a:r>
              <a:rPr lang="de-DE" sz="1600" dirty="0"/>
              <a:t> Merkmal Erklärung Beispiel autonom Das System kann ohne ständige Steuerung durch einen Menschen selbstständig handeln. Ein autonomes Fahrzeug erkennt seine Umgebung und entscheidet selbst, wann es lenken oder bremsen muss. Wahlster beschreibt kognitive Agenten als Systeme, die ihre Umgebung wahrnehmen und darin handeln. proaktiv Das System wartet nicht nur auf einen Auftrag, sondern wird von sich aus aktiv, wenn es Handlungsbedarf erkennt. Ein Fahrzeug erkennt Aquaplaning und warnt andere Fahrzeuge, bevor diese die Gefahrenstelle erreichen. adaptiv Das System passt sein Verhalten an eine veränderte Umgebung oder Situation an. Ein Roboter verändert seine Bewegungen, wenn er statt auf festem Boden plötzlich auf Schnee oder unebenem Gelände unterwegs ist. Wahlster zeigt hierfür unter anderem Roboter für schwieriges Gelände. selbsterklärend Das System kann verständlich machen, warum es eine bestimmte Entscheidung getroffen hat. Ein intelligentes Fahrzeug erklärt, dass es abbremst, weil eine Verkehrsregel oder eine erkannte Gefahr dies erfordert. Wahlster ordnet insbesondere wissensbasierte, symbolische Prozesse einer Ebene mit Erklärungsmöglichkeit zu. fehlertolerant Das System kann auch bei Störungen, unvollständigen Informationen oder einzelnen Fehlern weiterhin sinnvoll arbeiten. Ein Roboter kann trotz rutschigem Untergrund sein Gleichgewicht halten und seine Aufgabe weiter ausführen. Wahlster hebt bei bestimmten KI Verfahren eine schnelle und robuste Verarbeitung hervor. selbstoptimierend Das System kann sein eigenes Verhalten so verändern, dass es seine Aufgabe zunehmend besser oder effizienter erfüllt. Ein Fahrassistenzsystem passt seine Strategie so an, dass eine Strecke sicherer oder mit geringerem Energieverbrauch zurückgelegt wird. lernfähig Das System kann aus Daten oder Erfahrungen neues Wissen gewinnen und sein zukünftiges Verhalten verändern. Ein Bilderkennungssystem lernt anhand vieler Beispielbilder, bestimmte Gegenstände immer zuverlässiger zu erkennen. Wahlster nennt Lernen und maschinelles Lernen als zentrale Bestandteile der KI. zielorientiert Das System richtet seine Handlungen auf ein vorgegebenes oder selbst erkanntes Ziel aus. Ein autonomes Fahrzeug plant seine Handlungen so, dass es sein Fahrtziel sicher erreicht. Sensorbasierte Handlungsplanung ist bei Wahlster ein zentrales Merkmal kognitiver Agenten. flexibel Das System kann auf unterschiedliche und auch unerwartete Situationen reagieren und verschiedene Lösungswege nutzen. Ein Roboter erkennt, dass sein ursprünglicher Weg blockiert ist, und wählt selbstständig einen anderen Weg zum Ziel. kooperativ Das System kann Informationen mit anderen Systemen austauschen und gemeinsam mit ihnen ein Ziel verfolgen. Mehrere Fahrzeuge tauschen Informationen über Gefahrenstellen aus. Wahlster zeigt außerdem, dass mehrere einfache Agenten durch Zusammenarbeit ein komplexes Gesamtverhalten erzeugen können. Zusammenfassend: Ein intelligentes IT System zeichnet sich bei Wahlster also nicht nur dadurch aus, dass es Auf</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Sammlung - 10 Merkmale intelligenter Systeme</a:t>
            </a:r>
          </a:p>
        </p:txBody>
      </p:sp>
      <p:sp>
        <p:nvSpPr>
          <p:cNvPr id="3" name="Text"/>
          <p:cNvSpPr txBox="1"/>
          <p:nvPr/>
        </p:nvSpPr>
        <p:spPr>
          <a:xfrm>
            <a:off x="457200" y="1600200"/>
            <a:ext cx="8229600" cy="4800600"/>
          </a:xfrm>
          <a:prstGeom prst="rect">
            <a:avLst/>
          </a:prstGeom>
        </p:spPr>
        <p:txBody>
          <a:bodyPr wrap="square" rtlCol="0"/>
          <a:lstStyle/>
          <a:p>
            <a:r>
              <a:rPr lang="de-DE" sz="1600" dirty="0"/>
              <a:t>Fotos der Stationen</a:t>
            </a:r>
          </a:p>
          <a:p>
            <a:pPr/>
            <a:r>
              <a:rPr lang="de-DE" sz="1600" dirty="0"/>
              <a:t> </a:t>
            </a:r>
          </a:p>
          <a:p>
            <a:pPr/>
            <a:r>
              <a:rPr lang="de-DE" sz="1600" dirty="0"/>
              <a:t>Notizen:</a:t>
            </a:r>
          </a:p>
          <a:p>
            <a:pPr/>
            <a:r>
              <a:rPr lang="de-DE" sz="1600" dirty="0"/>
              <a:t>Wir gehen als Gruppe zügig durch die Stationen und besprechen sehr sehr kurz. Sicherung erfolgt durch ein Foto der Karten das hier eingefügt wird.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Folie 30</a:t>
            </a:r>
          </a:p>
        </p:txBody>
      </p:sp>
      <p:sp>
        <p:nvSpPr>
          <p:cNvPr id="3" name="Text"/>
          <p:cNvSpPr txBox="1"/>
          <p:nvPr/>
        </p:nvSpPr>
        <p:spPr>
          <a:xfrm>
            <a:off x="457200" y="1600200"/>
            <a:ext cx="8229600" cy="4800600"/>
          </a:xfrm>
          <a:prstGeom prst="rect">
            <a:avLst/>
          </a:prstGeom>
        </p:spPr>
        <p:txBody>
          <a:bodyPr wrap="square" rtlCol="0"/>
          <a:lstStyle/>
          <a:p>
            <a:r>
              <a:rPr lang="de-DE" sz="1600" dirty="0"/>
              <a:t>Notizen:</a:t>
            </a:r>
          </a:p>
          <a:p>
            <a:pPr/>
            <a:r>
              <a:rPr lang="de-DE" sz="1600" dirty="0"/>
              <a:t>Sprechakte:</a:t>
            </a:r>
          </a:p>
          <a:p>
            <a:pPr/>
            <a:r>
              <a:rPr lang="de-DE" sz="1600" dirty="0"/>
              <a:t> Bisher haben wir versucht zu ergründen, was eine KI ist und was eben nicht. Aber auch innerhalb der Systeme mit Künstlicher Intelligenz gibt es erhebliche Unterschiede.</a:t>
            </a:r>
          </a:p>
          <a:p>
            <a:pPr/>
            <a:r>
              <a:rPr lang="de-DE" sz="1600" dirty="0"/>
              <a:t> In der Abbildung siehst du neu die Begriffe Maschinelles Lernen (ML - machine learning) und Deep Learning .</a:t>
            </a:r>
          </a:p>
          <a:p>
            <a:pPr/>
            <a:r>
              <a:rPr lang="de-DE" sz="1600" dirty="0"/>
              <a:t> Damit ergibt sich ein detaillierteres Bild des Gebiets der Künstlichen Intelligenz :</a:t>
            </a:r>
          </a:p>
          <a:p>
            <a:pPr/>
            <a:r>
              <a:rPr lang="de-DE" sz="1600" dirty="0"/>
              <a:t> </a:t>
            </a:r>
          </a:p>
          <a:p>
            <a:pPr/>
            <a:r>
              <a:rPr lang="de-DE" sz="1600" dirty="0"/>
              <a:t> • Durch die äußere gestrichelte Linie ist angedeutet, dass der Begriff KI nicht genau zu definieren ist. Daher kann man nicht immer genau sagen, ob ein System zu KI gehört, oder eben nicht.</a:t>
            </a:r>
          </a:p>
          <a:p>
            <a:pPr/>
            <a:r>
              <a:rPr lang="de-DE" sz="1600" dirty="0"/>
              <a:t>• Innerhalb der KI gibt es das (hier blaue) Teilgebiet des Maschinellen Lernens . Hier lernt das KI-System selbständig und wird entsprechend als ➔ lernendes System bezeichnet. Ein Beispiel für ML ist das Lernen mit Hilfe eines ➔ Entscheidungsbaums .</a:t>
            </a:r>
          </a:p>
          <a:p>
            <a:pPr/>
            <a:r>
              <a:rPr lang="de-DE" sz="1600" dirty="0"/>
              <a:t>• Innerhalb des Maschinellen Lernes gibt es das (hier graue) Teilgebiet Deep Learning . Damit sind Lernverfahren gemeint, die mit neuronalen Netzen arbeiten. Sie verwenden zum Lernen ➔ künstliche Neuronen .</a:t>
            </a:r>
          </a:p>
          <a:p>
            <a:pPr/>
            <a:r>
              <a:rPr lang="de-DE" sz="1600" dirty="0"/>
              <a:t>• Die weißen Flächen außerhalb des ML umfassen alle intelligenten Systeme, die nicht selbständig lernen . Dazu gehören ➔ wissenbasierte Systeme , bei denen der Mensch der KI Regeln vorgibt, nach denen sie handeln soll.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Kleines Wunder - unser Gehirn</a:t>
            </a:r>
          </a:p>
        </p:txBody>
      </p:sp>
      <p:sp>
        <p:nvSpPr>
          <p:cNvPr id="3" name="Text"/>
          <p:cNvSpPr txBox="1"/>
          <p:nvPr/>
        </p:nvSpPr>
        <p:spPr>
          <a:xfrm>
            <a:off x="457200" y="1600200"/>
            <a:ext cx="8229600" cy="4800600"/>
          </a:xfrm>
          <a:prstGeom prst="rect">
            <a:avLst/>
          </a:prstGeom>
        </p:spPr>
        <p:txBody>
          <a:bodyPr wrap="square" rtlCol="0"/>
          <a:lstStyle/>
          <a:p>
            <a:r>
              <a:rPr lang="de-DE" sz="1600" dirty="0"/>
              <a:t>Merkmal Menschliches Gehirn Supercomputer Personal Computer Recheneinheiten ca. (10 11 ) Neuronen ca. (10 4 ) CPUs und (10 12 ) Transistoren 4 CPUs und ca. (10 9 ) Transistoren Speichereinheiten ca. (10 11 ) Neuronen und (10 14 ) Synapsen ca. (10 14 ) Bit RAM und (10 15 ) Bit Festplatte ca. (10 11 ) Bit RAM und (10 13 ) Bit Festplatte Zykluszeit ca. (10 -3 , s) ca. (10 -9 , s) ca. (10 -9 , s) Operationen pro Sekunde ca. (10 17 ) ca. (10 15 ) ca. (10 10 ) Speicheraktualisierungen pro Sekunde ca. (10 14 ) ca. (10 14 ) ca. (10 10 ) Energieverbrauch ca. 15 bis 20 Watt ca. 3 Megawatt ca. 10 bis 40 Watt Gewicht ca. 1,4 kg ca. 106 Tonnen ca. 1,24 kg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Folie 32</a:t>
            </a:r>
          </a:p>
        </p:txBody>
      </p:sp>
      <p:sp>
        <p:nvSpPr>
          <p:cNvPr id="3" name="Text"/>
          <p:cNvSpPr txBox="1"/>
          <p:nvPr/>
        </p:nvSpPr>
        <p:spPr>
          <a:xfrm>
            <a:off x="457200" y="1600200"/>
            <a:ext cx="8229600" cy="4800600"/>
          </a:xfrm>
          <a:prstGeom prst="rect">
            <a:avLst/>
          </a:prstGeom>
        </p:spPr>
        <p:txBody>
          <a:bodyPr wrap="square" rtlCol="0"/>
          <a:lstStyle/>
          <a:p>
            <a:r>
              <a:rPr lang="de-DE" sz="1600" dirty="0"/>
              <a:t>Notizen:</a:t>
            </a:r>
          </a:p>
          <a:p>
            <a:pPr/>
            <a:r>
              <a:rPr lang="de-DE" sz="1600" dirty="0"/>
              <a:t>Stundenende : Unser Roter Faden durch die KI Welt —&gt; KI Landkarte zeigen, Roten faden einzeichnen , schon einmal Begriffe der SuS sammeln, vielleicht Stationen nummerieren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Hausaufgabe: KI erleben - Was geht schon?</a:t>
            </a:r>
          </a:p>
        </p:txBody>
      </p:sp>
      <p:sp>
        <p:nvSpPr>
          <p:cNvPr id="3" name="Text"/>
          <p:cNvSpPr txBox="1"/>
          <p:nvPr/>
        </p:nvSpPr>
        <p:spPr>
          <a:xfrm>
            <a:off x="457200" y="1600200"/>
            <a:ext cx="8229600" cy="4800600"/>
          </a:xfrm>
          <a:prstGeom prst="rect">
            <a:avLst/>
          </a:prstGeom>
        </p:spPr>
        <p:txBody>
          <a:bodyPr wrap="square" rtlCol="0"/>
          <a:lstStyle/>
          <a:p>
            <a:r>
              <a:rPr lang="de-DE" sz="1600" dirty="0"/>
              <a:t>Setzte dich intensiv mit einem der</a:t>
            </a:r>
          </a:p>
          <a:p>
            <a:pPr/>
            <a:r>
              <a:rPr lang="de-DE" sz="1600" dirty="0"/>
              <a:t>folgenden Themen auseinander und probiere die Tools aus (siehe PDF) . Charakterisiere das erprobte Tool nach</a:t>
            </a:r>
          </a:p>
          <a:p>
            <a:pPr/>
            <a:r>
              <a:rPr lang="de-DE" sz="1600" dirty="0"/>
              <a:t>dem vorgegebenen Schema:</a:t>
            </a:r>
          </a:p>
          <a:p>
            <a:pPr/>
            <a:r>
              <a:rPr lang="de-DE" sz="1600" dirty="0"/>
              <a:t> </a:t>
            </a:r>
          </a:p>
          <a:p>
            <a:pPr/>
            <a:r>
              <a:rPr lang="de-DE" sz="1600" dirty="0"/>
              <a:t> KI</a:t>
            </a:r>
          </a:p>
          <a:p>
            <a:pPr/>
            <a:r>
              <a:rPr lang="de-DE" sz="1600" dirty="0"/>
              <a:t> </a:t>
            </a:r>
          </a:p>
          <a:p>
            <a:pPr/>
            <a:r>
              <a:rPr lang="de-DE" sz="1600" dirty="0"/>
              <a:t> „Welche Bezeichnung gibst du der</a:t>
            </a:r>
          </a:p>
          <a:p>
            <a:pPr/>
            <a:r>
              <a:rPr lang="de-DE" sz="1600" dirty="0"/>
              <a:t> Künstlichen KI?“</a:t>
            </a:r>
          </a:p>
          <a:p>
            <a:pPr/>
            <a:r>
              <a:rPr lang="de-DE" sz="1600" dirty="0"/>
              <a:t> </a:t>
            </a:r>
          </a:p>
          <a:p>
            <a:pPr/>
            <a:r>
              <a:rPr lang="de-DE" sz="1600" dirty="0"/>
              <a:t> Aufgabe</a:t>
            </a:r>
          </a:p>
          <a:p>
            <a:pPr/>
            <a:r>
              <a:rPr lang="de-DE" sz="1600" dirty="0"/>
              <a:t> </a:t>
            </a:r>
          </a:p>
          <a:p>
            <a:pPr/>
            <a:r>
              <a:rPr lang="de-DE" sz="1600" dirty="0"/>
              <a:t> „Was macht die KI?“,</a:t>
            </a:r>
          </a:p>
          <a:p>
            <a:pPr/>
            <a:r>
              <a:rPr lang="de-DE" sz="1600" dirty="0"/>
              <a:t> </a:t>
            </a:r>
          </a:p>
          <a:p>
            <a:pPr/>
            <a:r>
              <a:rPr lang="de-DE" sz="1600" dirty="0"/>
              <a:t> „Welches Problem löst</a:t>
            </a:r>
          </a:p>
          <a:p>
            <a:pPr/>
            <a:r>
              <a:rPr lang="de-DE" sz="1600" dirty="0"/>
              <a:t> die KI?“,</a:t>
            </a:r>
          </a:p>
          <a:p>
            <a:pPr/>
            <a:r>
              <a:rPr lang="de-DE" sz="1600" dirty="0"/>
              <a:t> </a:t>
            </a:r>
          </a:p>
          <a:p>
            <a:pPr/>
            <a:r>
              <a:rPr lang="de-DE" sz="1600" dirty="0"/>
              <a:t> „Wessen Aufgabe</a:t>
            </a:r>
          </a:p>
          <a:p>
            <a:pPr/>
            <a:r>
              <a:rPr lang="de-DE" sz="1600" dirty="0"/>
              <a:t> übernimmt die KI?“</a:t>
            </a:r>
          </a:p>
          <a:p>
            <a:pPr/>
            <a:r>
              <a:rPr lang="de-DE" sz="1600" dirty="0"/>
              <a:t> </a:t>
            </a:r>
          </a:p>
          <a:p>
            <a:pPr/>
            <a:r>
              <a:rPr lang="de-DE" sz="1600" dirty="0"/>
              <a:t> Umgebung</a:t>
            </a:r>
          </a:p>
          <a:p>
            <a:pPr/>
            <a:r>
              <a:rPr lang="de-DE" sz="1600" dirty="0"/>
              <a:t> </a:t>
            </a:r>
          </a:p>
          <a:p>
            <a:pPr/>
            <a:r>
              <a:rPr lang="de-DE" sz="1600" dirty="0"/>
              <a:t> „Welche</a:t>
            </a:r>
          </a:p>
          <a:p>
            <a:pPr/>
            <a:r>
              <a:rPr lang="de-DE" sz="1600" dirty="0"/>
              <a:t> Umgebung findet die KI vor?“</a:t>
            </a:r>
          </a:p>
          <a:p>
            <a:pPr/>
            <a:r>
              <a:rPr lang="de-DE" sz="1600" dirty="0"/>
              <a:t> </a:t>
            </a:r>
          </a:p>
          <a:p>
            <a:pPr/>
            <a:r>
              <a:rPr lang="de-DE" sz="1600" dirty="0"/>
              <a:t> Eingabe-Daten</a:t>
            </a:r>
          </a:p>
          <a:p>
            <a:pPr/>
            <a:r>
              <a:rPr lang="de-DE" sz="1600" dirty="0"/>
              <a:t> </a:t>
            </a:r>
          </a:p>
          <a:p>
            <a:pPr/>
            <a:r>
              <a:rPr lang="de-DE" sz="1600" dirty="0"/>
              <a:t> „Welche Daten benötigt</a:t>
            </a:r>
          </a:p>
          <a:p>
            <a:pPr/>
            <a:r>
              <a:rPr lang="de-DE" sz="1600" dirty="0"/>
              <a:t> die KI?“</a:t>
            </a:r>
          </a:p>
          <a:p>
            <a:pPr/>
            <a:r>
              <a:rPr lang="de-DE" sz="1600" dirty="0"/>
              <a:t> </a:t>
            </a:r>
          </a:p>
          <a:p>
            <a:pPr/>
            <a:r>
              <a:rPr lang="de-DE" sz="1600" dirty="0"/>
              <a:t> Sensoren</a:t>
            </a:r>
          </a:p>
          <a:p>
            <a:pPr/>
            <a:r>
              <a:rPr lang="de-DE" sz="1600" dirty="0"/>
              <a:t> </a:t>
            </a:r>
          </a:p>
          <a:p>
            <a:pPr/>
            <a:r>
              <a:rPr lang="de-DE" sz="1600" dirty="0"/>
              <a:t> „Woher</a:t>
            </a:r>
          </a:p>
          <a:p>
            <a:pPr/>
            <a:r>
              <a:rPr lang="de-DE" sz="1600" dirty="0"/>
              <a:t> stammen diese Daten?“</a:t>
            </a:r>
          </a:p>
          <a:p>
            <a:pPr/>
            <a:r>
              <a:rPr lang="de-DE" sz="1600" dirty="0"/>
              <a:t> </a:t>
            </a:r>
          </a:p>
          <a:p>
            <a:pPr/>
            <a:r>
              <a:rPr lang="de-DE" sz="1600" dirty="0"/>
              <a:t> Ausgabe-Daten</a:t>
            </a:r>
          </a:p>
          <a:p>
            <a:pPr/>
            <a:r>
              <a:rPr lang="de-DE" sz="1600" dirty="0"/>
              <a:t> </a:t>
            </a:r>
          </a:p>
          <a:p>
            <a:pPr/>
            <a:r>
              <a:rPr lang="de-DE" sz="1600" dirty="0"/>
              <a:t> „Welche Daten gibt die</a:t>
            </a:r>
          </a:p>
          <a:p>
            <a:pPr/>
            <a:r>
              <a:rPr lang="de-DE" sz="1600" dirty="0"/>
              <a:t> KI aus?“</a:t>
            </a:r>
          </a:p>
          <a:p>
            <a:pPr/>
            <a:r>
              <a:rPr lang="de-DE" sz="1600" dirty="0"/>
              <a:t> </a:t>
            </a:r>
          </a:p>
          <a:p>
            <a:pPr/>
            <a:r>
              <a:rPr lang="de-DE" sz="1600" dirty="0"/>
              <a:t> Aktoren</a:t>
            </a:r>
          </a:p>
          <a:p>
            <a:pPr/>
            <a:r>
              <a:rPr lang="de-DE" sz="1600" dirty="0"/>
              <a:t> </a:t>
            </a:r>
          </a:p>
          <a:p>
            <a:pPr/>
            <a:r>
              <a:rPr lang="de-DE" sz="1600" dirty="0"/>
              <a:t> „Wie</a:t>
            </a:r>
          </a:p>
          <a:p>
            <a:pPr/>
            <a:r>
              <a:rPr lang="de-DE" sz="1600" dirty="0"/>
              <a:t> gibt die KI diese Daten aus?“</a:t>
            </a:r>
          </a:p>
          <a:p>
            <a:pPr/>
            <a:r>
              <a:rPr lang="de-DE" sz="1600" dirty="0"/>
              <a:t> </a:t>
            </a:r>
          </a:p>
          <a:p>
            <a:pPr/>
            <a:r>
              <a:rPr lang="de-DE" sz="1600" dirty="0"/>
              <a:t> wünschenswerte</a:t>
            </a:r>
          </a:p>
          <a:p>
            <a:pPr/>
            <a:r>
              <a:rPr lang="de-DE" sz="1600" dirty="0"/>
              <a:t> Qualitäten</a:t>
            </a:r>
          </a:p>
          <a:p>
            <a:pPr/>
            <a:r>
              <a:rPr lang="de-DE" sz="1600" dirty="0"/>
              <a:t> </a:t>
            </a:r>
          </a:p>
          <a:p>
            <a:pPr/>
            <a:r>
              <a:rPr lang="de-DE" sz="1600" dirty="0"/>
              <a:t> „Woran kann man die</a:t>
            </a:r>
          </a:p>
          <a:p>
            <a:pPr/>
            <a:r>
              <a:rPr lang="de-DE" sz="1600" dirty="0"/>
              <a:t> Leistungsfähigkeit der KI bewerten?“</a:t>
            </a:r>
          </a:p>
          <a:p>
            <a:pPr/>
            <a:r>
              <a:rPr lang="de-DE" sz="1600" dirty="0"/>
              <a:t> </a:t>
            </a:r>
          </a:p>
          <a:p>
            <a:pPr/>
            <a:r>
              <a:rPr lang="de-DE" sz="1600" dirty="0"/>
              <a:t>Experimentierzeit!</a:t>
            </a:r>
          </a:p>
          <a:p>
            <a:pPr/>
            <a:r>
              <a:rPr lang="de-DE" sz="1600" dirty="0"/>
              <a:t> </a:t>
            </a:r>
          </a:p>
          <a:p>
            <a:pPr/>
            <a:r>
              <a:rPr lang="de-DE" sz="1600" dirty="0"/>
              <a:t>Themen (PDF)</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Bis zur nächsten Stunde!</a:t>
            </a:r>
          </a:p>
        </p:txBody>
      </p:sp>
      <p:sp>
        <p:nvSpPr>
          <p:cNvPr id="3" name="Text"/>
          <p:cNvSpPr txBox="1"/>
          <p:nvPr/>
        </p:nvSpPr>
        <p:spPr>
          <a:xfrm>
            <a:off x="457200" y="1600200"/>
            <a:ext cx="8229600" cy="4800600"/>
          </a:xfrm>
          <a:prstGeom prst="rect">
            <a:avLst/>
          </a:prstGeom>
        </p:spPr>
        <p:txBody>
          <a:bodyPr wrap="square" rtlCol="0"/>
          <a:lstStyle/>
          <a:p>
            <a:r>
              <a:rPr lang="de-DE" sz="1600" dirty="0"/>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KI erleben - Was geht schon?</a:t>
            </a:r>
          </a:p>
        </p:txBody>
      </p:sp>
      <p:sp>
        <p:nvSpPr>
          <p:cNvPr id="3" name="Text"/>
          <p:cNvSpPr txBox="1"/>
          <p:nvPr/>
        </p:nvSpPr>
        <p:spPr>
          <a:xfrm>
            <a:off x="457200" y="1600200"/>
            <a:ext cx="8229600" cy="4800600"/>
          </a:xfrm>
          <a:prstGeom prst="rect">
            <a:avLst/>
          </a:prstGeom>
        </p:spPr>
        <p:txBody>
          <a:bodyPr wrap="square" rtlCol="0"/>
          <a:lstStyle/>
          <a:p>
            <a:r>
              <a:rPr lang="de-DE" sz="1600" dirty="0"/>
              <a:t>• Bildet Gruppen zu den Themen mit denen Ihr euch in der Hausaufgabe beschäftigt habt.</a:t>
            </a:r>
          </a:p>
          <a:p>
            <a:pPr/>
            <a:r>
              <a:rPr lang="de-DE" sz="1600" dirty="0"/>
              <a:t> </a:t>
            </a:r>
          </a:p>
          <a:p>
            <a:pPr/>
            <a:r>
              <a:rPr lang="de-DE" sz="1600" dirty="0"/>
              <a:t> • Tauscht eure Ergebnisse aus. Bereitet eine kurze (max. 5 Minuten) Präsentation vor .</a:t>
            </a:r>
          </a:p>
          <a:p>
            <a:pPr/>
            <a:r>
              <a:rPr lang="de-DE" sz="1600" dirty="0"/>
              <a:t>• Stellt eure eigenen Kreationen mit den Tools vor!!!</a:t>
            </a:r>
          </a:p>
          <a:p>
            <a:pPr/>
            <a:r>
              <a:rPr lang="de-DE" sz="1600" dirty="0"/>
              <a:t> </a:t>
            </a:r>
          </a:p>
          <a:p>
            <a:pPr/>
            <a:r>
              <a:rPr lang="de-DE" sz="1600" dirty="0"/>
              <a:t> 5 x = 25 min</a:t>
            </a:r>
          </a:p>
          <a:p>
            <a:pPr/>
            <a:r>
              <a:rPr lang="de-DE" sz="1600" dirty="0"/>
              <a:t> </a:t>
            </a:r>
          </a:p>
          <a:p>
            <a:pPr/>
            <a:r>
              <a:rPr lang="de-DE" sz="1600" dirty="0"/>
              <a:t> • Präsentationszeit!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Bis zur nächsten Stunde!</a:t>
            </a:r>
          </a:p>
        </p:txBody>
      </p:sp>
      <p:sp>
        <p:nvSpPr>
          <p:cNvPr id="3" name="Text"/>
          <p:cNvSpPr txBox="1"/>
          <p:nvPr/>
        </p:nvSpPr>
        <p:spPr>
          <a:xfrm>
            <a:off x="457200" y="1600200"/>
            <a:ext cx="8229600" cy="4800600"/>
          </a:xfrm>
          <a:prstGeom prst="rect">
            <a:avLst/>
          </a:prstGeom>
        </p:spPr>
        <p:txBody>
          <a:bodyPr wrap="square" rtlCol="0"/>
          <a:lstStyle/>
          <a:p>
            <a:r>
              <a:rPr lang="de-DE" sz="1600" dirty="0"/>
              <a:t> </a:t>
            </a:r>
          </a:p>
        </p:txBody>
      </p:sp>
    </p:spTree>
  </p:cSld>
  <p:clrMapOvr>
    <a:masterClrMapping/>
  </p:clrMapOvr>
</p:sld>
</file>