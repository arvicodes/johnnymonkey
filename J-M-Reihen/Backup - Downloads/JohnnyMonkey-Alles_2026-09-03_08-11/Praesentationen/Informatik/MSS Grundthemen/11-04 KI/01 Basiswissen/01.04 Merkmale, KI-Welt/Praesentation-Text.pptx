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
    <p:sldId id="257" r:id="rId2"/>
    <p:sldId id="258" r:id="rId3"/>
    <p:sldId id="259" r:id="rId4"/>
    <p:sldId id="260" r:id="rId5"/>
    <p:sldId id="261" r:id="rId6"/>
    <p:sldId id="262" r:id="rId7"/>
    <p:sldId id="263" r:id="rId8"/>
  </p:sldIdLst>
  <p:sldSz cx="9144000" cy="6858000" type="screen4x3"/>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Guten Morgen!</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Auf nach draußen ...</a:t>
            </a:r>
          </a:p>
        </p:txBody>
      </p:sp>
      <p:sp>
        <p:nvSpPr>
          <p:cNvPr id="3" name="Text"/>
          <p:cNvSpPr txBox="1"/>
          <p:nvPr/>
        </p:nvSpPr>
        <p:spPr>
          <a:xfrm>
            <a:off x="457200" y="1600200"/>
            <a:ext cx="8229600" cy="4800600"/>
          </a:xfrm>
          <a:prstGeom prst="rect">
            <a:avLst/>
          </a:prstGeom>
        </p:spPr>
        <p:txBody>
          <a:bodyPr wrap="square" rtlCol="0"/>
          <a:lstStyle/>
          <a:p>
            <a:r>
              <a:rPr lang="de-DE" sz="1600" dirty="0"/>
              <a:t>Wir gehen frei herum .... Tausche dich mit so vielen Mitschüler:innen über dein Bild, deine KI aus. Beschreibe deine KI. Dein Gegenüber benennt mögliche Probleme. Diskutiert .</a:t>
            </a:r>
          </a:p>
          <a:p>
            <a:pPr/>
            <a:r>
              <a:rPr lang="de-DE" sz="1600" dirty="0"/>
              <a:t> </a:t>
            </a:r>
          </a:p>
          <a:p>
            <a:pPr/>
            <a:r>
              <a:rPr lang="de-DE" sz="1600" dirty="0"/>
              <a:t> Besuche alle 10 Stationen. Trefft je eine andere Person an einer der Stationen. Einigt euch gemeinsam ein eine Begriffserklärung und ein Beispiel. Schreibt diese auf die vorliegenden Karteikarten.</a:t>
            </a:r>
          </a:p>
          <a:p>
            <a:pPr/>
            <a:r>
              <a:rPr lang="de-DE" sz="1600" dirty="0"/>
              <a:t> </a:t>
            </a:r>
          </a:p>
          <a:p>
            <a:pPr/>
            <a:r>
              <a:rPr lang="de-DE" sz="1600" dirty="0"/>
              <a:t>Notizen:</a:t>
            </a:r>
          </a:p>
          <a:p>
            <a:pPr/>
            <a:r>
              <a:rPr lang="de-DE" sz="1600" dirty="0"/>
              <a:t>Material:</a:t>
            </a:r>
          </a:p>
          <a:p>
            <a:pPr/>
            <a:r>
              <a:rPr lang="de-DE" sz="1600" dirty="0"/>
              <a:t> </a:t>
            </a:r>
          </a:p>
          <a:p>
            <a:pPr/>
            <a:r>
              <a:rPr lang="de-DE" sz="1600" dirty="0"/>
              <a:t> • Karten mit den 10 Begriffen.</a:t>
            </a:r>
          </a:p>
          <a:p>
            <a:pPr/>
            <a:r>
              <a:rPr lang="de-DE" sz="1600" dirty="0"/>
              <a:t>• Leere Karten pro Station</a:t>
            </a:r>
          </a:p>
          <a:p>
            <a:pPr/>
            <a:r>
              <a:rPr lang="de-DE" sz="1600" dirty="0"/>
              <a:t> </a:t>
            </a:r>
          </a:p>
          <a:p>
            <a:pPr/>
            <a:r>
              <a:rPr lang="de-DE" sz="1600" dirty="0"/>
              <a:t> Musterlösung:</a:t>
            </a:r>
          </a:p>
          <a:p>
            <a:pPr/>
            <a:r>
              <a:rPr lang="de-DE" sz="1600" dirty="0"/>
              <a:t> Merkmal Erklärung Beispiel autonom Das System kann ohne ständige Steuerung durch einen Menschen selbstständig handeln. Ein autonomes Fahrzeug erkennt seine Umgebung und entscheidet selbst, wann es lenken oder bremsen muss. Wahlster beschreibt kognitive Agenten als Systeme, die ihre Umgebung wahrnehmen und darin handeln. proaktiv Das System wartet nicht nur auf einen Auftrag, sondern wird von sich aus aktiv, wenn es Handlungsbedarf erkennt. Ein Fahrzeug erkennt Aquaplaning und warnt andere Fahrzeuge, bevor diese die Gefahrenstelle erreichen. adaptiv Das System passt sein Verhalten an eine veränderte Umgebung oder Situation an. Ein Roboter verändert seine Bewegungen, wenn er statt auf festem Boden plötzlich auf Schnee oder unebenem Gelände unterwegs ist. Wahlster zeigt hierfür unter anderem Roboter für schwieriges Gelände. selbsterklärend Das System kann verständlich machen, warum es eine bestimmte Entscheidung getroffen hat. Ein intelligentes Fahrzeug erklärt, dass es abbremst, weil eine Verkehrsregel oder eine erkannte Gefahr dies erfordert. Wahlster ordnet insbesondere wissensbasierte, symbolische Prozesse einer Ebene mit Erklärungsmöglichkeit zu. fehlertolerant Das System kann auch bei Störungen, unvollständigen Informationen oder einzelnen Fehlern weiterhin sinnvoll arbeiten. Ein Roboter kann trotz rutschigem Untergrund sein Gleichgewicht halten und seine Aufgabe weiter ausführen. Wahlster hebt bei bestimmten KI Verfahren eine schnelle und robuste Verarbeitung hervor. selbstoptimierend Das System kann sein eigenes Verhalten so verändern, dass es seine Aufgabe zunehmend besser oder effizienter erfüllt. Ein Fahrassistenzsystem passt seine Strategie so an, dass eine Strecke sicherer oder mit geringerem Energieverbrauch zurückgelegt wird. lernfähig Das System kann aus Daten oder Erfahrungen neues Wissen gewinnen und sein zukünftiges Verhalten verändern. Ein Bilderkennungssystem lernt anhand vieler Beispielbilder, bestimmte Gegenstände immer zuverlässiger zu erkennen. Wahlster nennt Lernen und maschinelles Lernen als zentrale Bestandteile der KI. zielorientiert Das System richtet seine Handlungen auf ein vorgegebenes oder selbst erkanntes Ziel aus. Ein autonomes Fahrzeug plant seine Handlungen so, dass es sein Fahrtziel sicher erreicht. Sensorbasierte Handlungsplanung ist bei Wahlster ein zentrales Merkmal kognitiver Agenten. flexibel Das System kann auf unterschiedliche und auch unerwartete Situationen reagieren und verschiedene Lösungswege nutzen. Ein Roboter erkennt, dass sein ursprünglicher Weg blockiert ist, und wählt selbstständig einen anderen Weg zum Ziel. kooperativ Das System kann Informationen mit anderen Systemen austauschen und gemeinsam mit ihnen ein Ziel verfolgen. Mehrere Fahrzeuge tauschen Informationen über Gefahrenstellen aus. Wahlster zeigt außerdem, dass mehrere einfache Agenten durch Zusammenarbeit ein komplexes Gesamtverhalten erzeugen können. Zusammenfassend: Ein intelligentes IT System zeichnet sich bei Wahlster also nicht nur dadurch aus, dass es Auf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Sammlung - 10 Merkmale intelligenter Systeme</a:t>
            </a:r>
          </a:p>
        </p:txBody>
      </p:sp>
      <p:sp>
        <p:nvSpPr>
          <p:cNvPr id="3" name="Text"/>
          <p:cNvSpPr txBox="1"/>
          <p:nvPr/>
        </p:nvSpPr>
        <p:spPr>
          <a:xfrm>
            <a:off x="457200" y="1600200"/>
            <a:ext cx="8229600" cy="4800600"/>
          </a:xfrm>
          <a:prstGeom prst="rect">
            <a:avLst/>
          </a:prstGeom>
        </p:spPr>
        <p:txBody>
          <a:bodyPr wrap="square" rtlCol="0"/>
          <a:lstStyle/>
          <a:p>
            <a:r>
              <a:rPr lang="de-DE" sz="1600" dirty="0"/>
              <a:t>Fotos der Stationen</a:t>
            </a:r>
          </a:p>
          <a:p>
            <a:pPr/>
            <a:r>
              <a:rPr lang="de-DE" sz="1600" dirty="0"/>
              <a:t> </a:t>
            </a:r>
          </a:p>
          <a:p>
            <a:pPr/>
            <a:r>
              <a:rPr lang="de-DE" sz="1600" dirty="0"/>
              <a:t>Notizen:</a:t>
            </a:r>
          </a:p>
          <a:p>
            <a:pPr/>
            <a:r>
              <a:rPr lang="de-DE" sz="1600" dirty="0"/>
              <a:t>Wir gehen als Gruppe zügig durch die Stationen und besprechen sehr sehr kurz. Sicherung erfolgt durch ein Foto der Karten das hier eingefügt wird.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4</a:t>
            </a:r>
          </a:p>
        </p:txBody>
      </p:sp>
      <p:sp>
        <p:nvSpPr>
          <p:cNvPr id="3" name="Text"/>
          <p:cNvSpPr txBox="1"/>
          <p:nvPr/>
        </p:nvSpPr>
        <p:spPr>
          <a:xfrm>
            <a:off x="457200" y="1600200"/>
            <a:ext cx="8229600" cy="4800600"/>
          </a:xfrm>
          <a:prstGeom prst="rect">
            <a:avLst/>
          </a:prstGeom>
        </p:spPr>
        <p:txBody>
          <a:bodyPr wrap="square" rtlCol="0"/>
          <a:lstStyle/>
          <a:p>
            <a:r>
              <a:rPr lang="de-DE" sz="1600" dirty="0"/>
              <a:t>Notizen:</a:t>
            </a:r>
          </a:p>
          <a:p>
            <a:pPr/>
            <a:r>
              <a:rPr lang="de-DE" sz="1600" dirty="0"/>
              <a:t>Sprechakte:</a:t>
            </a:r>
          </a:p>
          <a:p>
            <a:pPr/>
            <a:r>
              <a:rPr lang="de-DE" sz="1600" dirty="0"/>
              <a:t> Bisher haben wir versucht zu ergründen, was eine KI ist und was eben nicht. Aber auch innerhalb der Systeme mit Künstlicher Intelligenz gibt es erhebliche Unterschiede.</a:t>
            </a:r>
          </a:p>
          <a:p>
            <a:pPr/>
            <a:r>
              <a:rPr lang="de-DE" sz="1600" dirty="0"/>
              <a:t> In der Abbildung siehst du neu die Begriffe Maschinelles Lernen (ML - machine learning) und Deep Learning .</a:t>
            </a:r>
          </a:p>
          <a:p>
            <a:pPr/>
            <a:r>
              <a:rPr lang="de-DE" sz="1600" dirty="0"/>
              <a:t> Damit ergibt sich ein detaillierteres Bild des Gebiets der Künstlichen Intelligenz :</a:t>
            </a:r>
          </a:p>
          <a:p>
            <a:pPr/>
            <a:r>
              <a:rPr lang="de-DE" sz="1600" dirty="0"/>
              <a:t> </a:t>
            </a:r>
          </a:p>
          <a:p>
            <a:pPr/>
            <a:r>
              <a:rPr lang="de-DE" sz="1600" dirty="0"/>
              <a:t> • Durch die äußere gestrichelte Linie ist angedeutet, dass der Begriff KI nicht genau zu definieren ist. Daher kann man nicht immer genau sagen, ob ein System zu KI gehört, oder eben nicht.</a:t>
            </a:r>
          </a:p>
          <a:p>
            <a:pPr/>
            <a:r>
              <a:rPr lang="de-DE" sz="1600" dirty="0"/>
              <a:t>• Innerhalb der KI gibt es das (hier blaue) Teilgebiet des Maschinellen Lernens . Hier lernt das KI-System selbständig und wird entsprechend als ➔ lernendes System bezeichnet. Ein Beispiel für ML ist das Lernen mit Hilfe eines ➔ Entscheidungsbaums .</a:t>
            </a:r>
          </a:p>
          <a:p>
            <a:pPr/>
            <a:r>
              <a:rPr lang="de-DE" sz="1600" dirty="0"/>
              <a:t>• Innerhalb des Maschinellen Lernes gibt es das (hier graue) Teilgebiet Deep Learning . Damit sind Lernverfahren gemeint, die mit neuronalen Netzen arbeiten. Sie verwenden zum Lernen ➔ künstliche Neuronen .</a:t>
            </a:r>
          </a:p>
          <a:p>
            <a:pPr/>
            <a:r>
              <a:rPr lang="de-DE" sz="1600" dirty="0"/>
              <a:t>• Die weißen Flächen außerhalb des ML umfassen alle intelligenten Systeme, die nicht selbständig lernen . Dazu gehören ➔ wissenbasierte Systeme , bei denen der Mensch der KI Regeln vorgibt, nach denen sie handeln soll.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Kleines Wunder - unser Gehirn</a:t>
            </a:r>
          </a:p>
        </p:txBody>
      </p:sp>
      <p:sp>
        <p:nvSpPr>
          <p:cNvPr id="3" name="Text"/>
          <p:cNvSpPr txBox="1"/>
          <p:nvPr/>
        </p:nvSpPr>
        <p:spPr>
          <a:xfrm>
            <a:off x="457200" y="1600200"/>
            <a:ext cx="8229600" cy="4800600"/>
          </a:xfrm>
          <a:prstGeom prst="rect">
            <a:avLst/>
          </a:prstGeom>
        </p:spPr>
        <p:txBody>
          <a:bodyPr wrap="square" rtlCol="0"/>
          <a:lstStyle/>
          <a:p>
            <a:r>
              <a:rPr lang="de-DE" sz="1600" dirty="0"/>
              <a:t>Merkmal Menschliches Gehirn Supercomputer Personal Computer Recheneinheiten ca. (10 11 ) Neuronen ca. (10 4 ) CPUs und (10 12 ) Transistoren 4 CPUs und ca. (10 9 ) Transistoren Speichereinheiten ca. (10 11 ) Neuronen und (10 14 ) Synapsen ca. (10 14 ) Bit RAM und (10 15 ) Bit Festplatte ca. (10 11 ) Bit RAM und (10 13 ) Bit Festplatte Zykluszeit ca. (10 -3 , s) ca. (10 -9 , s) ca. (10 -9 , s) Operationen pro Sekunde ca. (10 17 ) ca. (10 15 ) ca. (10 10 ) Speicheraktualisierungen pro Sekunde ca. (10 14 ) ca. (10 14 ) ca. (10 10 ) Energieverbrauch ca. 15 bis 20 Watt ca. 3 Megawatt ca. 10 bis 40 Watt Gewicht ca. 1,4 kg ca. 106 Tonnen ca. 1,24 kg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6</a:t>
            </a:r>
          </a:p>
        </p:txBody>
      </p:sp>
      <p:sp>
        <p:nvSpPr>
          <p:cNvPr id="3" name="Text"/>
          <p:cNvSpPr txBox="1"/>
          <p:nvPr/>
        </p:nvSpPr>
        <p:spPr>
          <a:xfrm>
            <a:off x="457200" y="1600200"/>
            <a:ext cx="8229600" cy="4800600"/>
          </a:xfrm>
          <a:prstGeom prst="rect">
            <a:avLst/>
          </a:prstGeom>
        </p:spPr>
        <p:txBody>
          <a:bodyPr wrap="square" rtlCol="0"/>
          <a:lstStyle/>
          <a:p>
            <a:r>
              <a:rPr lang="de-DE" sz="1600" dirty="0"/>
              <a:t>Notizen:</a:t>
            </a:r>
          </a:p>
          <a:p>
            <a:pPr/>
            <a:r>
              <a:rPr lang="de-DE" sz="1600" dirty="0"/>
              <a:t>Stundenende : Unser Roter Faden durch die KI Welt —&gt; KI Landkarte zeigen, Roten faden einzeichnen , schon einmal Begriffe der SuS sammeln, vielleicht Stationen nummerieren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 KI erleben - Was geht schon?</a:t>
            </a:r>
          </a:p>
        </p:txBody>
      </p:sp>
      <p:sp>
        <p:nvSpPr>
          <p:cNvPr id="3" name="Text"/>
          <p:cNvSpPr txBox="1"/>
          <p:nvPr/>
        </p:nvSpPr>
        <p:spPr>
          <a:xfrm>
            <a:off x="457200" y="1600200"/>
            <a:ext cx="8229600" cy="4800600"/>
          </a:xfrm>
          <a:prstGeom prst="rect">
            <a:avLst/>
          </a:prstGeom>
        </p:spPr>
        <p:txBody>
          <a:bodyPr wrap="square" rtlCol="0"/>
          <a:lstStyle/>
          <a:p>
            <a:r>
              <a:rPr lang="de-DE" sz="1600" dirty="0"/>
              <a:t>Setzte dich intensiv mit einem der</a:t>
            </a:r>
          </a:p>
          <a:p>
            <a:pPr/>
            <a:r>
              <a:rPr lang="de-DE" sz="1600" dirty="0"/>
              <a:t>folgenden Themen auseinander und probiere die Tools aus (siehe PDF) . Charakterisiere das erprobte Tool nach</a:t>
            </a:r>
          </a:p>
          <a:p>
            <a:pPr/>
            <a:r>
              <a:rPr lang="de-DE" sz="1600" dirty="0"/>
              <a:t>dem vorgegebenen Schema:</a:t>
            </a:r>
          </a:p>
          <a:p>
            <a:pPr/>
            <a:r>
              <a:rPr lang="de-DE" sz="1600" dirty="0"/>
              <a:t> </a:t>
            </a:r>
          </a:p>
          <a:p>
            <a:pPr/>
            <a:r>
              <a:rPr lang="de-DE" sz="1600" dirty="0"/>
              <a:t> KI</a:t>
            </a:r>
          </a:p>
          <a:p>
            <a:pPr/>
            <a:r>
              <a:rPr lang="de-DE" sz="1600" dirty="0"/>
              <a:t> </a:t>
            </a:r>
          </a:p>
          <a:p>
            <a:pPr/>
            <a:r>
              <a:rPr lang="de-DE" sz="1600" dirty="0"/>
              <a:t> „Welche Bezeichnung gibst du der</a:t>
            </a:r>
          </a:p>
          <a:p>
            <a:pPr/>
            <a:r>
              <a:rPr lang="de-DE" sz="1600" dirty="0"/>
              <a:t> Künstlichen KI?“</a:t>
            </a:r>
          </a:p>
          <a:p>
            <a:pPr/>
            <a:r>
              <a:rPr lang="de-DE" sz="1600" dirty="0"/>
              <a:t> </a:t>
            </a:r>
          </a:p>
          <a:p>
            <a:pPr/>
            <a:r>
              <a:rPr lang="de-DE" sz="1600" dirty="0"/>
              <a:t> Aufgabe</a:t>
            </a:r>
          </a:p>
          <a:p>
            <a:pPr/>
            <a:r>
              <a:rPr lang="de-DE" sz="1600" dirty="0"/>
              <a:t> </a:t>
            </a:r>
          </a:p>
          <a:p>
            <a:pPr/>
            <a:r>
              <a:rPr lang="de-DE" sz="1600" dirty="0"/>
              <a:t> „Was macht die KI?“,</a:t>
            </a:r>
          </a:p>
          <a:p>
            <a:pPr/>
            <a:r>
              <a:rPr lang="de-DE" sz="1600" dirty="0"/>
              <a:t> </a:t>
            </a:r>
          </a:p>
          <a:p>
            <a:pPr/>
            <a:r>
              <a:rPr lang="de-DE" sz="1600" dirty="0"/>
              <a:t> „Welches Problem löst</a:t>
            </a:r>
          </a:p>
          <a:p>
            <a:pPr/>
            <a:r>
              <a:rPr lang="de-DE" sz="1600" dirty="0"/>
              <a:t> die KI?“,</a:t>
            </a:r>
          </a:p>
          <a:p>
            <a:pPr/>
            <a:r>
              <a:rPr lang="de-DE" sz="1600" dirty="0"/>
              <a:t> </a:t>
            </a:r>
          </a:p>
          <a:p>
            <a:pPr/>
            <a:r>
              <a:rPr lang="de-DE" sz="1600" dirty="0"/>
              <a:t> „Wessen Aufgabe</a:t>
            </a:r>
          </a:p>
          <a:p>
            <a:pPr/>
            <a:r>
              <a:rPr lang="de-DE" sz="1600" dirty="0"/>
              <a:t> übernimmt die KI?“</a:t>
            </a:r>
          </a:p>
          <a:p>
            <a:pPr/>
            <a:r>
              <a:rPr lang="de-DE" sz="1600" dirty="0"/>
              <a:t> </a:t>
            </a:r>
          </a:p>
          <a:p>
            <a:pPr/>
            <a:r>
              <a:rPr lang="de-DE" sz="1600" dirty="0"/>
              <a:t> Umgebung</a:t>
            </a:r>
          </a:p>
          <a:p>
            <a:pPr/>
            <a:r>
              <a:rPr lang="de-DE" sz="1600" dirty="0"/>
              <a:t> </a:t>
            </a:r>
          </a:p>
          <a:p>
            <a:pPr/>
            <a:r>
              <a:rPr lang="de-DE" sz="1600" dirty="0"/>
              <a:t> „Welche</a:t>
            </a:r>
          </a:p>
          <a:p>
            <a:pPr/>
            <a:r>
              <a:rPr lang="de-DE" sz="1600" dirty="0"/>
              <a:t> Umgebung findet die KI vor?“</a:t>
            </a:r>
          </a:p>
          <a:p>
            <a:pPr/>
            <a:r>
              <a:rPr lang="de-DE" sz="1600" dirty="0"/>
              <a:t> </a:t>
            </a:r>
          </a:p>
          <a:p>
            <a:pPr/>
            <a:r>
              <a:rPr lang="de-DE" sz="1600" dirty="0"/>
              <a:t> Eingabe-Daten</a:t>
            </a:r>
          </a:p>
          <a:p>
            <a:pPr/>
            <a:r>
              <a:rPr lang="de-DE" sz="1600" dirty="0"/>
              <a:t> </a:t>
            </a:r>
          </a:p>
          <a:p>
            <a:pPr/>
            <a:r>
              <a:rPr lang="de-DE" sz="1600" dirty="0"/>
              <a:t> „Welche Daten benötigt</a:t>
            </a:r>
          </a:p>
          <a:p>
            <a:pPr/>
            <a:r>
              <a:rPr lang="de-DE" sz="1600" dirty="0"/>
              <a:t> die KI?“</a:t>
            </a:r>
          </a:p>
          <a:p>
            <a:pPr/>
            <a:r>
              <a:rPr lang="de-DE" sz="1600" dirty="0"/>
              <a:t> </a:t>
            </a:r>
          </a:p>
          <a:p>
            <a:pPr/>
            <a:r>
              <a:rPr lang="de-DE" sz="1600" dirty="0"/>
              <a:t> Sensoren</a:t>
            </a:r>
          </a:p>
          <a:p>
            <a:pPr/>
            <a:r>
              <a:rPr lang="de-DE" sz="1600" dirty="0"/>
              <a:t> </a:t>
            </a:r>
          </a:p>
          <a:p>
            <a:pPr/>
            <a:r>
              <a:rPr lang="de-DE" sz="1600" dirty="0"/>
              <a:t> „Woher</a:t>
            </a:r>
          </a:p>
          <a:p>
            <a:pPr/>
            <a:r>
              <a:rPr lang="de-DE" sz="1600" dirty="0"/>
              <a:t> stammen diese Daten?“</a:t>
            </a:r>
          </a:p>
          <a:p>
            <a:pPr/>
            <a:r>
              <a:rPr lang="de-DE" sz="1600" dirty="0"/>
              <a:t> </a:t>
            </a:r>
          </a:p>
          <a:p>
            <a:pPr/>
            <a:r>
              <a:rPr lang="de-DE" sz="1600" dirty="0"/>
              <a:t> Ausgabe-Daten</a:t>
            </a:r>
          </a:p>
          <a:p>
            <a:pPr/>
            <a:r>
              <a:rPr lang="de-DE" sz="1600" dirty="0"/>
              <a:t> </a:t>
            </a:r>
          </a:p>
          <a:p>
            <a:pPr/>
            <a:r>
              <a:rPr lang="de-DE" sz="1600" dirty="0"/>
              <a:t> „Welche Daten gibt die</a:t>
            </a:r>
          </a:p>
          <a:p>
            <a:pPr/>
            <a:r>
              <a:rPr lang="de-DE" sz="1600" dirty="0"/>
              <a:t> KI aus?“</a:t>
            </a:r>
          </a:p>
          <a:p>
            <a:pPr/>
            <a:r>
              <a:rPr lang="de-DE" sz="1600" dirty="0"/>
              <a:t> </a:t>
            </a:r>
          </a:p>
          <a:p>
            <a:pPr/>
            <a:r>
              <a:rPr lang="de-DE" sz="1600" dirty="0"/>
              <a:t> Aktoren</a:t>
            </a:r>
          </a:p>
          <a:p>
            <a:pPr/>
            <a:r>
              <a:rPr lang="de-DE" sz="1600" dirty="0"/>
              <a:t> </a:t>
            </a:r>
          </a:p>
          <a:p>
            <a:pPr/>
            <a:r>
              <a:rPr lang="de-DE" sz="1600" dirty="0"/>
              <a:t> „Wie</a:t>
            </a:r>
          </a:p>
          <a:p>
            <a:pPr/>
            <a:r>
              <a:rPr lang="de-DE" sz="1600" dirty="0"/>
              <a:t> gibt die KI diese Daten aus?“</a:t>
            </a:r>
          </a:p>
          <a:p>
            <a:pPr/>
            <a:r>
              <a:rPr lang="de-DE" sz="1600" dirty="0"/>
              <a:t> </a:t>
            </a:r>
          </a:p>
          <a:p>
            <a:pPr/>
            <a:r>
              <a:rPr lang="de-DE" sz="1600" dirty="0"/>
              <a:t> wünschenswerte</a:t>
            </a:r>
          </a:p>
          <a:p>
            <a:pPr/>
            <a:r>
              <a:rPr lang="de-DE" sz="1600" dirty="0"/>
              <a:t> Qualitäten</a:t>
            </a:r>
          </a:p>
          <a:p>
            <a:pPr/>
            <a:r>
              <a:rPr lang="de-DE" sz="1600" dirty="0"/>
              <a:t> </a:t>
            </a:r>
          </a:p>
          <a:p>
            <a:pPr/>
            <a:r>
              <a:rPr lang="de-DE" sz="1600" dirty="0"/>
              <a:t> „Woran kann man die</a:t>
            </a:r>
          </a:p>
          <a:p>
            <a:pPr/>
            <a:r>
              <a:rPr lang="de-DE" sz="1600" dirty="0"/>
              <a:t> Leistungsfähigkeit der KI bewerten?“</a:t>
            </a:r>
          </a:p>
          <a:p>
            <a:pPr/>
            <a:r>
              <a:rPr lang="de-DE" sz="1600" dirty="0"/>
              <a:t> </a:t>
            </a:r>
          </a:p>
          <a:p>
            <a:pPr/>
            <a:r>
              <a:rPr lang="de-DE" sz="1600" dirty="0"/>
              <a:t>Experimentierzeit!</a:t>
            </a:r>
          </a:p>
          <a:p>
            <a:pPr/>
            <a:r>
              <a:rPr lang="de-DE" sz="1600" dirty="0"/>
              <a:t> </a:t>
            </a:r>
          </a:p>
          <a:p>
            <a:pPr/>
            <a:r>
              <a:rPr lang="de-DE" sz="1600" dirty="0"/>
              <a:t>Themen (PDF)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