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IdLst>
    <p:sldId id="256" r:id="rId1"/>
    <p:sldId id="257" r:id="rId2"/>
    <p:sldId id="258" r:id="rId3"/>
    <p:sldId id="259" r:id="rId4"/>
    <p:sldId id="260" r:id="rId5"/>
    <p:sldId id="261" r:id="rId6"/>
    <p:sldId id="262" r:id="rId7"/>
    <p:sldId id="263" r:id="rId8"/>
  </p:sldIdLst>
  <p:sldSz cx="9144000" cy="6858000" type="screen4x3"/>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Guten Morgen!</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Was heißt eigentlich "Künstliche Intelligenz" ?</a:t>
            </a:r>
          </a:p>
        </p:txBody>
      </p:sp>
      <p:sp>
        <p:nvSpPr>
          <p:cNvPr id="3" name="Text"/>
          <p:cNvSpPr txBox="1"/>
          <p:nvPr/>
        </p:nvSpPr>
        <p:spPr>
          <a:xfrm>
            <a:off x="457200" y="1600200"/>
            <a:ext cx="8229600" cy="4800600"/>
          </a:xfrm>
          <a:prstGeom prst="rect">
            <a:avLst/>
          </a:prstGeom>
        </p:spPr>
        <p:txBody>
          <a:bodyPr wrap="square" rtlCol="0"/>
          <a:lstStyle/>
          <a:p>
            <a:r>
              <a:rPr lang="de-DE" sz="1600" dirty="0"/>
              <a:t>• Notiere SPONTAN , ohne zu recherchieren und ohne deine Nachbarn zu fragen deine Antwort .</a:t>
            </a:r>
          </a:p>
          <a:p>
            <a:pPr/>
            <a:r>
              <a:rPr lang="de-DE" sz="1600" dirty="0"/>
              <a:t> </a:t>
            </a:r>
          </a:p>
          <a:p>
            <a:pPr/>
            <a:r>
              <a:rPr lang="de-DE" sz="1600" dirty="0"/>
              <a:t> • Tausche dich mit anderen aus : "Welche Antwort habt ihr gerade notiert?". Findet gemeinsam eine bessere Antwort . Tagt eure Antworten in der Leinwand ein.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KI suchen ....</a:t>
            </a:r>
          </a:p>
        </p:txBody>
      </p:sp>
      <p:sp>
        <p:nvSpPr>
          <p:cNvPr id="3" name="Text"/>
          <p:cNvSpPr txBox="1"/>
          <p:nvPr/>
        </p:nvSpPr>
        <p:spPr>
          <a:xfrm>
            <a:off x="457200" y="1600200"/>
            <a:ext cx="8229600" cy="4800600"/>
          </a:xfrm>
          <a:prstGeom prst="rect">
            <a:avLst/>
          </a:prstGeom>
        </p:spPr>
        <p:txBody>
          <a:bodyPr wrap="square" rtlCol="0"/>
          <a:lstStyle/>
          <a:p>
            <a:r>
              <a:rPr lang="de-DE" sz="1600" dirty="0"/>
              <a:t>•</a:t>
            </a:r>
          </a:p>
          <a:p>
            <a:pPr/>
            <a:r>
              <a:rPr lang="de-DE" sz="1600" dirty="0"/>
              <a:t> </a:t>
            </a:r>
          </a:p>
          <a:p>
            <a:pPr/>
            <a:r>
              <a:rPr lang="de-DE" sz="1600" dirty="0"/>
              <a:t>Finde im Wimmelbild recht die Stellen, an denen deiner Meinung nach KI auftritt. Fülle die Tabelle aus.</a:t>
            </a:r>
          </a:p>
          <a:p>
            <a:pPr/>
            <a:r>
              <a:rPr lang="de-DE" sz="1600" dirty="0"/>
              <a:t> </a:t>
            </a:r>
          </a:p>
          <a:p>
            <a:pPr/>
            <a:r>
              <a:rPr lang="de-DE" sz="1600" dirty="0"/>
              <a:t>KI Vorkommen</a:t>
            </a:r>
          </a:p>
          <a:p>
            <a:pPr/>
            <a:r>
              <a:rPr lang="de-DE" sz="1600" dirty="0"/>
              <a:t> </a:t>
            </a:r>
          </a:p>
          <a:p>
            <a:pPr/>
            <a:r>
              <a:rPr lang="de-DE" sz="1600" dirty="0"/>
              <a:t> Was macht die KI? Welches Problem löst die KI? Wessen Aufgaben übernimmt die KI?</a:t>
            </a:r>
          </a:p>
          <a:p>
            <a:pPr/>
            <a:r>
              <a:rPr lang="de-DE" sz="1600" dirty="0"/>
              <a:t> </a:t>
            </a:r>
          </a:p>
          <a:p>
            <a:pPr/>
            <a:r>
              <a:rPr lang="de-DE" sz="1600" dirty="0"/>
              <a:t> Wo und wie tritt die KI auf?</a:t>
            </a:r>
          </a:p>
          <a:p>
            <a:pPr/>
            <a:r>
              <a:rPr lang="de-DE" sz="1600" dirty="0"/>
              <a:t> </a:t>
            </a:r>
          </a:p>
          <a:p>
            <a:pPr/>
            <a:r>
              <a:rPr lang="de-DE" sz="1600" dirty="0"/>
              <a:t> Welche Daten benötigt die KI?</a:t>
            </a:r>
          </a:p>
          <a:p>
            <a:pPr/>
            <a:r>
              <a:rPr lang="de-DE" sz="1600" dirty="0"/>
              <a:t> </a:t>
            </a:r>
          </a:p>
          <a:p>
            <a:pPr/>
            <a:r>
              <a:rPr lang="de-DE" sz="1600" dirty="0"/>
              <a:t> Woher bekommt sie diese Daten?</a:t>
            </a:r>
          </a:p>
          <a:p>
            <a:pPr/>
            <a:r>
              <a:rPr lang="de-DE" sz="1600" dirty="0"/>
              <a:t> </a:t>
            </a:r>
          </a:p>
          <a:p>
            <a:pPr/>
            <a:r>
              <a:rPr lang="de-DE" sz="1600" dirty="0"/>
              <a:t> Welche Daten gibt die KI aus?</a:t>
            </a:r>
          </a:p>
          <a:p>
            <a:pPr/>
            <a:r>
              <a:rPr lang="de-DE" sz="1600" dirty="0"/>
              <a:t> </a:t>
            </a:r>
          </a:p>
          <a:p>
            <a:pPr/>
            <a:r>
              <a:rPr lang="de-DE" sz="1600" dirty="0"/>
              <a:t> Wie gibt die KI diese Daten aus?</a:t>
            </a:r>
          </a:p>
          <a:p>
            <a:pPr/>
            <a:r>
              <a:rPr lang="de-DE" sz="1600" dirty="0"/>
              <a:t> </a:t>
            </a:r>
          </a:p>
          <a:p>
            <a:pPr/>
            <a:r>
              <a:rPr lang="de-DE" sz="1600" dirty="0"/>
              <a:t> Woran kann man die Leistungsfähigkeit der KI bewerten?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Schwache und starke Künstliche Intelligenz</a:t>
            </a:r>
          </a:p>
        </p:txBody>
      </p:sp>
      <p:sp>
        <p:nvSpPr>
          <p:cNvPr id="3" name="Text"/>
          <p:cNvSpPr txBox="1"/>
          <p:nvPr/>
        </p:nvSpPr>
        <p:spPr>
          <a:xfrm>
            <a:off x="457200" y="1600200"/>
            <a:ext cx="8229600" cy="4800600"/>
          </a:xfrm>
          <a:prstGeom prst="rect">
            <a:avLst/>
          </a:prstGeom>
        </p:spPr>
        <p:txBody>
          <a:bodyPr wrap="square" rtlCol="0"/>
          <a:lstStyle/>
          <a:p>
            <a:r>
              <a:rPr lang="de-DE" sz="1600" dirty="0"/>
              <a:t>Schwache KI</a:t>
            </a:r>
          </a:p>
          <a:p>
            <a:pPr/>
            <a:r>
              <a:rPr lang="de-DE" sz="1600" dirty="0"/>
              <a:t>• auf bestimmte Aufgaben</a:t>
            </a:r>
          </a:p>
          <a:p>
            <a:pPr/>
            <a:r>
              <a:rPr lang="de-DE" sz="1600" dirty="0"/>
              <a:t>spezialisiert</a:t>
            </a:r>
          </a:p>
          <a:p>
            <a:pPr/>
            <a:r>
              <a:rPr lang="de-DE" sz="1600" dirty="0"/>
              <a:t>• erkennt Muster und verarbeitet</a:t>
            </a:r>
          </a:p>
          <a:p>
            <a:pPr/>
            <a:r>
              <a:rPr lang="de-DE" sz="1600" dirty="0"/>
              <a:t>große Datenmengen</a:t>
            </a:r>
          </a:p>
          <a:p>
            <a:pPr/>
            <a:r>
              <a:rPr lang="de-DE" sz="1600" dirty="0"/>
              <a:t>• handelt nur innerhalb ihres</a:t>
            </a:r>
          </a:p>
          <a:p>
            <a:pPr/>
            <a:r>
              <a:rPr lang="de-DE" sz="1600" dirty="0"/>
              <a:t>vorgesehenen Anwendungsbereichs</a:t>
            </a:r>
          </a:p>
          <a:p>
            <a:pPr/>
            <a:r>
              <a:rPr lang="de-DE" sz="1600" dirty="0"/>
              <a:t>• besitzt kein allgemeines</a:t>
            </a:r>
          </a:p>
          <a:p>
            <a:pPr/>
            <a:r>
              <a:rPr lang="de-DE" sz="1600" dirty="0"/>
              <a:t>Verständnis</a:t>
            </a:r>
          </a:p>
          <a:p>
            <a:pPr/>
            <a:r>
              <a:rPr lang="de-DE" sz="1600" dirty="0"/>
              <a:t> </a:t>
            </a:r>
          </a:p>
          <a:p>
            <a:pPr/>
            <a:r>
              <a:rPr lang="de-DE" sz="1600" dirty="0"/>
              <a:t>Starke KI</a:t>
            </a:r>
          </a:p>
          <a:p>
            <a:pPr/>
            <a:r>
              <a:rPr lang="de-DE" sz="1600" dirty="0"/>
              <a:t>• hätte menschenähnliche allgemeine Intelligenz</a:t>
            </a:r>
          </a:p>
          <a:p>
            <a:pPr/>
            <a:r>
              <a:rPr lang="de-DE" sz="1600" dirty="0"/>
              <a:t>• könnte neue Problemstellungen selbstständig erkennen</a:t>
            </a:r>
          </a:p>
          <a:p>
            <a:pPr/>
            <a:r>
              <a:rPr lang="de-DE" sz="1600" dirty="0"/>
              <a:t>• könnte Wissen flexibel auf verschiedene Bereiche übertragen</a:t>
            </a:r>
          </a:p>
          <a:p>
            <a:pPr/>
            <a:r>
              <a:rPr lang="de-DE" sz="1600" dirty="0"/>
              <a:t>• könnte eigenständig Lösungswege entwickeln</a:t>
            </a:r>
          </a:p>
          <a:p>
            <a:pPr/>
            <a:r>
              <a:rPr lang="de-DE" sz="1600" dirty="0"/>
              <a:t> </a:t>
            </a:r>
          </a:p>
          <a:p>
            <a:pPr/>
            <a:r>
              <a:rPr lang="de-DE" sz="1600" dirty="0"/>
              <a:t>Wichtig:</a:t>
            </a:r>
          </a:p>
          <a:p>
            <a:pPr/>
            <a:r>
              <a:rPr lang="de-DE" sz="1600" dirty="0"/>
              <a:t>Alle heute existierenden KI Systeme zählen zur schwachen KI.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5</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6</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 Beschreibe eine starke KI, die du dir im Alltag wünschen würdest (du kannst dir selbst eine erdenken oder eine aus einer Sci-Fi-Realität beschreiben). Z eichne auch ein Bild. Begründe , dass es sich um eine starke und nicht um eine schwache KI handelt. Nenne Chancen und Risiken der von dir erwünschten KI.</a:t>
            </a:r>
          </a:p>
          <a:p>
            <a:pPr/>
            <a:r>
              <a:rPr lang="de-DE" sz="1600" dirty="0"/>
              <a:t> </a:t>
            </a:r>
          </a:p>
          <a:p>
            <a:pPr/>
            <a:r>
              <a:rPr lang="de-DE" sz="1600" dirty="0"/>
              <a:t> • Laut Wolfgang Wahlster ( https://www.awhamburg.de/fileadmin/redakteure/Vortraege/Vortrag_Wahlster_pdf.pdf ) gibt es folgende zehn Merkmale intelligenter IT-Systeme im Sinne der Künstlichen Intelligenz: • autonom, proaktiv, adaptiv, selbsterklärend, fehlertolerant</a:t>
            </a:r>
          </a:p>
          <a:p>
            <a:pPr/>
            <a:r>
              <a:rPr lang="de-DE" sz="1600" dirty="0"/>
              <a:t>• selbstoptimierend, lernfähig, zielorientiert, flexibel und kooperativ.</a:t>
            </a:r>
          </a:p>
          <a:p>
            <a:pPr/>
            <a:r>
              <a:rPr lang="de-DE" sz="1600" dirty="0"/>
              <a:t> </a:t>
            </a:r>
          </a:p>
          <a:p>
            <a:pPr/>
            <a:r>
              <a:rPr lang="de-DE" sz="1600" dirty="0"/>
              <a:t> → Analysiere die in der PDF gegebenen Informationen und erkläre diese Merkmale anhand von selbst gewählten Beispielen .</a:t>
            </a:r>
          </a:p>
          <a:p>
            <a:pPr/>
            <a:r>
              <a:rPr lang="de-DE" sz="1600" dirty="0"/>
              <a:t> </a:t>
            </a:r>
          </a:p>
          <a:p>
            <a:pPr/>
            <a:r>
              <a:rPr lang="de-DE" sz="1600" dirty="0"/>
              <a:t>Notizen:</a:t>
            </a:r>
          </a:p>
          <a:p>
            <a:pPr/>
            <a:r>
              <a:rPr lang="de-DE" sz="1600" dirty="0"/>
              <a:t>Musterlösung:</a:t>
            </a:r>
          </a:p>
          <a:p>
            <a:pPr/>
            <a:r>
              <a:rPr lang="de-DE" sz="1600" dirty="0"/>
              <a:t> </a:t>
            </a:r>
          </a:p>
          <a:p>
            <a:pPr/>
            <a:r>
              <a:rPr lang="de-DE" sz="1600" dirty="0"/>
              <a:t> Merkmal Erklärung Beispiel autonom Das System kann ohne ständige Steuerung durch einen Menschen selbstständig handeln. Ein autonomes Fahrzeug erkennt seine Umgebung und entscheidet selbst, wann es lenken oder bremsen muss. Wahlster beschreibt kognitive Agenten als Systeme, die ihre Umgebung wahrnehmen und darin handeln. proaktiv Das System wartet nicht nur auf einen Auftrag, sondern wird von sich aus aktiv, wenn es Handlungsbedarf erkennt. Ein Fahrzeug erkennt Aquaplaning und warnt andere Fahrzeuge, bevor diese die Gefahrenstelle erreichen. adaptiv Das System passt sein Verhalten an eine veränderte Umgebung oder Situation an. Ein Roboter verändert seine Bewegungen, wenn er statt auf festem Boden plötzlich auf Schnee oder unebenem Gelände unterwegs ist. Wahlster zeigt hierfür unter anderem Roboter für schwieriges Gelände. selbsterklärend Das System kann verständlich machen, warum es eine bestimmte Entscheidung getroffen hat. Ein intelligentes Fahrzeug erklärt, dass es abbremst, weil eine Verkehrsregel oder eine erkannte Gefahr dies erfordert. Wahlster ordnet insbesondere wissensbasierte, symbolische Prozesse einer Ebene mit Erklärungsmöglichkeit zu. fehlertolerant Das System kann auch bei Störungen, unvollständigen Informationen oder einzelnen Fehlern weiterhin sinnvoll arbeiten. Ein Roboter kann trotz rutschigem Untergrund sein Gleichgewicht halten und seine Aufgabe weiter ausführen. Wahlster hebt bei bestimmten KI Verfahren eine schnelle und robuste Verarbeitung hervor. selbstoptimierend Das System kann sein eigenes Verhalten so verändern, dass es seine Aufgabe zunehmend besser oder effizienter erfüllt. Ein Fahrassistenzsystem passt seine Strategie so an, dass eine Strecke sicherer oder mit geringerem Energieverbrauch zurückgelegt wird. lernfähig Das System kann aus Daten oder Erfahrungen neues Wissen gewinnen und sein zukünftiges Verhalten verändern. Ein Bilderkennungssystem lernt anhand vieler Beispielbilder, bestimmte Gegenstände immer zuverlässiger zu erkennen. Wahlster nennt Lernen und maschinelles Lernen als zentrale Bestandteile der KI. zielorientiert Das System richtet seine Handlungen auf ein vorgegebenes oder selbst erkanntes Ziel aus. Ein autonomes Fahrzeug plant seine Handlungen so, dass es sein Fahrtziel sicher erreicht. Sensorbasierte Handlungsplanung ist bei Wahlster ein zentrales Merkmal kognitiver Agenten. flexibel Das System kann auf unterschiedliche und auch unerwartete Situationen reagieren und verschiedene Lösungswege nutzen. Ein Roboter erkennt, dass sein ursprünglicher Weg blockiert ist, und wählt selbstständig einen anderen Weg zum Ziel. kooperativ Das System kann Informationen mit anderen Systemen austauschen und gemeinsam mit 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Bis zur nächsten Stunde!</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