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KI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9 Stunden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KI · 01 Basiswissen · 01.02 Orga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Ordne zu :</a:t>
            </a:r>
          </a:p>
          <a:p>
            <a:pPr/>
            <a:r>
              <a:rPr lang="de-DE" sz="1600" dirty="0"/>
              <a:t> Die Zuordnung eines Bildes zur Kategorie „Hund“ ist eine ___.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&lt;img src="data:image/png;base64,iVBORw0KGgoAAAANSUhEUgAAAUoAAAENCAYAAABpdCzRAAAQAElEQVR4AXT9+a9tSXbfiX1XROy9z3Dvfe9lZhXZQkNoWOgW7B4INDWLFOd5FMVBA1sDJVKcyZqyWMUiWVUcJMpGG4b9i+G/yzDsttEWIEtdZGXme3c4w57Cn2+cex6ThL3zrdxTxIo1fNeKFbHvfS/96D/+b+rf/x++qf79f/zf1h/6yb9af+Sn/2r9qX/6TfUf/vNvqj/5s/91/al/8l/Xn/7Z/6b+7M/99/Vf/fLfqb/y699Wf+lXv7X+wi/9nfqv/vXfqv/8X/+1+s9+4Zvrv/jFv17/1a/8rfoLv/w368//0t+ov/zrf7d+5vPfXX/rd76vfu6L310/9f7fq7/5uW/l+jvrl77yA/ULX/ne+tkvfVf9tU9/S/3Nz35H/fT731U/+1vfUz/3he+tn//t76+f+eL31t94/zvrp7/wPfXXPvvt9dfe/476m1/47vqrn/v2+iuf/bb6G7/1Xe3+81/5kfrpL31//Yz7QL/5W99XP/WF76+/9bs/Wr/wez9Wv/TVn6i/8/v/oP7eH/2D+uV/85Pt/KXf//H6hS//cH3/936wfu53f6B+/is/XL/0hz9ev/zHP1m/+sc/Vb/yb3+yfuUP/0H9vd//+/UP//hn6r/53/6j+m//d/+4XV+f/94fut1P1d/9w59o7b/6xz994e8xoN/68o/V3/j899bf/uqP1fd/5wfrF6Cv0PaP4f9Hf/QT9cuM/zu/8wP1fXT/7Ke/rX7qU9BnvqN+jj6f/+0fqJ9Fl09ji1//3Hc0G/w2cn75yz9Yf/+rP1z/zR/8SP0//o8/Xf8v/+d/Xv9P/4d/XP/H//1P1z/6ox+vX/jd762f+a1vr5/+4nfUz2Dz93/7e+rnv/B99fd+70fo9xP1q1/5+/VLv/sj2PcH6qc+/331V9//7vorn/uu+ouf/c52/s0vfj8++aFGn0Pe93/3h6rp01/8vmZv2/xX8cO//tS31H/5m3+n/jy++5e+hn7+s99a//X73/aWfvnz31F/nfE//TvfU9/H35//6g/Wz/7e99XP4PPP/s53189/+fvqF7/6A/V3v/KD2OIH6+98+QfqF3/ne+v7v/1djb6ALr/95e+vv/v7P1K/+Hs/AGZ+CP2+v9oOX/mDH6tf/eqP1j/CX7/zR+gEfeGrP1S/+Ps/jD9+DN/+YP3cb31Hff8L31m/AH6+BD6+8pUfq3/wBz9R//APfvJC/wab/bufqX/4736ifuWPf7R+6Q9+CF2/p37+S9/bxnkfW3wK2/z6p7+9/gZ++cz731c//8Ufwp7Y6P3vqZ/+7HdVv29k3H7pB+rnbS/sZr+1563/t1Vj+quM/e/A0B/925+uX/7qj+Pn76m/+Mt/u/78L/yd+s//xd+sP/s/fHP9p//sr3P/LfVXfvU762/8+nfWX/+172j0qd/87vqZT1/o8+9/f/3tL/4w9IP1t37re+vv/c4P199lbOv5PvHyPs+++KUfrF/80g/V9x0Ln/nu+qvE7C/+0rfWX/rlv1d/9Ve+7UK/9Pfqr/zit9bPfeq762ch8//1T31n/ZVPfUf95U9/R/3VT39n/bXPfFf9Zdo3+tffUn/hX/6t+sucP/up763vf+4H6mc/8331Nz/9Xejxd+u//IW/TT74O/Vf/fK31F/89W+vP/+r317/yc/9jfoz//Sv1Z/4R99Uf/yn/tv693/6v6s//Q+/uf7jn/2b9Z/9s79bf+7nvqX+03/y39d/8U+/uf78z/3t+os//y31l37hW9v5F7DJv8Iev/DPvrl+Cp6/9WvfXr8A36+gz+9/Dr1/4+/VL/zKt9T3efab6Pabv/Rt9dd/AfzB8+d+9m/Vn/2Zv1l/8se+qf74j/x39R/+1N+o/+gf/c36Mz/zzfVn/tFfY/y/Xn/qZ76p/uCP/Vf1e3/kr9Tv+dG/Ur+f6x/48b9aTd/3o/9l/f4f/qv1B3/0f11/5Mf+N43SMAwybbdb3d7udXNzo81mo67rGvmdqe/7dl9KeXsuXdK2H1r7Tderz0UpJeWclRRalkV9ufDpnt9pre25FilVqYfvx8ljW5bdbtdk8bXJz69yuL3l8Diqq0pOSjmUGLsrSTlJtVblEsrIEQzUziGVSMo0sKw9somDx619XdZ2DmR0f15pXddGvo8IJcaIiPbM+jGSfPi92y7zrBkyL8HH11d+fuZ25pGxUY7krm1MPzf5gd/b/tZzv99rv9k+22nTzn4X9K3zooiQ+Zifbex3ts31LA7z8zPbz+R3ERcdIkIpC5tkoRr8aiPLUrXKR8K27p85+16x0iZon1S6LL8zzyvZrr7288YHX0REk9OymMRxfTfjQ9tpnCeN46jT6aTD4dDINjbR/O2Y7m+KiIZFj2VbebycszpTd8Gdn5vcJiKabzzG+XxuY3lc87fvLI/HWRfJ9/+/yO89tscaur7Fjnl3KTf8Ow4cE34WEYoqmNXmY/PzGBHx1mbm47b9cxz4upTU3vtdhP00a5qmJq9lt8ziyOhpWSKn1j5KbjbyGNexfC2OiGj+uvZJONtU12iy2Qbma/62jWk6neXzjE88/pWnzyvYm6azlnG6xDNYjwg5vsw3p9TG+4vjWyfLEBHyYX2vul/PbnOlnDuapeYPy0g4NnlTlKYzLxURjTxuiqxMH49hiogmn3W79r3IFE0+cfje762jaZlr42cZzNN8UqqrtMwMvjTQbZw4+yInp9vbW222faPt0GnD834oGjadtpteOwJ4O2x0Q5LdQxuc7Wf77U777aAOhw+l09DBo9sA4B5DFgmjJoUsQAegSylNad8Hzk5dkZ/38OuGXiZfu53bWPiIkI91nUnGGd5JOYU28OtwUtRFPu+QY2edeD44qHlXkpRAMOZHttL694zb5VDmuehbSfIrCW8ioBpNo1YiKCIUEapkehtVJFeTk6HPppW+5t17IN4nhUxBwhBHX7pmvwE73txiq5utNtizHwp2yMoZXQgC67vDvraFrz9OsNEC74hQRChlCdXom1vA9qU0G3qMrsvqeu4h29HU9R4n6FsltBFJsYKFynnBpvMyEZxnrdjC78w7bJuWJGsby8+SQpidJrUlBd9nntmOppa8M2NDfek02KelKKckHxWbXKkFIGh24hzB5JnEOXO/0GalcUXPwDYmGMjnDt1st6YTPs5MjmZdGGPA7742WfaKLjM0oZ/H8rjzvJI8Vzk4VO01KBjs+U/JPUN17c593rZfQAAUlVf4YZlmmTCYEvr77PvC4IkmFUwsJDtjSuiUIzSUTi2+8L39PwwdPsvK+N66rth6AWcL/rFNfD3XWaaFZ7bJyhn2igh8kuRjwnZt0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KI · 01 Basiswissen · 01.03 Was ist KI? Intelligenz?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Ergänze die Merkmale von Intelligenz: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Intelligenz zeigt sich durch rationales und ________ Denken und Handeln sowie durch Lernen, Schlussfolgern und ________.</a:t>
            </a:r>
          </a:p>
          <a:p>
            <a:pPr/>
            <a:r>
              <a:rPr lang="de-DE" sz="1600" dirty="0"/>
              <a:t>   Lösung: zweckorientiertes, Problemlösen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Definiere den Begriff künstliche Intelligenz.</a:t>
            </a:r>
          </a:p>
          <a:p>
            <a:pPr/>
            <a:r>
              <a:rPr lang="de-DE" sz="1600" dirty="0"/>
              <a:t>   Lösung: Künstliche Intelligenz bezeichnet die Nachahmung menschlicher Intelligenzleistungen durch Programme oder Maschinen.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Unterscheide schwache und starke KI.</a:t>
            </a:r>
          </a:p>
          <a:p>
            <a:pPr/>
            <a:r>
              <a:rPr lang="de-DE" sz="1600" dirty="0"/>
              <a:t>   Lösung: Schwache KI ist auf bestimmte Aufgaben spezialisiert. Starke KI könnte unterschiedliche Probleme selbstständig erkennen und lösen.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Ergänze zwei typische Arbeitsweisen schwacher KI: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Erkennen von ________ und Durchsuchen großer ________.</a:t>
            </a:r>
          </a:p>
          <a:p>
            <a:pPr/>
            <a:r>
              <a:rPr lang="de-DE" sz="1600" dirty="0"/>
              <a:t>   Lösung: Mustern, Datenmengen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[Eigen] Ordne heutige KI Anwendungen einer Kategorie zu und begründe.</a:t>
            </a:r>
          </a:p>
          <a:p>
            <a:pPr/>
            <a:r>
              <a:rPr lang="de-DE" sz="1600" dirty="0"/>
              <a:t>   Lösung: Sie gehören zur schwachen KI, da sie auf bestimmte Aufgaben und Anwendungsbereiche begrenzt sind.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KI · 01 Basiswissen · 01.04 Merkmale, KI-Welt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Was ist ein kognitiver Agent?</a:t>
            </a:r>
          </a:p>
          <a:p>
            <a:pPr/>
            <a:r>
              <a:rPr lang="de-DE" sz="1600" dirty="0"/>
              <a:t>   Lösung: Ein Akteur, der seine Umgebung wahrnimmt und in ihr handelt.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Unterscheide Sensoren und Aktuatoren.</a:t>
            </a:r>
          </a:p>
          <a:p>
            <a:pPr/>
            <a:r>
              <a:rPr lang="de-DE" sz="1600" dirty="0"/>
              <a:t>   Lösung: Sensoren nehmen die Umgebung wahr, Aktuatoren verändern die Umgebung.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Nenne vier Merkmale intelligenter Systeme.</a:t>
            </a:r>
          </a:p>
          <a:p>
            <a:pPr/>
            <a:r>
              <a:rPr lang="de-DE" sz="1600" dirty="0"/>
              <a:t>   Lösung: Zum Beispiel autonom, lernfähig, zielorientiert und adaptiv.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Nenne drei Kerngebiete der KI.</a:t>
            </a:r>
          </a:p>
          <a:p>
            <a:pPr/>
            <a:r>
              <a:rPr lang="de-DE" sz="1600" dirty="0"/>
              <a:t>   Lösung: Zum Beispiel Sprachverstehen, Bildverstehen und Robotik.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[Eigen] Was bedeutet KI Vollständigkeit?</a:t>
            </a:r>
          </a:p>
          <a:p>
            <a:pPr/>
            <a:r>
              <a:rPr lang="de-DE" sz="1600" dirty="0"/>
              <a:t>   Lösung: Einzelne kognitive Fähigkeiten sind mit weiteren kognitiven Fähigkeiten eng verknüpft.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[Eigen] Erkläre , wie mehrere einfache Agenten gemeinsam intelligentes Verhalten erzeugen können.</a:t>
            </a:r>
          </a:p>
          <a:p>
            <a:pPr/>
            <a:r>
              <a:rPr lang="de-DE" sz="1600" dirty="0"/>
              <a:t>   Lösung: Durch Interaktion und das Zusammenführen lokaler Lösungen kann ein komplexes Gesamtverhalten entstehen.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[Eigen] Was bildet die Grundlage von Intelligenz nach Wahlster?</a:t>
            </a:r>
          </a:p>
          <a:p>
            <a:pPr/>
            <a:r>
              <a:rPr lang="de-DE" sz="1600" dirty="0"/>
              <a:t>   Lösung: Die Verarbeitung von Wissen.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8. [Eigen] Unterscheide symbolische und subsymbolische KI am Beispiel Autofahren.</a:t>
            </a:r>
          </a:p>
          <a:p>
            <a:pPr/>
            <a:r>
              <a:rPr lang="de-DE" sz="1600" dirty="0"/>
              <a:t>   Lösung: Symbolische KI nutzt zum Beispiel Regeln und Wissen, subsymbolische KI zum Beispiel neuronale Netze und Mustererkennung.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9. [Eigen] Nenne vier Dimensionen von Intelligenz.</a:t>
            </a:r>
          </a:p>
          <a:p>
            <a:pPr/>
            <a:r>
              <a:rPr lang="de-DE" sz="1600" dirty="0"/>
              <a:t>   Lösung: Sensomotorische, kognitive, emotionale und soziale Intelligenz.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10. [Eigen] Vergleiche menschliche und künstliche Intelligenz in einem Satz.</a:t>
            </a:r>
          </a:p>
          <a:p>
            <a:pPr/>
            <a:r>
              <a:rPr lang="de-DE" sz="1600" dirty="0"/>
              <a:t>   Lösung: KI kann Menschen in einzelnen Spezialgebieten übertreffen, ist ihnen aber bei allgemeiner Alltagsintelligenz sowie emotionaler und sozialer Intelligenz unterlegen.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11. [Eigen] Definiere das Merkmal autonom.</a:t>
            </a:r>
          </a:p>
          <a:p>
            <a:pPr/>
            <a:r>
              <a:rPr lang="de-DE" sz="1600" dirty="0"/>
              <a:t>   Lösung: Ein autonomes System kann ohne ständige Steuerung durch einen Menschen selbstständig handeln.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12. [Eigen] Ordne das Beispiel zu: Ein Fahrzeug bremst selbstständig, weil es ein Hindernis erkennt.</a:t>
            </a:r>
          </a:p>
          <a:p>
            <a:pPr/>
            <a:r>
              <a:rPr lang="de-DE" sz="1600" dirty="0"/>
              <a:t>   Lösung: Autonom, da das System eigenständig auf seine Umgebung reagiert.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13. [Eigen] Definiere das Merkmal proaktiv.</a:t>
            </a:r>
          </a:p>
          <a:p>
            <a:pPr/>
            <a:r>
              <a:rPr lang="de-DE" sz="1600" dirty="0"/>
              <a:t>   Lösung: Ein proaktives System wird selbstständig aktiv, bevor es ausdrücklich dazu aufgefordert wird.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14. [Eigen] Ordne das Beispiel zu: Ein Fahrzeug warnt andere Fahrzeuge frühzeitig vor einer Gefahrenstelle.</a:t>
            </a:r>
          </a:p>
          <a:p>
            <a:pPr/>
            <a:r>
              <a:rPr lang="de-DE" sz="1600" dirty="0"/>
              <a:t>   Lösung: Proaktiv, da das System von sich aus eine zukünftige Gefahr meldet.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15. [Eigen] Definiere das Merkmal adaptiv.</a:t>
            </a:r>
          </a:p>
          <a:p>
            <a:pPr/>
            <a:r>
              <a:rPr lang="de-DE" sz="1600" dirty="0"/>
              <a:t>   Lösung: Ein adaptives System passt sein Verhalten an veränderte Bedingungen oder Situationen an.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16. [Eigen] Ordne das Beispiel zu: Ein Roboter verändert seine Bewegungen auf rutschigem Untergrund.</a:t>
            </a:r>
          </a:p>
          <a:p>
            <a:pPr/>
            <a:r>
              <a:rPr lang="de-DE" sz="1600" dirty="0"/>
              <a:t>   Lösung: Adaptiv, da er sein Verhalten an die neue Umgebung anpasst.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17. [Eigen] Definiere das Merkmal selbsterklärend.</a:t>
            </a:r>
          </a:p>
          <a:p>
            <a:pPr/>
            <a:r>
              <a:rPr lang="de-DE" sz="1600" dirty="0"/>
              <a:t>   Lösung: Ein selbsterklärendes System kann verständlich begründen, warum es eine bestimmte Entscheidung getroffen hat.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18. [Eigen] Formuliere eine mögliche Erklärung eines selbsterklärenden Fahrzeugs nach einer Bremsung.</a:t>
            </a:r>
          </a:p>
          <a:p>
            <a:pPr/>
            <a:r>
              <a:rPr lang="de-DE" sz="1600" dirty="0"/>
              <a:t>   Lösung: Ich habe gebremst, weil ich ein Hindernis auf der Fahrbahn erkannt habe.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19. [Eigen] Definiere das Merkmal fehlertolerant.</a:t>
            </a:r>
          </a:p>
          <a:p>
            <a:pPr/>
            <a:r>
              <a:rPr lang="de-DE" sz="1600" dirty="0"/>
              <a:t>   Lösung: Ein fehlertolerantes System kann trotz einzelner Fehler oder Störungen sinnvoll weiterarbeiten.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20. [Eigen] Ordne das Beispiel zu: Ein Roboter nutzt einen zweiten Sensor weiter, nachdem ein anderer Sensor ausgefallen ist.</a:t>
            </a:r>
          </a:p>
          <a:p>
            <a:pPr/>
            <a:r>
              <a:rPr lang="de-DE" sz="1600" dirty="0"/>
              <a:t>   Lösung: Fehlertolerant, da das System trotz eines Fehlers funktionsfähig bleibt.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21. [Eigen] Definiere das Merkmal selbstoptimierend.</a:t>
            </a:r>
          </a:p>
          <a:p>
            <a:pPr/>
            <a:r>
              <a:rPr lang="de-DE" sz="1600" dirty="0"/>
              <a:t>   Lösung: Ein selbstoptimierendes System verbessert eigenständig die Qualität oder Effizienz seines Verhaltens.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22. [Eigen] Ordne das Beispiel zu: Ein Navigationssystem verändert seine 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LK Mathe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13 Stunden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LK Mathe · Allgemein · Allgemein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Definiere den Begriff Funktion.</a:t>
            </a:r>
          </a:p>
          <a:p>
            <a:pPr/>
            <a:r>
              <a:rPr lang="de-DE" sz="1600" dirty="0"/>
              <a:t>   Lösung: Eine Funktion $f$ ist eine Zuordnung, die jedem Element $x$ ihres Definitionsbereichs $D_f$ genau einen Funktionswert $f(x)$ zuordnet.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Definiere den Begriff Zahlenfolge.</a:t>
            </a:r>
          </a:p>
          <a:p>
            <a:pPr/>
            <a:r>
              <a:rPr lang="de-DE" sz="1600" dirty="0"/>
              <a:t>   Lösung: Eine Zahlenfolge $(aₙ)$ ist eine Funktion, die jeder natürlichen Zahl $n$ genau eine Zahl $aₙ$ zuordnet.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Definiere die Konvergenz einer Folge (aₙ) gegen einen Grenzwert L.</a:t>
            </a:r>
          </a:p>
          <a:p>
            <a:pPr/>
            <a:r>
              <a:rPr lang="de-DE" sz="1600" dirty="0"/>
              <a:t>   Lösung: Eine Folge $(aₙ)$ konvergiert gegen L, wenn zu jedem $ε &gt; 0$ ein $N ∈ ℕ$ existiert, sodass für alle $n ≥ N$ gilt: $|aₙ − L| &lt; ε$.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Gib das Kriterium für eine monoton wachsende Folge an.</a:t>
            </a:r>
          </a:p>
          <a:p>
            <a:pPr/>
            <a:r>
              <a:rPr lang="de-DE" sz="1600" dirty="0"/>
              <a:t>   Lösung: Eine Folge (aₙ) ist monoton wachsend, wenn für alle n gilt: aₙ₊₁ ≥ aₙ.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[Eigen] Gib das Kriterium für die Beschränktheit einer Folge an.</a:t>
            </a:r>
          </a:p>
          <a:p>
            <a:pPr/>
            <a:r>
              <a:rPr lang="de-DE" sz="1600" dirty="0"/>
              <a:t>   Lösung: Eine Folge (aₙ) ist beschränkt, wenn es Zahlen m und M gibt, sodass für alle n gilt: m ≤ aₙ ≤ M.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[Eigen] Gib das Kriterium für die Stetigkeit einer Funktion $f$ an einer Stelle $x₀$ an.</a:t>
            </a:r>
          </a:p>
          <a:p>
            <a:pPr/>
            <a:r>
              <a:rPr lang="de-DE" sz="1600" dirty="0"/>
              <a:t>   Lösung: Für $x₀ ∈ D_f$ist f an der Stelle $x₀$ stetig, wenn lim $x→x₀ f(x) = f(x₀)$ gilt.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[Eigen] Beschreibe eine explizite Darstellung einer Folge.</a:t>
            </a:r>
          </a:p>
          <a:p>
            <a:pPr/>
            <a:r>
              <a:rPr lang="de-DE" sz="1600" dirty="0"/>
              <a:t>   Lösung: Bei einer expliziten Darstellung wird das Folgenglied aₙ direkt in Abhängigkeit vom Index n angegeben, zum Beispiel aₙ = 3n − 2.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8. [Eigen] Beschreibe eine rekursive Darstellung einer Folge.</a:t>
            </a:r>
          </a:p>
          <a:p>
            <a:pPr/>
            <a:r>
              <a:rPr lang="de-DE" sz="1600" dirty="0"/>
              <a:t>   Lösung: Bei einer rekursiven Darstellung werden ein oder mehrere Anfangsglieder angegeben und weitere Folgenglieder mithilfe vorheriger Folgenglieder bestimmt.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9. [Eigen] Gib die mathematische Schreibweise für die Konvergenz einer Folge (aₙ) gegen L an.</a:t>
            </a:r>
          </a:p>
          <a:p>
            <a:pPr/>
            <a:r>
              <a:rPr lang="de-DE" sz="1600" dirty="0"/>
              <a:t>   Lösung: lim n→∞ aₙ = L.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10. [Eigen] Formuliere das Stetigkeitskriterium für f an der Stelle x₀.</a:t>
            </a:r>
          </a:p>
          <a:p>
            <a:pPr/>
            <a:r>
              <a:rPr lang="de-DE" sz="1600" dirty="0"/>
              <a:t>   Lösung: Für x₀ ∈ Df gilt: f ist in x₀ stetig genau dann, wenn lim x→x₀ f(x) = f(x₀) gilt.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11. [Eigen] Bestimme die ersten vier Glieder der Folge aₙ = 3n − 2.</a:t>
            </a:r>
          </a:p>
          <a:p>
            <a:pPr/>
            <a:r>
              <a:rPr lang="de-DE" sz="1600" dirty="0"/>
              <a:t>   Lösung: a₁ = 1, a₂ = 4, a₃ = 7, a₄ = 10.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12. [Eigen] Bestimme die ersten vier Glieder der rekursiv definierten Folge a₁ = 1, aₙ₊₁ = 2aₙ + 1.</a:t>
            </a:r>
          </a:p>
          <a:p>
            <a:pPr/>
            <a:r>
              <a:rPr lang="de-DE" sz="1600" dirty="0"/>
              <a:t>   Lösung: a₁ = 1, a₂ = 3, a₃ = 7, a₄ = 15.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13. [Eigen] Bestimme den Grenzwert lim n→∞ (5n² + 2)/(2n² − 3).</a:t>
            </a:r>
          </a:p>
          <a:p>
            <a:pPr/>
            <a:r>
              <a:rPr lang="de-DE" sz="1600" dirty="0"/>
              <a:t>   Lösung: Der Grenzwert beträgt 5/2.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14. [Eigen] Bestimme den Grenzwert lim x→2 (x² − 4)/(x − 2).</a:t>
            </a:r>
          </a:p>
          <a:p>
            <a:pPr/>
            <a:r>
              <a:rPr lang="de-DE" sz="1600" dirty="0"/>
              <a:t>   Lösung: Für x ≠ 2 gilt (x² − 4)/(x − 2) = x + 2. Daher beträgt der Grenzwert 4.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15. [Eigen] Beschreibe die Bedeutung der Ableitung f'(x₀) als Änderungsrate und geometrisch am Graphen.</a:t>
            </a:r>
          </a:p>
          <a:p>
            <a:pPr/>
            <a:r>
              <a:rPr lang="de-DE" sz="1600" dirty="0"/>
              <a:t>   Lösung: f'(x₀) ist die momentane Änderungsrate von f an der Stelle x₀. Geometrisch entspricht f'(x₀) der Steigung der Tangente an den Graphen im Punkt P(x₀|f(x₀)).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16. [Eigen] Definiere die Tangente an den Graphen von f an der Stelle x₀.</a:t>
            </a:r>
          </a:p>
          <a:p>
            <a:pPr/>
            <a:r>
              <a:rPr lang="de-DE" sz="1600" dirty="0"/>
              <a:t>   Lösung: Ist f an x₀ differenzierbar, dann ist die Tangente die Gerade durch P(x₀|f(x₀)) mit der Steigung f'(x₀).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17. [Eigen] Definiere eine Sekante eines Funktionsgraphen.</a:t>
            </a:r>
          </a:p>
          <a:p>
            <a:pPr/>
            <a:r>
              <a:rPr lang="de-DE" sz="1600" dirty="0"/>
              <a:t>   Lösung: Eine Sekante ist eine Gerade durch zwei verschiedene Punkte P(a|f(a)) und Q(b|f(b)) eines Funktionsgraphen mit a ≠ b.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18. [Eigen] Beschreibe die geometrische Bedeutung von f'(x₀) &gt; 0.</a:t>
            </a:r>
          </a:p>
          <a:p>
            <a:pPr/>
            <a:r>
              <a:rPr lang="de-DE" sz="1600" dirty="0"/>
              <a:t>   Lösung: Die Tangente an den Graphen von f besitzt an der Stelle x₀ eine positive Steigung.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19. [Eigen] Beschreibe die geometrische Bedeutung von f'(x₀) = 0.</a:t>
            </a:r>
          </a:p>
          <a:p>
            <a:pPr/>
            <a:r>
              <a:rPr lang="de-DE" sz="1600" dirty="0"/>
              <a:t>   Lösung: Die Tangente an den Graphen von f ist an der Stelle x₀ waagerecht. Daraus folgt nicht zwingend, dass dort ein Extrempunkt liegt.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20. [Eigen] Vergleiche die durchschnittliche und die momentane Änderungsrate.</a:t>
            </a:r>
          </a:p>
          <a:p>
            <a:pPr/>
            <a:r>
              <a:rPr lang="de-DE" sz="1600" dirty="0"/>
              <a:t>   Lösung: Die durchschnittliche Änderungsrate beschreibt die mittlere Änderung einer Funktion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LK Mathe · 01 Basiswissen · 01.01 Orga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Definiere: Matrix</a:t>
            </a:r>
          </a:p>
          <a:p>
            <a:pPr/>
            <a:r>
              <a:rPr lang="de-DE" sz="1600" dirty="0"/>
              <a:t>   Lösung: Eine Matrix ist eine rechteckige Anordnung von Elementen in Zeilen und Spalten.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Nenne: Zeilen- und Spaltenvektoren einer 5×7-Matrix</a:t>
            </a:r>
          </a:p>
          <a:p>
            <a:pPr/>
            <a:r>
              <a:rPr lang="de-DE" sz="1600" dirty="0"/>
              <a:t>   Lösung: Eine 5×7-Matrix hat 5 Zeilenvektoren und 7 Spaltenvektoren.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Definiere: Vektor</a:t>
            </a:r>
          </a:p>
          <a:p>
            <a:pPr/>
            <a:r>
              <a:rPr lang="de-DE" sz="1600" dirty="0"/>
              <a:t>   Lösung: Ein Vektor ist ein geordnetes Tupel von Zahlen.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Gib an: Die Dimension des Vektors, mit dem eine Matrix der Dimension 3 von rechts multipliziert werden kann</a:t>
            </a:r>
          </a:p>
          <a:p>
            <a:pPr/>
            <a:r>
              <a:rPr lang="de-DE" sz="1600" dirty="0"/>
              <a:t>   Lösung: Der Vektor muss die Dimension 3 besitzen.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[Eigen] Bezeichne: Eine Matrix mit gleich vielen Zeilen wie Spalten</a:t>
            </a:r>
          </a:p>
          <a:p>
            <a:pPr/>
            <a:r>
              <a:rPr lang="de-DE" sz="1600" dirty="0"/>
              <a:t>   Lösung: Eine solche Matrix heißt quadratische Matrix.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[Eigen] Berechne: (4321)⋅(2  3)\begin{pmatrix}4\\3\\2\\1\end{pmatrix}\cdot(2\;3)</a:t>
            </a:r>
          </a:p>
          <a:p>
            <a:pPr/>
            <a:r>
              <a:rPr lang="de-DE" sz="1600" dirty="0"/>
              <a:t>   Lösung: 3); (812694623)\begin{pmatrix}8&amp;12\\6&amp;9\\4&amp;6\\2&amp;3\end{pmatrix}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[Eigen] Berechne: (1123581321)⋅(3455)\begin{pmatrix}1&amp;1&amp;2&amp;3\\5&amp;8&amp;13&amp;21\end{pmatrix}\cdot\begin{pmatrix}34\\55\end{pmatrix}</a:t>
            </a:r>
          </a:p>
          <a:p>
            <a:pPr/>
            <a:r>
              <a:rPr lang="de-DE" sz="1600" dirty="0"/>
              <a:t>   Lösung: Nicht definiert.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8. [Eigen] Definiere: Vektor</a:t>
            </a:r>
          </a:p>
          <a:p>
            <a:pPr/>
            <a:r>
              <a:rPr lang="de-DE" sz="1600" dirty="0"/>
              <a:t>   Lösung: Ein Vektor ist ein geordnetes n-Tupel von Zahlen.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9. [Eigen] Berechne: (34581017)⋅(23)\begin{pmatrix}3&amp;4\\5&amp;8\\10&amp;17\end{pmatrix}\cdot\begin{pmatrix}2\\3\end{pmatrix}</a:t>
            </a:r>
          </a:p>
          <a:p>
            <a:pPr/>
            <a:r>
              <a:rPr lang="de-DE" sz="1600" dirty="0"/>
              <a:t>   Lösung: (183471)\begin{pmatrix}18\\34\\71\end{pmatrix}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10. [Eigen] Erkläre: Den Zusammenhang zwischen Vektoren und Tupeln</a:t>
            </a:r>
          </a:p>
          <a:p>
            <a:pPr/>
            <a:r>
              <a:rPr lang="de-DE" sz="1600" dirty="0"/>
              <a:t>   Lösung: Jeder Vektor kann als geordnetes Tupel von Zahlen dargestellt werden.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11. [Eigen] Nenne: Das allgemeine Schema der Matrix-Vektor-Multiplikation</a:t>
            </a:r>
          </a:p>
          <a:p>
            <a:pPr/>
            <a:r>
              <a:rPr lang="de-DE" sz="1600" dirty="0"/>
              <a:t>   Lösung: Am×n⋅vn×1=wm×1A_{m\times n}\cdot v_{n\times1}=w_{m\times1}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12. [Eigen] Erkläre: Zeilenvektor</a:t>
            </a:r>
          </a:p>
          <a:p>
            <a:pPr/>
            <a:r>
              <a:rPr lang="de-DE" sz="1600" dirty="0"/>
              <a:t>   Lösung: Ein Zeilenvektor ist eine Matrix mit genau einer Zeile.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13. [Eigen] Nenne: Ein Beispiel für eine 6×7-Matrix</a:t>
            </a:r>
          </a:p>
          <a:p>
            <a:pPr/>
            <a:r>
              <a:rPr lang="de-DE" sz="1600" dirty="0"/>
              <a:t>   Lösung: (123456712345671234567123456712345671234567)\begin{pmatrix}1&amp;2&amp;3&amp;4&amp;5&amp;6&amp;7\\1&amp;2&amp;3&amp;4&amp;5&amp;6&amp;7\\1&amp;2&amp;3&amp;4&amp;5&amp;6&amp;7\\1&amp;2&amp;3&amp;4&amp;5&amp;6&amp;7\\1&amp;2&amp;3&amp;4&amp;5&amp;6&amp;7\\1&amp;2&amp;3&amp;4&amp;5&amp;6&amp;7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14. [Eigen] Berechne: (1218)⋅(1534)\begin{pmatrix}12\\18\end{pmatrix}\cdot\begin{pmatrix}15&amp;34\end{pmatrix}</a:t>
            </a:r>
          </a:p>
          <a:p>
            <a:pPr/>
            <a:r>
              <a:rPr lang="de-DE" sz="1600" dirty="0"/>
              <a:t>   Lösung: (180408270612)\begin{pmatrix}180&amp;408\\270&amp;612\end{pmatrix}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15. [Eigen] Berechne: (6666777766667777)⋅(6767)\begin{pmatrix}6&amp;6&amp;6&amp;6\\7&amp;7&amp;7&amp;7\\6&amp;6&amp;6&amp;6\\7&amp;7&amp;7&amp;7\end{pmatrix}\cdot\begin{pmatrix}6\\7\\6\\7\end{pmatrix}</a:t>
            </a:r>
          </a:p>
          <a:p>
            <a:pPr/>
            <a:r>
              <a:rPr lang="de-DE" sz="1600" dirty="0"/>
              <a:t>   Lösung: (156182156182)\begin{pmatrix}156\\182\\156\\182\end{pmatrix}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16. [Eigen] Notiere: Eine 3×3-Matrix</a:t>
            </a:r>
          </a:p>
          <a:p>
            <a:pPr/>
            <a:r>
              <a:rPr lang="de-DE" sz="1600" dirty="0"/>
              <a:t>   Lösung: (a11a12a13a21a22a23a31a32a33)\begin{pmatrix}a_{11}&amp;a_{12}&amp;a_{13}\\a_{21}&amp;a_{22}&amp;a_{23}\\a_{31}&amp;a_{32}&amp;a_{33}\end{pmatrix}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17. [Eigen] Erkläre: Matrix-Vektor-Multiplikation</a:t>
            </a:r>
          </a:p>
          <a:p>
            <a:pPr/>
            <a:r>
              <a:rPr lang="de-DE" sz="1600" dirty="0"/>
              <a:t>   Lösung: Jede Zeile der Matrix wird mit dem Vektor skalar multipliziert.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18. [Eigen] Definiere: Tupel</a:t>
            </a:r>
          </a:p>
          <a:p>
            <a:pPr/>
            <a:r>
              <a:rPr lang="de-DE" sz="1600" dirty="0"/>
              <a:t>   Lösung: Ein Tupel ist eine geordnete Liste von Elementen.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19. [Eigen] Zeichne: Das Übergangsdiagramm zur Übergangsmatrix (0,60,90,40,1)\begin{pmatrix}0{,}6&amp;0{,}9\\0{,}4&amp;0{,}1\end{pmatrix}</a:t>
            </a:r>
          </a:p>
          <a:p>
            <a:pPr/>
            <a:r>
              <a:rPr lang="de-DE" sz="1600" dirty="0"/>
              <a:t>   Lösung: A→A: 0,6; B→A: 0,9; A→B: 0,4; B→B: 0,1.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20. [Eigen] Löse: (3425)⋅(67)\begin{pmatrix}3&amp;4\\2&amp;5\end{pmatrix}\cdot\begin{pmatrix}6\\7\end{pmatrix}</a:t>
            </a:r>
          </a:p>
          <a:p>
            <a:pPr/>
            <a:r>
              <a:rPr lang="de-DE" sz="1600" dirty="0"/>
              <a:t>   Lösung: (4647)\begin{pmatrix}46\\47\end{pmatrix}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21. [Eigen] Notiere: Eine 4×4-Matrix mit aij=i+ja_{ij}=i+j</a:t>
            </a:r>
          </a:p>
          <a:p>
            <a:pPr/>
            <a:r>
              <a:rPr lang="de-DE" sz="1600" dirty="0"/>
              <a:t>   Lösung: (2345345645675678)\begin{pmatrix}2&amp;3&amp;4&amp;5\\3&amp;4&amp;5&amp;6\\4&amp;5&amp;6&amp;7\\5&amp;6&amp;7&amp;8\end{pmatrix}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22. [Eigen] Skizziere: Einen Zustandsgraphen mit den Zuständen A und B</a:t>
            </a:r>
          </a:p>
          <a:p>
            <a:pPr/>
            <a:r>
              <a:rPr lang="de-DE" sz="1600" dirty="0"/>
              <a:t>   Lösung: Der Graph enthält die Knoten A und B sowie Übergangspfeile zwischen ihnen.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23. [Eigen] Erkläre: Die Berechnung nach mehreren Übergängen</a:t>
            </a:r>
          </a:p>
          <a:p>
            <a:pPr/>
            <a:r>
              <a:rPr lang="de-DE" sz="1600" dirty="0"/>
              <a:t>   Lösung: Man verwendet eine Potenz der Übergangsmatrix.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24. [Eigen] Erkläre: Spaltenvektor</a:t>
            </a:r>
          </a:p>
          <a:p>
            <a:pPr/>
            <a:r>
              <a:rPr lang="de-DE" sz="1600" dirty="0"/>
              <a:t>   Lösung: Ein Spaltenvektor ist eine Matrix mit genau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LK Mathe · 01 Basiswissen · 01.02 Einstieg Matrizen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Oder</a:t>
            </a:r>
          </a:p>
          <a:p>
            <a:pPr/>
            <a:r>
              <a:rPr lang="de-DE" sz="1600" dirty="0"/>
              <a:t>   Lösung: was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LK Mathe · 01 Basiswissen · 01.04 Matrix mal Vektor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Berechne $\frac{1}{2}$</a:t>
            </a:r>
          </a:p>
          <a:p>
            <a:pPr/>
            <a:r>
              <a:rPr lang="de-DE" sz="1600" dirty="0"/>
              <a:t>   Lösung: $\frac{1}{2}$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LK Mathe · Für später · Für später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[Für später] Definiere den natürlichen Logarithmus.</a:t>
            </a:r>
          </a:p>
          <a:p>
            <a:pPr/>
            <a:r>
              <a:rPr lang="de-DE" sz="1600" dirty="0"/>
              <a:t>   Lösung: Der natürliche Logarithmus ln(x) ist der Logarithmus zur Basis e und die Umkehrfunktion der Exponentialfunktion eˣ. Er ist für x &gt; 0 definiert.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[Für später] Stelle den Zusammenhang zwischen c · qᵗ und c · eᵏᵗ dar.</a:t>
            </a:r>
          </a:p>
          <a:p>
            <a:pPr/>
            <a:r>
              <a:rPr lang="de-DE" sz="1600" dirty="0"/>
              <a:t>   Lösung: Es gilt qᵗ = eᵗˡⁿ⁽ᑫ⁾. Daher gilt k = ln(q) beziehungsweise q = eᵏ.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[Für später] Gib die Ableitungen von eˣ und aˣ an.</a:t>
            </a:r>
          </a:p>
          <a:p>
            <a:pPr/>
            <a:r>
              <a:rPr lang="de-DE" sz="1600" dirty="0"/>
              <a:t>   Lösung: (eˣ)' = eˣ und für a &gt; 0 gilt (aˣ)' = ln(a) · aˣ.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[Für später] Löse die Gleichung 200e⁰˒³ᵗ = 400 nach t auf.</a:t>
            </a:r>
          </a:p>
          <a:p>
            <a:pPr/>
            <a:r>
              <a:rPr lang="de-DE" sz="1600" dirty="0"/>
              <a:t>   Lösung: t = ln(2)/0,3 ≈ 2,31.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[Für später] Bestimme den Zeitpunkt t, für den im Modell B(t) = 1000 · 0,85ᵗ der Wert B(t) = 500 gilt.</a:t>
            </a:r>
          </a:p>
          <a:p>
            <a:pPr/>
            <a:r>
              <a:rPr lang="de-DE" sz="1600" dirty="0"/>
              <a:t>   Lösung: t = ln(0,5)/ln(0,85) ≈ 4,27.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[Für später] Beschreibe die Bedeutung des Parameters k im Modell f(t) = c · eᵏᵗ.</a:t>
            </a:r>
          </a:p>
          <a:p>
            <a:pPr/>
            <a:r>
              <a:rPr lang="de-DE" sz="1600" dirty="0"/>
              <a:t>   Lösung: Es gilt f'(t) = k · f(t). Daher ist k die konstante relative momentane Änderungsrate. Für k &gt; 0 liegt Wachstum, für k &lt; 0 Zerfall und für k = 0 ein konstanter Bestand vor.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[Für später] Bestimme die Ableitungsfunktion von f(x) = 3e²ˣ − 4.</a:t>
            </a:r>
          </a:p>
          <a:p>
            <a:pPr/>
            <a:r>
              <a:rPr lang="de-DE" sz="1600" dirty="0"/>
              <a:t>   Lösung: f'(x) = 6e²ˣ.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Lehrer-Notizen zum Set:</a:t>
            </a:r>
          </a:p>
          <a:p>
            <a:pPr/>
            <a:r>
              <a:rPr lang="de-DE" sz="1600" dirty="0"/>
              <a:t>Aus der Datei SMANA_AB_Alle_Kategorien_G03_012 habe ich jetz talles aus den WiWo 1 bis 12 in dem Set Allgemein eingefügt.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 · Allgemein · Allgemein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Berechne: 75 + 87 + 25</a:t>
            </a:r>
          </a:p>
          <a:p>
            <a:pPr/>
            <a:r>
              <a:rPr lang="de-DE" sz="1600" dirty="0"/>
              <a:t>   Lösung: 187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Berechne: 63 + 71 + 29</a:t>
            </a:r>
          </a:p>
          <a:p>
            <a:pPr/>
            <a:r>
              <a:rPr lang="de-DE" sz="1600" dirty="0"/>
              <a:t>   Lösung: 163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Gib den Vorgänger von 1 000 000 an .</a:t>
            </a:r>
          </a:p>
          <a:p>
            <a:pPr/>
            <a:r>
              <a:rPr lang="de-DE" sz="1600" dirty="0"/>
              <a:t>   Lösung: 999 999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Gib an: Nachfolger von 1 000 000</a:t>
            </a:r>
          </a:p>
          <a:p>
            <a:pPr/>
            <a:r>
              <a:rPr lang="de-DE" sz="1600" dirty="0"/>
              <a:t>   Lösung: 1 000 001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[Eigen] Ergänze zu 100: 35 + 47 + ___</a:t>
            </a:r>
          </a:p>
          <a:p>
            <a:pPr/>
            <a:r>
              <a:rPr lang="de-DE" sz="1600" dirty="0"/>
              <a:t>   Lösung: 18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[Eigen] Ergänze zu hundert: 7 · 8 + ___</a:t>
            </a:r>
          </a:p>
          <a:p>
            <a:pPr/>
            <a:r>
              <a:rPr lang="de-DE" sz="1600" dirty="0"/>
              <a:t>   Lösung: 44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[Eigen] Ergänze zu 100: 8 + 2 · 17 + ___</a:t>
            </a:r>
          </a:p>
          <a:p>
            <a:pPr/>
            <a:r>
              <a:rPr lang="de-DE" sz="1600" dirty="0"/>
              <a:t>   Lösung: 58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8. [Eigen] Berechne: 1121 + 843</a:t>
            </a:r>
          </a:p>
          <a:p>
            <a:pPr/>
            <a:r>
              <a:rPr lang="de-DE" sz="1600" dirty="0"/>
              <a:t>   Lösung: 1964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9. [Eigen] Berechne: 1353 + 804</a:t>
            </a:r>
          </a:p>
          <a:p>
            <a:pPr/>
            <a:r>
              <a:rPr lang="de-DE" sz="1600" dirty="0"/>
              <a:t>   Lösung: 2157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10. [Eigen] Berechne: 1121 + 1353</a:t>
            </a:r>
          </a:p>
          <a:p>
            <a:pPr/>
            <a:r>
              <a:rPr lang="de-DE" sz="1600" dirty="0"/>
              <a:t>   Lösung: 2474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11. [Eigen] Berechne: 843 + 804</a:t>
            </a:r>
          </a:p>
          <a:p>
            <a:pPr/>
            <a:r>
              <a:rPr lang="de-DE" sz="1600" dirty="0"/>
              <a:t>   Lösung: 1647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12. [Eigen] Berechne: 1964 + 2157</a:t>
            </a:r>
          </a:p>
          <a:p>
            <a:pPr/>
            <a:r>
              <a:rPr lang="de-DE" sz="1600" dirty="0"/>
              <a:t>   Lösung: 4121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13. [Eigen] Wandle um in g: 500 kg</a:t>
            </a:r>
          </a:p>
          <a:p>
            <a:pPr/>
            <a:r>
              <a:rPr lang="de-DE" sz="1600" dirty="0"/>
              <a:t>   Lösung: 500 000 g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14. [Eigen] Wandle um in g: 500 mg</a:t>
            </a:r>
          </a:p>
          <a:p>
            <a:pPr/>
            <a:r>
              <a:rPr lang="de-DE" sz="1600" dirty="0"/>
              <a:t>   Lösung: 0,5 g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15. [Eigen] Gib an: Mindestanzahl der Besucher bei Rundung auf Hunderter von 12 300</a:t>
            </a:r>
          </a:p>
          <a:p>
            <a:pPr/>
            <a:r>
              <a:rPr lang="de-DE" sz="1600" dirty="0"/>
              <a:t>   Lösung: 12 250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16. [Eigen] Gib an: Höchstanzahl der Besucher bei Rundung auf Hunderter von 12 300</a:t>
            </a:r>
          </a:p>
          <a:p>
            <a:pPr/>
            <a:r>
              <a:rPr lang="de-DE" sz="1600" dirty="0"/>
              <a:t>   Lösung: 12 349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17. [Eigen] Berechne die Ankunftszeit bei einer Abfahrt um 8.16 Uhr und einer Fahrzeit von einer Stunde achtundvierzig Minuten.</a:t>
            </a:r>
          </a:p>
          <a:p>
            <a:pPr/>
            <a:r>
              <a:rPr lang="de-DE" sz="1600" dirty="0"/>
              <a:t>   Lösung: 10.04 Uhr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18. [Eigen] Berechne: 57 − (16 − 9)</a:t>
            </a:r>
          </a:p>
          <a:p>
            <a:pPr/>
            <a:r>
              <a:rPr lang="de-DE" sz="1600" dirty="0"/>
              <a:t>   Lösung: 50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19. [Eigen] Berechne: 57 − 16 − 9</a:t>
            </a:r>
          </a:p>
          <a:p>
            <a:pPr/>
            <a:r>
              <a:rPr lang="de-DE" sz="1600" dirty="0"/>
              <a:t>   Lösung: 32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20. [Eigen] Berechne: (57 − 16) − 9</a:t>
            </a:r>
          </a:p>
          <a:p>
            <a:pPr/>
            <a:r>
              <a:rPr lang="de-DE" sz="1600" dirty="0"/>
              <a:t>   Lösung: 32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21. [Eigen] Addiere: Zur Summe von 83 und 12 die Differenz von 54 und 17</a:t>
            </a:r>
          </a:p>
          <a:p>
            <a:pPr/>
            <a:r>
              <a:rPr lang="de-DE" sz="1600" dirty="0"/>
              <a:t>   Lösung: 132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22. [Eigen] Berechne: Strecke in einer halben Stunde bei 40 km in 2 Stunden</a:t>
            </a:r>
          </a:p>
          <a:p>
            <a:pPr/>
            <a:r>
              <a:rPr lang="de-DE" sz="1600" dirty="0"/>
              <a:t>   Lösung: 10 km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23. [Eigen] Berechne: 27 + 33 + 84 + 29 + 45</a:t>
            </a:r>
          </a:p>
          <a:p>
            <a:pPr/>
            <a:r>
              <a:rPr lang="de-DE" sz="1600" dirty="0"/>
              <a:t>   Lösung: 218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24. [Eigen] Gib an: Anzahl der verschiedenen dreistelligen Zahlen mit den Ziffern 5, 7 und 0</a:t>
            </a:r>
          </a:p>
          <a:p>
            <a:pPr/>
            <a:r>
              <a:rPr lang="de-DE" sz="1600" dirty="0"/>
              <a:t>   Lösung: 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25. [Eigen] Nenne: Eine dreistellige Zahl aus den Ziffern 5, 7 und 0</a:t>
            </a:r>
          </a:p>
          <a:p>
            <a:pPr/>
            <a:r>
              <a:rPr lang="de-DE" sz="1600" dirty="0"/>
              <a:t>   Lösung: 570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26. [Eigen] Nenne: Eine weitere dreistellige Zahl aus den Ziffern 5, 7 und 0</a:t>
            </a:r>
          </a:p>
          <a:p>
            <a:pPr/>
            <a:r>
              <a:rPr lang="de-DE" sz="1600" dirty="0"/>
              <a:t>   Lösung: 750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27. [Eigen] Nenne: Eine weitere dreistellige Zahl aus den Ziffern 5, 7 und 0</a:t>
            </a:r>
          </a:p>
          <a:p>
            <a:pPr/>
            <a:r>
              <a:rPr lang="de-DE" sz="1600" dirty="0"/>
              <a:t>   Lösung: 507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28. [Eigen] Nenne: Eine weitere dreistellige Zahl aus den Ziffern 5, 7 und 0</a:t>
            </a:r>
          </a:p>
          <a:p>
            <a:pPr/>
            <a:r>
              <a:rPr lang="de-DE" sz="1600" dirty="0"/>
              <a:t>   Lösung: 705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29. [Eigen] Berechne: Anzahl der Kinder aus der 5a und 5b zusammen bei 17 und 14 Teilnehmenden</a:t>
            </a:r>
          </a:p>
          <a:p>
            <a:pPr/>
            <a:r>
              <a:rPr lang="de-DE" sz="1600" dirty="0"/>
              <a:t>   Lösung: 31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30. [Eigen] Gib an: Mindestanzahl zusätzlicher Kinder für sechs gleich große Mannschaften</a:t>
            </a:r>
          </a:p>
          <a:p>
            <a:pPr/>
            <a:r>
              <a:rPr lang="de-DE" sz="1600" dirty="0"/>
              <a:t>   Lösung: 5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31. [Eigen] Gib an: Anzahl der Ecken eines Würfels</a:t>
            </a:r>
          </a:p>
          <a:p>
            <a:pPr/>
            <a:r>
              <a:rPr lang="de-DE" sz="1600" dirty="0"/>
              <a:t>   Lösung: 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32. [Eigen] Gib an: Anzahl der Kanten eines Würfels</a:t>
            </a:r>
          </a:p>
          <a:p>
            <a:pPr/>
            <a:r>
              <a:rPr lang="de-DE" sz="1600" dirty="0"/>
              <a:t>   Lösung: 12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33. [Eigen] Runde auf Zehner: 57</a:t>
            </a:r>
          </a:p>
          <a:p>
            <a:pPr/>
            <a:r>
              <a:rPr lang="de-DE" sz="1600" dirty="0"/>
              <a:t>   Lösung: 60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34. [Eigen] Runde auf Zehner: 323</a:t>
            </a:r>
          </a:p>
          <a:p>
            <a:pPr/>
            <a:r>
              <a:rPr lang="de-DE" sz="1600" dirty="0"/>
              <a:t>   Lösung: 320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35. [Eigen] Runde auf Zehner: 6798</a:t>
            </a:r>
          </a:p>
          <a:p>
            <a:pPr/>
            <a:r>
              <a:rPr lang="de-DE" sz="1600" dirty="0"/>
              <a:t>   Lösung: 6800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36. [Eigen] Runde auf Hunderter: 586</a:t>
            </a:r>
          </a:p>
          <a:p>
            <a:pPr/>
            <a:r>
              <a:rPr lang="de-DE" sz="1600" dirty="0"/>
              <a:t>   Lösung: 600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37. [Eigen] Runde auf Hunderter: 749</a:t>
            </a:r>
          </a:p>
          <a:p>
            <a:pPr/>
            <a:r>
              <a:rPr lang="de-DE" sz="1600" dirty="0"/>
              <a:t>   Lösung: 700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38. [Eigen] Runde auf Hunderter: 6798</a:t>
            </a:r>
          </a:p>
          <a:p>
            <a:pPr/>
            <a:r>
              <a:rPr lang="de-DE" sz="1600" dirty="0"/>
              <a:t>   Lösung: 6800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39. [Eigen] Gib an: Mindesttiefe des Mittelmeers bei Rundung auf 5300 m</a:t>
            </a:r>
          </a:p>
          <a:p>
            <a:pPr/>
            <a:r>
              <a:rPr lang="de-DE" sz="1600" dirty="0"/>
              <a:t>   Lösung: 5250 m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40. [Eigen] Gib an: Höchsttiefe des Mittelmeers bei Rundung auf 5300 m</a:t>
            </a:r>
          </a:p>
          <a:p>
            <a:pPr/>
            <a:r>
              <a:rPr lang="de-DE" sz="1600" dirty="0"/>
              <a:t>   Lösung: 5349 m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41. [Eigen] Berechne: 11 + 12 + 13 + 14 + 15 + 16 + 17 + 18 + 19</a:t>
            </a:r>
          </a:p>
          <a:p>
            <a:pPr/>
            <a:r>
              <a:rPr lang="de-DE" sz="1600" dirty="0"/>
              <a:t>   Lösung: 135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42. [Eigen] Notiere in Ziffern: fünfzig Millionen dreihundertsechstausendvierundzwanzig</a:t>
            </a:r>
          </a:p>
          <a:p>
            <a:pPr/>
            <a:r>
              <a:rPr lang="de-DE" sz="1600" dirty="0"/>
              <a:t>   Lösung: 50 306 024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43. [Eigen] Gib an: Vorgänger von 67 098 399</a:t>
            </a:r>
          </a:p>
          <a:p>
            <a:pPr/>
            <a:r>
              <a:rPr lang="de-DE" sz="1600" dirty="0"/>
              <a:t>   Lösung: 67 098 398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44. [Eigen] Gib an: Nachfolger von 67 098 399</a:t>
            </a:r>
          </a:p>
          <a:p>
            <a:pPr/>
            <a:r>
              <a:rPr lang="de-DE" sz="1600" dirty="0"/>
              <a:t>   Lösung: 67 098 400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45. [Eigen] Gib an: Anzahl der verschiedenen Möglichkeiten, drei Filme anzusehen</a:t>
            </a:r>
          </a:p>
          <a:p>
            <a:pPr/>
            <a:r>
              <a:rPr lang="de-DE" sz="1600" dirty="0"/>
              <a:t>   Lösung: 6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46. [Eigen] Gib an: Eine mögliche Reihenfolge der Filme A, B und C</a:t>
            </a:r>
          </a:p>
          <a:p>
            <a:pPr/>
            <a:r>
              <a:rPr lang="de-DE" sz="1600" dirty="0"/>
              <a:t>   Lösung: ABC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47. [Eigen] Schaue ich drei Filme nacheinander, wie viele verschiedene Reihenfolgen sind möglich?</a:t>
            </a:r>
          </a:p>
          <a:p>
            <a:pPr/>
            <a:r>
              <a:rPr lang="de-DE" sz="1600" dirty="0"/>
              <a:t>   Lösung: ACB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48. [Eigen] Gib an: Eine mögliche Reihenfolge der Film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 · Kap 1 - Natürliche Zahlen und Größen · 1.2 Große Zahlen - Stellenwerttafel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Bilde: Die Zahl aus 9 Millionen, 2 Hunderttausendern, 5 Zehntausendern, 4 Tausendern, 3 Hundertern, 1 Zehner und 7 Einern.</a:t>
            </a:r>
          </a:p>
          <a:p>
            <a:pPr/>
            <a:r>
              <a:rPr lang="de-DE" sz="1600" dirty="0"/>
              <a:t>   Lösung: 9 254 317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[Große Zahlen] Schreibe mit Ziffern: dreihundert Milliarden</a:t>
            </a:r>
          </a:p>
          <a:p>
            <a:pPr/>
            <a:r>
              <a:rPr lang="de-DE" sz="1600" dirty="0"/>
              <a:t>   Lösung: 300 000 000 000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[Große Zahlen] Schreibe mit Ziffern: zehn Milliarden</a:t>
            </a:r>
          </a:p>
          <a:p>
            <a:pPr/>
            <a:r>
              <a:rPr lang="de-DE" sz="1600" dirty="0"/>
              <a:t>   Lösung: 10 000 000 000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[Große Zahlen] Gib an: Geschätzte Anzahl der Sterne, die man mit bloßem Auge sehen kann</a:t>
            </a:r>
          </a:p>
          <a:p>
            <a:pPr/>
            <a:r>
              <a:rPr lang="de-DE" sz="1600" dirty="0"/>
              <a:t>   Lösung: 8 000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[Große Zahlen] Schreibe mit Ziffern: 12 Millionen 563 Tausend 450</a:t>
            </a:r>
          </a:p>
          <a:p>
            <a:pPr/>
            <a:r>
              <a:rPr lang="de-DE" sz="1600" dirty="0"/>
              <a:t>   Lösung: 12 563 450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[Große Zahlen] Schreibe mit Ziffern: 2 Milliarden 48 Tausend</a:t>
            </a:r>
          </a:p>
          <a:p>
            <a:pPr/>
            <a:r>
              <a:rPr lang="de-DE" sz="1600" dirty="0"/>
              <a:t>   Lösung: 2 000 048 000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[Große Zahlen] Schreibe mit Ziffern: 7 Billionen 67 Milliarden</a:t>
            </a:r>
          </a:p>
          <a:p>
            <a:pPr/>
            <a:r>
              <a:rPr lang="de-DE" sz="1600" dirty="0"/>
              <a:t>   Lösung: 7 067 000 000 000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8. [Große Zahlen] Lies die Zahl: 12 563 450</a:t>
            </a:r>
          </a:p>
          <a:p>
            <a:pPr/>
            <a:r>
              <a:rPr lang="de-DE" sz="1600" dirty="0"/>
              <a:t>   Lösung: 12 Millionen 563 Tausend 450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9. [Große Zahlen] Gliedere in Dreierpäckchen: 12563450</a:t>
            </a:r>
          </a:p>
          <a:p>
            <a:pPr/>
            <a:r>
              <a:rPr lang="de-DE" sz="1600" dirty="0"/>
              <a:t>   Lösung: 12 563 450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10. [Große Zahlen] Schreibe mit Ziffern: Nordamerika 618 Mio.</a:t>
            </a:r>
          </a:p>
          <a:p>
            <a:pPr/>
            <a:r>
              <a:rPr lang="de-DE" sz="1600" dirty="0"/>
              <a:t>   Lösung: 618 000 000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11. [Große Zahlen] Schreibe mit Ziffern: Südamerika 353 Mio.</a:t>
            </a:r>
          </a:p>
          <a:p>
            <a:pPr/>
            <a:r>
              <a:rPr lang="de-DE" sz="1600" dirty="0"/>
              <a:t>   Lösung: 353 000 000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12. [Große Zahlen] Schreibe mit Ziffern: Europa 741 Mio.</a:t>
            </a:r>
          </a:p>
          <a:p>
            <a:pPr/>
            <a:r>
              <a:rPr lang="de-DE" sz="1600" dirty="0"/>
              <a:t>   Lösung: 741 000 000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13. [Große Zahlen] Schreibe mit Ziffern: Afrika 1 Mrd. 136 Mio.</a:t>
            </a:r>
          </a:p>
          <a:p>
            <a:pPr/>
            <a:r>
              <a:rPr lang="de-DE" sz="1600" dirty="0"/>
              <a:t>   Lösung: 1 136 000 000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14. [Große Zahlen] Schreibe mit Ziffern: Asien 4 Mrd. 351 Mio.</a:t>
            </a:r>
          </a:p>
          <a:p>
            <a:pPr/>
            <a:r>
              <a:rPr lang="de-DE" sz="1600" dirty="0"/>
              <a:t>   Lösung: 4 351 000 000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15. [Große Zahlen] Schreibe mit Ziffern: Australien/Ozeanien 39 Mio.</a:t>
            </a:r>
          </a:p>
          <a:p>
            <a:pPr/>
            <a:r>
              <a:rPr lang="de-DE" sz="1600" dirty="0"/>
              <a:t>   Lösung: 39 000 000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16. [Eigen] Bestimme: den Vorgänger von 100</a:t>
            </a:r>
          </a:p>
          <a:p>
            <a:pPr/>
            <a:r>
              <a:rPr lang="de-DE" sz="1600" dirty="0"/>
              <a:t>   Lösung: 99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17. [Eigen] Bestimme den Nachfolger von 100.</a:t>
            </a:r>
          </a:p>
          <a:p>
            <a:pPr/>
            <a:r>
              <a:rPr lang="de-DE" sz="1600" dirty="0"/>
              <a:t>   Lösung: 101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18. [Eigen] Bestimme: den Vorgänger von 1 000</a:t>
            </a:r>
          </a:p>
          <a:p>
            <a:pPr/>
            <a:r>
              <a:rPr lang="de-DE" sz="1600" dirty="0"/>
              <a:t>   Lösung: 999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19. [Eigen] Bestimme: den Nachfolger von 1 000</a:t>
            </a:r>
          </a:p>
          <a:p>
            <a:pPr/>
            <a:r>
              <a:rPr lang="de-DE" sz="1600" dirty="0"/>
              <a:t>   Lösung: 1 001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20. [Eigen] Bestimme: den Vorgänger von 1 000 000</a:t>
            </a:r>
          </a:p>
          <a:p>
            <a:pPr/>
            <a:r>
              <a:rPr lang="de-DE" sz="1600" dirty="0"/>
              <a:t>   Lösung: 999 999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21. [Eigen] Bestimme: den Nachfolger von 1 000 000</a:t>
            </a:r>
          </a:p>
          <a:p>
            <a:pPr/>
            <a:r>
              <a:rPr lang="de-DE" sz="1600" dirty="0"/>
              <a:t>   Lösung: 1 000 001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22. [Eigen] Bestimme: den Vorgänger von 5 000 000 000</a:t>
            </a:r>
          </a:p>
          <a:p>
            <a:pPr/>
            <a:r>
              <a:rPr lang="de-DE" sz="1600" dirty="0"/>
              <a:t>   Lösung: 4 999 999 999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23. [Eigen] Bestimme: den Nachfolger von 5 000 000 000</a:t>
            </a:r>
          </a:p>
          <a:p>
            <a:pPr/>
            <a:r>
              <a:rPr lang="de-DE" sz="1600" dirty="0"/>
              <a:t>   Lösung: 5 000 000 001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24. [Eigen] Schreibe als Zahl: eine Million</a:t>
            </a:r>
          </a:p>
          <a:p>
            <a:pPr/>
            <a:r>
              <a:rPr lang="de-DE" sz="1600" dirty="0"/>
              <a:t>   Lösung: 1 000 000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25. [Eigen] Schreibe als Wort: 1 000 000</a:t>
            </a:r>
          </a:p>
          <a:p>
            <a:pPr/>
            <a:r>
              <a:rPr lang="de-DE" sz="1600" dirty="0"/>
              <a:t>   Lösung: eine Million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26. [Eigen] Schreibe als Zahl: eine Milliarde</a:t>
            </a:r>
          </a:p>
          <a:p>
            <a:pPr/>
            <a:r>
              <a:rPr lang="de-DE" sz="1600" dirty="0"/>
              <a:t>   Lösung: 1 000 000 000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27. [Eigen] Schreibe als Wort: 1 000 000 000</a:t>
            </a:r>
          </a:p>
          <a:p>
            <a:pPr/>
            <a:r>
              <a:rPr lang="de-DE" sz="1600" dirty="0"/>
              <a:t>   Lösung: eine Milliarde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28. [Eigen] Schreibe als Zahl: eine Billion</a:t>
            </a:r>
          </a:p>
          <a:p>
            <a:pPr/>
            <a:r>
              <a:rPr lang="de-DE" sz="1600" dirty="0"/>
              <a:t>   Lösung: 1 000 000 000 000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29. [Eigen] Schreibe als Wort: 1 000 000 000 000</a:t>
            </a:r>
          </a:p>
          <a:p>
            <a:pPr/>
            <a:r>
              <a:rPr lang="de-DE" sz="1600" dirty="0"/>
              <a:t>   Lösung: eine Billion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30. [Eigen] Bestimme: die Einerziffer von 48 372</a:t>
            </a:r>
          </a:p>
          <a:p>
            <a:pPr/>
            <a:r>
              <a:rPr lang="de-DE" sz="1600" dirty="0"/>
              <a:t>   Lösung: 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31. [Eigen] Bestimme: die Zehnerziffer von 48 372</a:t>
            </a:r>
          </a:p>
          <a:p>
            <a:pPr/>
            <a:r>
              <a:rPr lang="de-DE" sz="1600" dirty="0"/>
              <a:t>   Lösung: 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32. [Eigen] Bestimme: die Hunderterziffer von 48 372</a:t>
            </a:r>
          </a:p>
          <a:p>
            <a:pPr/>
            <a:r>
              <a:rPr lang="de-DE" sz="1600" dirty="0"/>
              <a:t>   Lösung: 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33. [Eigen] Bestimme: die Tausenderziffer von 48 372</a:t>
            </a:r>
          </a:p>
          <a:p>
            <a:pPr/>
            <a:r>
              <a:rPr lang="de-DE" sz="1600" dirty="0"/>
              <a:t>   Lösung: 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34. [Eigen] Bestimme: den Wert der Ziffer 5 in 5 824</a:t>
            </a:r>
          </a:p>
          <a:p>
            <a:pPr/>
            <a:r>
              <a:rPr lang="de-DE" sz="1600" dirty="0"/>
              <a:t>   Lösung: 5 000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35. [Eigen] Bestimme den Wert der Ziffer 8 in 5 824.</a:t>
            </a:r>
          </a:p>
          <a:p>
            <a:pPr/>
            <a:r>
              <a:rPr lang="de-DE" sz="1600" dirty="0"/>
              <a:t>   Lösung: 800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36. [Eigen] Bestimme: den Wert der Ziffer 2 in 5 824</a:t>
            </a:r>
          </a:p>
          <a:p>
            <a:pPr/>
            <a:r>
              <a:rPr lang="de-DE" sz="1600" dirty="0"/>
              <a:t>   Lösung: 20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37. [Eigen] Bilde: die Zahl aus 6 Tausendern, 4 Hundertern und 3 Einern</a:t>
            </a:r>
          </a:p>
          <a:p>
            <a:pPr/>
            <a:r>
              <a:rPr lang="de-DE" sz="1600" dirty="0"/>
              <a:t>   Lösung: 6 403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38. [Eigen] Bilde: die Zahl aus 2 Millionen und 5 Tausendern</a:t>
            </a:r>
          </a:p>
          <a:p>
            <a:pPr/>
            <a:r>
              <a:rPr lang="de-DE" sz="1600" dirty="0"/>
              <a:t>   Lösung: 2 005 000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39. [Eigen] Bilde: die Zahl aus 7 Milliarden und 8 Millionen</a:t>
            </a:r>
          </a:p>
          <a:p>
            <a:pPr/>
            <a:r>
              <a:rPr lang="de-DE" sz="1600" dirty="0"/>
              <a:t>   Lösung: 7 008 000 000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40. [Eigen] Gib die größere Zahl an: 9 999 oder 10 000</a:t>
            </a:r>
          </a:p>
          <a:p>
            <a:pPr/>
            <a:r>
              <a:rPr lang="de-DE" sz="1600" dirty="0"/>
              <a:t>   Lösung: 10 000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41. [Eigen] Gib die größere Zahl an: 999 999 oder 1 000 000</a:t>
            </a:r>
          </a:p>
          <a:p>
            <a:pPr/>
            <a:r>
              <a:rPr lang="de-DE" sz="1600" dirty="0"/>
              <a:t>   Lösung: 1 000 000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42. [Eigen] Gib die größere Zahl an: eine Million oder eine Milliarde</a:t>
            </a:r>
          </a:p>
          <a:p>
            <a:pPr/>
            <a:r>
              <a:rPr lang="de-DE" sz="1600" dirty="0"/>
              <a:t>   Lösung: eine Milliarde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43. [Eigen] Ergänze: Million, Milliarde, ___</a:t>
            </a:r>
          </a:p>
          <a:p>
            <a:pPr/>
            <a:r>
              <a:rPr lang="de-DE" sz="1600" dirty="0"/>
              <a:t>   Lösung: Billion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44. [Eigen] Ergänze: Milliarde, Billion, ___</a:t>
            </a:r>
          </a:p>
          <a:p>
            <a:pPr/>
            <a:r>
              <a:rPr lang="de-DE" sz="1600" dirty="0"/>
              <a:t>   Lösung: Billiarde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45. [Eig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 · Kap 1 - Natürliche Zahlen und Größen · 1.1 Darstellen von Daten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Bestimme: die Richtung der Balken im Säulendiagramm.</a:t>
            </a:r>
          </a:p>
          <a:p>
            <a:pPr/>
            <a:r>
              <a:rPr lang="de-DE" sz="1600" dirty="0"/>
              <a:t>   Lösung: senkrecht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Bestimme: die Richtung der Balken im Balkendiagramm.</a:t>
            </a:r>
          </a:p>
          <a:p>
            <a:pPr/>
            <a:r>
              <a:rPr lang="de-DE" sz="1600" dirty="0"/>
              <a:t>   Lösung: waagerecht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Merke: Säulen verlaufen ...</a:t>
            </a:r>
          </a:p>
          <a:p>
            <a:pPr/>
            <a:r>
              <a:rPr lang="de-DE" sz="1600" dirty="0"/>
              <a:t>   Lösung: von unten nach oben.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Merke: Balken verlaufen ...</a:t>
            </a:r>
          </a:p>
          <a:p>
            <a:pPr/>
            <a:r>
              <a:rPr lang="de-DE" sz="1600" dirty="0"/>
              <a:t>   Lösung: von links nach rechts.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 · Kap 1 - Natürliche Zahlen und Größen · 1.4 Das Binärsystem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Nenne: die Basis des Binärsystems.</a:t>
            </a:r>
          </a:p>
          <a:p>
            <a:pPr/>
            <a:r>
              <a:rPr lang="de-DE" sz="1600" dirty="0"/>
              <a:t>   Lösung: 2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[Eigen] Gib an: die möglichen Ziffern des Binärsystems.</a:t>
            </a:r>
          </a:p>
          <a:p>
            <a:pPr/>
            <a:r>
              <a:rPr lang="de-DE" sz="1600" dirty="0"/>
              <a:t>   Lösung: 0 und 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[Eigen] Bestimme: den Dezimalwert der Binärzahl 101.</a:t>
            </a:r>
          </a:p>
          <a:p>
            <a:pPr/>
            <a:r>
              <a:rPr lang="de-DE" sz="1600" dirty="0"/>
              <a:t>   Lösung: 5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[Eigen] Bestimme: den Dezimalwert der Binärzahl 1101.</a:t>
            </a:r>
          </a:p>
          <a:p>
            <a:pPr/>
            <a:r>
              <a:rPr lang="de-DE" sz="1600" dirty="0"/>
              <a:t>   Lösung: 13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[Eigen] Bestimme: den Dezimalwert der Binärzahl 10010.</a:t>
            </a:r>
          </a:p>
          <a:p>
            <a:pPr/>
            <a:r>
              <a:rPr lang="de-DE" sz="1600" dirty="0"/>
              <a:t>   Lösung: 18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[Eigen] Bestimme: den Dezimalwert der Binärzahl 11111.</a:t>
            </a:r>
          </a:p>
          <a:p>
            <a:pPr/>
            <a:r>
              <a:rPr lang="de-DE" sz="1600" dirty="0"/>
              <a:t>   Lösung: 31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7. [Eigen] Wandle um: die Dezimalzahl 9 ins Binärsystem.</a:t>
            </a:r>
          </a:p>
          <a:p>
            <a:pPr/>
            <a:r>
              <a:rPr lang="de-DE" sz="1600" dirty="0"/>
              <a:t>   Lösung: 1001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8. [Eigen] Wandle um: die Dezimalzahl 12 ins Binärsystem.</a:t>
            </a:r>
          </a:p>
          <a:p>
            <a:pPr/>
            <a:r>
              <a:rPr lang="de-DE" sz="1600" dirty="0"/>
              <a:t>   Lösung: 1100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9. [Eigen] Wandle um: die Dezimalzahl 25 ins Binärsystem.</a:t>
            </a:r>
          </a:p>
          <a:p>
            <a:pPr/>
            <a:r>
              <a:rPr lang="de-DE" sz="1600" dirty="0"/>
              <a:t>   Lösung: 11001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10. [Eigen] Wandle um: die Dezimalzahl 42 ins Binärsystem.</a:t>
            </a:r>
          </a:p>
          <a:p>
            <a:pPr/>
            <a:r>
              <a:rPr lang="de-DE" sz="1600" dirty="0"/>
              <a:t>   Lösung: 101010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11. [Eigen] Berechne: 101₂ + 011₂</a:t>
            </a:r>
          </a:p>
          <a:p>
            <a:pPr/>
            <a:r>
              <a:rPr lang="de-DE" sz="1600" dirty="0"/>
              <a:t>   Lösung: 1000₂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12. [Eigen] Berechne: 111₂ + 001₂</a:t>
            </a:r>
          </a:p>
          <a:p>
            <a:pPr/>
            <a:r>
              <a:rPr lang="de-DE" sz="1600" dirty="0"/>
              <a:t>   Lösung: 1000₂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13. [Eigen] Berechne: 1010₂ + 0101₂</a:t>
            </a:r>
          </a:p>
          <a:p>
            <a:pPr/>
            <a:r>
              <a:rPr lang="de-DE" sz="1600" dirty="0"/>
              <a:t>   Lösung: 1111₂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14. [Eigen] Berechne: 1001₂ + 1001₂</a:t>
            </a:r>
          </a:p>
          <a:p>
            <a:pPr/>
            <a:r>
              <a:rPr lang="de-DE" sz="1600" dirty="0"/>
              <a:t>   Lösung: 10010₂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15. [Eigen] Notiere die Zusammensetzung der Binärzahl aus Zweierpotenzen 1101₂.</a:t>
            </a:r>
          </a:p>
          <a:p>
            <a:pPr/>
            <a:r>
              <a:rPr lang="de-DE" sz="1600" dirty="0"/>
              <a:t>   Lösung: 1·2³ + 1·2² + 0·2¹ + 1·2⁰ = 13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16. [Eigen] Bestimme: die Anzahl darstellbarer Werte mit 4 Bit/Binärziffern.</a:t>
            </a:r>
          </a:p>
          <a:p>
            <a:pPr/>
            <a:r>
              <a:rPr lang="de-DE" sz="1600" dirty="0"/>
              <a:t>   Lösung: 2⁴ = 16 Werte (0 bis 15)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17. [Eigen] Bestimme: den Vorgänger der Binärzahl 1010₂.</a:t>
            </a:r>
          </a:p>
          <a:p>
            <a:pPr/>
            <a:r>
              <a:rPr lang="de-DE" sz="1600" dirty="0"/>
              <a:t>   Lösung: 1001₂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18. [Eigen] Bestimme: den Nachfolger der Binärzahl 1010₂.</a:t>
            </a:r>
          </a:p>
          <a:p>
            <a:pPr/>
            <a:r>
              <a:rPr lang="de-DE" sz="1600" dirty="0"/>
              <a:t>   Lösung: 1011₂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19. [Eigen] Bestimme: den Vorgänger der Binärzahl 1000₂.</a:t>
            </a:r>
          </a:p>
          <a:p>
            <a:pPr/>
            <a:r>
              <a:rPr lang="de-DE" sz="1600" dirty="0"/>
              <a:t>   Lösung: 0111₂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20. [Eigen] Bestimme: den Nachfolger der Binärzahl 1111₂.</a:t>
            </a:r>
          </a:p>
          <a:p>
            <a:pPr/>
            <a:r>
              <a:rPr lang="de-DE" sz="1600" dirty="0"/>
              <a:t>   Lösung: 10000₂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21. [Eigen] Bestimme: den Vorgänger der Binärzahl 1101₂.</a:t>
            </a:r>
          </a:p>
          <a:p>
            <a:pPr/>
            <a:r>
              <a:rPr lang="de-DE" sz="1600" dirty="0"/>
              <a:t>   Lösung: 1100₂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22. [Eigen] Bestimme: den Nachfolger der Binärzahl 1101₂.</a:t>
            </a:r>
          </a:p>
          <a:p>
            <a:pPr/>
            <a:r>
              <a:rPr lang="de-DE" sz="1600" dirty="0"/>
              <a:t>   Lösung: 1110₂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23. [Eigen] Bestimme: den Vorgänger der Binärzahl 10000₂.</a:t>
            </a:r>
          </a:p>
          <a:p>
            <a:pPr/>
            <a:r>
              <a:rPr lang="de-DE" sz="1600" dirty="0"/>
              <a:t>   Lösung: 1111₂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24. [Eigen] Bestimme: den Nachfolger der Binärzahl 10000₂.</a:t>
            </a:r>
          </a:p>
          <a:p>
            <a:pPr/>
            <a:r>
              <a:rPr lang="de-DE" sz="1600" dirty="0"/>
              <a:t>   Lösung: 10001₂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25. [Eigen] Leite ab: die größte darstellbare Zahl mit 5 Bit/Binärziffern.</a:t>
            </a:r>
          </a:p>
          <a:p>
            <a:pPr/>
            <a:r>
              <a:rPr lang="de-DE" sz="1600" dirty="0"/>
              <a:t>   Lösung: 11111₂ = 31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26. [Eigen] Nenne die Basis des Dezimalsystems</a:t>
            </a:r>
          </a:p>
          <a:p>
            <a:pPr/>
            <a:r>
              <a:rPr lang="de-DE" sz="1600" dirty="0"/>
              <a:t>   Lösung: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 · Kap 1 - Natürliche Zahlen und Größen · 1.0 Zählen und Zahlen veranschaulichen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[Eigen] $ Alles</a:t>
            </a:r>
          </a:p>
          <a:p>
            <a:pPr/>
            <a:r>
              <a:rPr lang="de-DE" sz="1600" dirty="0"/>
              <a:t> [Bild]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Die inverse Matrix A − 1 A^{-1} ermöglicht das Rückwärtsrechnen.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Die inverse Matrix A − 1 A-1 ermöglicht das Rückwärtsrechnen.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Vorwärts: a ⃗ 1 = A a ⃗ 0 \vec a_1=A\vec a_0 a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Rückwärts: a ⃗ 0 = A − 1 a ⃗ 1 \vec a_0=A-1\vec a_1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Für A = ( a b c d ) A=\begin{pmatrix}a&amp;b\\c&amp;d\end{pmatrix} gilt: A − 1 = 1 a d − b c ( d − b − c a ) A-1=\frac{1}{ad-bc}\begin{pmatrix}d&amp;-b\\-c&amp;a\end{pmatrix}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Die inverse Matrix existiert nur, wenn det ⁡ ( A ) = a d − b c ≠ 0 \det(A)=ad-bc\neq0 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Es gilt: A − 1 A = I A-1A=I mit I = ( 1 0 0 1 ) I=\begin{pmatrix}1&amp;0\\0&amp;1\end{pmatrix} .</a:t>
            </a:r>
          </a:p>
          <a:p>
            <a:pPr/>
            <a:r>
              <a:rPr lang="de-DE" sz="1600" dirty="0"/>
              <a:t> Vorwärts gilt:</a:t>
            </a:r>
          </a:p>
          <a:p>
            <a:pPr/>
            <a:r>
              <a:rPr lang="de-DE" sz="1600" dirty="0"/>
              <a:t>​ a ⃗ 1 = A a ⃗ 0 \vec a_1=A\vec a_0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Rückwärts gilt:</a:t>
            </a:r>
          </a:p>
          <a:p>
            <a:pPr/>
            <a:r>
              <a:rPr lang="de-DE" sz="1600" dirty="0"/>
              <a:t>​ a ⃗ 0 = A − 1 a ⃗ 1 \vec a_0=A^{-1}\vec a_1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Für</a:t>
            </a:r>
          </a:p>
          <a:p>
            <a:pPr/>
            <a:r>
              <a:rPr lang="de-DE" sz="1600" dirty="0"/>
              <a:t>​ A = ( a b c d ) A=\begin{pmatrix}a &amp; b\\c &amp; d\end{pmatrix}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gilt:</a:t>
            </a:r>
          </a:p>
          <a:p>
            <a:pPr/>
            <a:r>
              <a:rPr lang="de-DE" sz="1600" dirty="0"/>
              <a:t>​ A − 1 = 1 a d − b c ( d − b − c a ) A^{-1}=\frac{1}{ad-bc}\begin{pmatrix}d &amp; -b\\-c &amp; a\end{pmatrix}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Die inverse Matrix existiert nur, wenn</a:t>
            </a:r>
          </a:p>
          <a:p>
            <a:pPr/>
            <a:r>
              <a:rPr lang="de-DE" sz="1600" dirty="0"/>
              <a:t>​ det ⁡ ( A ) = a d − b c ≠ 0 \det(A)=ad-bc\neq 0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gilt.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Dabei macht A − 1 A^{-1} die Wirkung von A A rückgängig:</a:t>
            </a:r>
          </a:p>
          <a:p>
            <a:pPr/>
            <a:r>
              <a:rPr lang="de-DE" sz="1600" dirty="0"/>
              <a:t>​ A − 1 A = I A^{-1}A=I ​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mit der Einheitsmatrix</a:t>
            </a:r>
          </a:p>
          <a:p>
            <a:pPr/>
            <a:r>
              <a:rPr lang="de-DE" sz="1600" dirty="0"/>
              <a:t>​ I = ( 1 0 0 1 ) . I=\begin{pmatrix}1 &amp; 0\\0 &amp; 1\end{pmatrix}. ​ $</a:t>
            </a:r>
          </a:p>
          <a:p>
            <a:pPr/>
            <a:r>
              <a:rPr lang="de-DE" sz="1600" dirty="0"/>
              <a:t>   Lösung: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Mathe 5 · Für später · Für später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1. [Für später] Berechne: 2⁸</a:t>
            </a:r>
          </a:p>
          <a:p>
            <a:pPr/>
            <a:r>
              <a:rPr lang="de-DE" sz="1600" dirty="0"/>
              <a:t>   Lösung: 256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2. [Für später] Berechne: 4³</a:t>
            </a:r>
          </a:p>
          <a:p>
            <a:pPr/>
            <a:r>
              <a:rPr lang="de-DE" sz="1600" dirty="0"/>
              <a:t>   Lösung: 64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3. [Für später] Berechne: 17²</a:t>
            </a:r>
          </a:p>
          <a:p>
            <a:pPr/>
            <a:r>
              <a:rPr lang="de-DE" sz="1600" dirty="0"/>
              <a:t>   Lösung: 289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4. [Für später] Berechne: 10⁶</a:t>
            </a:r>
          </a:p>
          <a:p>
            <a:pPr/>
            <a:r>
              <a:rPr lang="de-DE" sz="1600" dirty="0"/>
              <a:t>   Lösung: 1 000 000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5. [Für später] Schreibe als Potenz und berechne: 3 · 3 + 2 · 2 · 2</a:t>
            </a:r>
          </a:p>
          <a:p>
            <a:pPr/>
            <a:r>
              <a:rPr lang="de-DE" sz="1600" dirty="0"/>
              <a:t>   Lösung: 3² + 2³ = 17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6. [Für später] Schreibe als Potenz und berechne: 5 · 5 · 5 · 5</a:t>
            </a:r>
          </a:p>
          <a:p>
            <a:pPr/>
            <a:r>
              <a:rPr lang="de-DE" sz="1600" dirty="0"/>
              <a:t>   Lösung: 5⁴ = 625</a:t>
            </a:r>
          </a:p>
        </p:txBody>
      </p:sp>
    </p:spTree>
  </p:cSld>
  <p:clrMapOvr>
    <a:masterClrMapping/>
  </p:clrMapOvr>
</p:sld>
</file>