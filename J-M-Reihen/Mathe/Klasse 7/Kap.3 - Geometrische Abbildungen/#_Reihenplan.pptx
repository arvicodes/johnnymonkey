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9" r:id="rId2"/>
    <p:sldId id="262" r:id="rId3"/>
    <p:sldId id="257" r:id="rId4"/>
    <p:sldId id="258" r:id="rId5"/>
    <p:sldId id="260" r:id="rId6"/>
    <p:sldId id="265" r:id="rId7"/>
    <p:sldId id="268" r:id="rId8"/>
    <p:sldId id="270" r:id="rId9"/>
    <p:sldId id="271" r:id="rId10"/>
    <p:sldId id="273" r:id="rId11"/>
    <p:sldId id="267" r:id="rId12"/>
    <p:sldId id="261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884"/>
    <p:restoredTop sz="89420"/>
  </p:normalViewPr>
  <p:slideViewPr>
    <p:cSldViewPr snapToGrid="0">
      <p:cViewPr>
        <p:scale>
          <a:sx n="94" d="100"/>
          <a:sy n="94" d="100"/>
        </p:scale>
        <p:origin x="800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10E92E-5F19-834A-AA97-53FA2D660DCB}" type="datetimeFigureOut">
              <a:rPr lang="de-DE" smtClean="0"/>
              <a:t>04.01.26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264360D-A3AE-044F-B6E9-FC0C70EEF33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424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64360D-A3AE-044F-B6E9-FC0C70EEF33D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161862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DBF736-41BD-BCEF-C219-DB89ADFB95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1F4E5B4-638B-A9CE-C065-BB4FD5C1F4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06484DE-5A55-288D-D3F5-79F54F94A6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0E08-E80E-9141-9781-077B3A888FD3}" type="datetimeFigureOut">
              <a:rPr lang="de-DE" smtClean="0"/>
              <a:t>04.01.26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1BE8696-C210-0ED6-4481-C24D127EC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1B035B2-094A-74B8-4BA8-F2CFB547A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89043-021B-1C49-BF4E-7AA6DEF424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5781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21BEBB-06F3-7C8B-124C-CE7A8D72F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CB5495-68D0-CA8A-49E8-9AAD963A5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A4B9263-8475-084F-4C01-74298FD4F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0E08-E80E-9141-9781-077B3A888FD3}" type="datetimeFigureOut">
              <a:rPr lang="de-DE" smtClean="0"/>
              <a:t>04.01.26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C34B102-27AF-A170-C86E-9FAA222B6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E2E69E5-7C57-B850-E027-0004BD7BF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89043-021B-1C49-BF4E-7AA6DEF424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75263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EA727D-D698-07A3-B9F8-7521AC68F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028DB37-97F8-F745-2E85-EAAC02A702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7E0751-8F80-9C08-9EE5-C03D4AD7F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0E08-E80E-9141-9781-077B3A888FD3}" type="datetimeFigureOut">
              <a:rPr lang="de-DE" smtClean="0"/>
              <a:t>04.01.26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0BF7F2A-7443-14F5-5E05-D8B040497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CB6BA2-CAC3-EB8A-4EF9-049914332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89043-021B-1C49-BF4E-7AA6DEF424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94637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58AF22-A112-32CC-F2BC-81EF570D3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84860AF-9EC0-9CCF-AECA-A48EEFA315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EDF91C7-22B0-594A-7516-E3D5A8101D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63FA6D1-F566-7454-3585-DA6F1E1AE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0E08-E80E-9141-9781-077B3A888FD3}" type="datetimeFigureOut">
              <a:rPr lang="de-DE" smtClean="0"/>
              <a:t>04.01.26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D3138BB-508C-388C-DD92-EAF7D6672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BF59079-8D2B-5F98-26DE-071E12CF8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89043-021B-1C49-BF4E-7AA6DEF424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21377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2C456E-DAD2-2BD2-004E-E3E88F24D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656420C-FE79-B9C0-37E5-86D4BF2DAC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F180F3B-A1AA-32FB-B865-9677A7E0F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6F9BCB9-123A-4973-E443-9F3304A004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D0C55B1-18AF-922D-350A-525A0447FC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1D4E357-60DC-C276-F273-A00DE098D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0E08-E80E-9141-9781-077B3A888FD3}" type="datetimeFigureOut">
              <a:rPr lang="de-DE" smtClean="0"/>
              <a:t>04.01.26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C0CF131-5A7F-0FB1-F9A3-4AFF7F6CD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D3467A2-C749-0601-317B-7EAD8B222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89043-021B-1C49-BF4E-7AA6DEF424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389564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62272E-A944-D6EB-C123-EFDDC942E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2A6B042-480A-CC09-7327-511F726C9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0E08-E80E-9141-9781-077B3A888FD3}" type="datetimeFigureOut">
              <a:rPr lang="de-DE" smtClean="0"/>
              <a:t>04.01.26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BE436B8-004D-4CF9-21F0-9D5C70895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B7FEDFB-A328-8285-63A4-3AD990C91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89043-021B-1C49-BF4E-7AA6DEF424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728986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0BE9DB1-E321-7C8F-FA03-95C8C0C4F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0E08-E80E-9141-9781-077B3A888FD3}" type="datetimeFigureOut">
              <a:rPr lang="de-DE" smtClean="0"/>
              <a:t>04.01.26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F5FB211-C664-093B-A77B-CEE7B2A2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044603E-C3F0-E3F9-9EB4-B8FFC256D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89043-021B-1C49-BF4E-7AA6DEF424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24352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4FE973-D53B-E72C-A330-579F85EFD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6840F5-E3D4-3CB4-8DB1-6184F9E2B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3A23824-8F92-8B9C-47C1-57A4E7D9E0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D8D4F8C-EB62-A0A5-6C24-FAF471F7E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0E08-E80E-9141-9781-077B3A888FD3}" type="datetimeFigureOut">
              <a:rPr lang="de-DE" smtClean="0"/>
              <a:t>04.01.26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1A974A1-5037-D1DE-90C5-29AD8C33F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F1BF734-6330-5774-6A8B-44731660B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89043-021B-1C49-BF4E-7AA6DEF424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8883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CABFDF-4ECA-603C-180B-6528A13521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30261A1-4DF2-83FD-5CC8-DC68074E89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5E76610-49A4-31D0-ECC1-8F3817371F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5E5CFD1-3027-AA9F-49BC-6D804B6F0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0E08-E80E-9141-9781-077B3A888FD3}" type="datetimeFigureOut">
              <a:rPr lang="de-DE" smtClean="0"/>
              <a:t>04.01.26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543EA0B-BA7C-2E89-7AB1-90CCDFA55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4940004-D81D-C9D7-29C7-6444043E0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89043-021B-1C49-BF4E-7AA6DEF424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20960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E6FE0D-34D0-4E90-49CE-EDD930FBF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72EE0B9-62B5-9540-38F0-E2013D7D25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3952F39-546A-3EBD-5B35-051675A2C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0E08-E80E-9141-9781-077B3A888FD3}" type="datetimeFigureOut">
              <a:rPr lang="de-DE" smtClean="0"/>
              <a:t>04.01.26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09797B6-7119-4DAA-7287-7D9CFACEA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40E1780-AC04-3270-A3A0-98AE495CA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89043-021B-1C49-BF4E-7AA6DEF424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07008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69A708F-5C4D-4852-6000-2BB7D60BD7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6570D46-0568-77A4-5043-CB07343812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35399F4-C353-7D95-6BE8-668F80253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0E08-E80E-9141-9781-077B3A888FD3}" type="datetimeFigureOut">
              <a:rPr lang="de-DE" smtClean="0"/>
              <a:t>04.01.26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49A3EFA-690C-B2A9-BF19-9A524F2E9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06D5A00-BC7D-543E-3C1B-5D6E40F6A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89043-021B-1C49-BF4E-7AA6DEF424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761062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5CB71F9F-E182-22BA-803A-43C6531F1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4298C84-4450-4F09-B087-4768B33E9B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D208B6B-E1A7-24F4-1317-2E47C53EC3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2C0E08-E80E-9141-9781-077B3A888FD3}" type="datetimeFigureOut">
              <a:rPr lang="de-DE" smtClean="0"/>
              <a:t>04.01.26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3798C9-4CBC-F600-381A-841BFCF77F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6A1FC8C-30C9-8012-4B62-9894B73DBA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989043-021B-1C49-BF4E-7AA6DEF424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30164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4D937D-D946-48E9-9FC0-D4D9E3ED2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23" y="425086"/>
            <a:ext cx="11768528" cy="549275"/>
          </a:xfrm>
        </p:spPr>
        <p:txBody>
          <a:bodyPr>
            <a:normAutofit fontScale="90000"/>
          </a:bodyPr>
          <a:lstStyle/>
          <a:p>
            <a:pPr algn="ctr"/>
            <a:r>
              <a:rPr lang="de-DE" dirty="0">
                <a:latin typeface="ADLaM Display" panose="02010000000000000000" pitchFamily="2" charset="77"/>
                <a:ea typeface="ADLaM Display" panose="02010000000000000000" pitchFamily="2" charset="77"/>
                <a:cs typeface="ADLaM Display" panose="02010000000000000000" pitchFamily="2" charset="77"/>
              </a:rPr>
              <a:t>Reihenplan (5 Std. + </a:t>
            </a:r>
            <a:r>
              <a:rPr lang="de-DE" b="1" dirty="0">
                <a:solidFill>
                  <a:srgbClr val="7030A0"/>
                </a:solidFill>
                <a:latin typeface="ADLaM Display" panose="02010000000000000000" pitchFamily="2" charset="77"/>
                <a:ea typeface="ADLaM Display" panose="02010000000000000000" pitchFamily="2" charset="77"/>
                <a:cs typeface="ADLaM Display" panose="02010000000000000000" pitchFamily="2" charset="77"/>
              </a:rPr>
              <a:t>Hü</a:t>
            </a:r>
            <a:r>
              <a:rPr lang="de-DE" dirty="0">
                <a:latin typeface="ADLaM Display" panose="02010000000000000000" pitchFamily="2" charset="77"/>
                <a:ea typeface="ADLaM Display" panose="02010000000000000000" pitchFamily="2" charset="77"/>
                <a:cs typeface="ADLaM Display" panose="02010000000000000000" pitchFamily="2" charset="77"/>
              </a:rPr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CF567-B171-A96A-6C87-F5C31E583A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93623" y="1497496"/>
            <a:ext cx="11768528" cy="5115299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Grundbegriffe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Verschieben &amp; Drehen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Doppelspiegelung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Doppelspiegelung Teil 2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Gemischtes Üben</a:t>
            </a:r>
            <a:endParaRPr lang="de-DE" b="1" dirty="0">
              <a:solidFill>
                <a:srgbClr val="7030A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de-DE" b="1" dirty="0">
                <a:solidFill>
                  <a:srgbClr val="7030A0"/>
                </a:solidFill>
              </a:rPr>
              <a:t>HÜ </a:t>
            </a:r>
            <a:r>
              <a:rPr lang="de-DE" dirty="0"/>
              <a:t>und Übungs- bzw. Knobelspiel</a:t>
            </a:r>
            <a:endParaRPr lang="de-DE" b="1" dirty="0">
              <a:solidFill>
                <a:srgbClr val="7030A0"/>
              </a:solidFill>
            </a:endParaRP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Arbeitsheft S.29 bis 37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48936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F5F4C-102E-2FAA-E0F6-EAC29427C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DC2F80-0867-583C-AC58-8829AB16F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23" y="425086"/>
            <a:ext cx="11768528" cy="549275"/>
          </a:xfrm>
        </p:spPr>
        <p:txBody>
          <a:bodyPr>
            <a:normAutofit fontScale="90000"/>
          </a:bodyPr>
          <a:lstStyle/>
          <a:p>
            <a:pPr algn="ctr"/>
            <a:r>
              <a:rPr lang="de-DE" dirty="0">
                <a:latin typeface="ADLaM Display" panose="02010000000000000000" pitchFamily="2" charset="77"/>
                <a:ea typeface="ADLaM Display" panose="02010000000000000000" pitchFamily="2" charset="77"/>
                <a:cs typeface="ADLaM Display" panose="02010000000000000000" pitchFamily="2" charset="77"/>
              </a:rPr>
              <a:t>Sitzordnung Computerraum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B5C29FB-88F6-4809-15BC-1B0316BD3A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93623" y="1497496"/>
            <a:ext cx="11768528" cy="5115299"/>
          </a:xfrm>
        </p:spPr>
        <p:txBody>
          <a:bodyPr>
            <a:normAutofit fontScale="92500" lnSpcReduction="20000"/>
          </a:bodyPr>
          <a:lstStyle/>
          <a:p>
            <a:pPr marL="0" indent="0" fontAlgn="ctr">
              <a:buNone/>
            </a:pPr>
            <a:r>
              <a:rPr lang="de-DE" dirty="0"/>
              <a:t>Louisa					Marlene K.		 Adela</a:t>
            </a:r>
          </a:p>
          <a:p>
            <a:pPr marL="0" indent="0" fontAlgn="ctr">
              <a:buNone/>
            </a:pPr>
            <a:r>
              <a:rPr lang="de-DE" dirty="0"/>
              <a:t>Julia		Marlene G.		 	Jasmin 		Friederike</a:t>
            </a:r>
          </a:p>
          <a:p>
            <a:pPr marL="0" indent="0" fontAlgn="ctr">
              <a:buNone/>
            </a:pPr>
            <a:endParaRPr lang="de-DE" dirty="0"/>
          </a:p>
          <a:p>
            <a:pPr marL="0" indent="0" fontAlgn="ctr">
              <a:buNone/>
            </a:pPr>
            <a:r>
              <a:rPr lang="de-DE" dirty="0"/>
              <a:t>Jonas		Samuel			Dennis		Luise</a:t>
            </a:r>
          </a:p>
          <a:p>
            <a:pPr marL="0" indent="0" algn="just" fontAlgn="ctr">
              <a:buNone/>
            </a:pPr>
            <a:r>
              <a:rPr lang="de-DE" dirty="0"/>
              <a:t>Kilian 		Jan				Vincent 		Hannah</a:t>
            </a:r>
          </a:p>
          <a:p>
            <a:pPr marL="0" indent="0" fontAlgn="ctr">
              <a:buNone/>
            </a:pPr>
            <a:endParaRPr lang="de-DE" dirty="0"/>
          </a:p>
          <a:p>
            <a:pPr marL="0" indent="0" fontAlgn="ctr">
              <a:buNone/>
            </a:pPr>
            <a:endParaRPr lang="de-DE" dirty="0"/>
          </a:p>
          <a:p>
            <a:pPr marL="0" indent="0" fontAlgn="ctr">
              <a:buNone/>
            </a:pPr>
            <a:r>
              <a:rPr lang="de-DE" dirty="0"/>
              <a:t>Miró 		Freya				Felix			Niklas</a:t>
            </a:r>
          </a:p>
          <a:p>
            <a:pPr marL="0" indent="0" fontAlgn="ctr">
              <a:buNone/>
            </a:pPr>
            <a:r>
              <a:rPr lang="de-DE" dirty="0"/>
              <a:t>Jonathan 	Josefine			</a:t>
            </a:r>
            <a:r>
              <a:rPr lang="de-DE" dirty="0" err="1"/>
              <a:t>Lennas</a:t>
            </a:r>
            <a:r>
              <a:rPr lang="de-DE" dirty="0"/>
              <a:t>		Nils</a:t>
            </a:r>
          </a:p>
          <a:p>
            <a:pPr marL="0" indent="0" fontAlgn="ctr">
              <a:buNone/>
            </a:pPr>
            <a:endParaRPr lang="de-DE" dirty="0"/>
          </a:p>
          <a:p>
            <a:pPr marL="0" indent="0" fontAlgn="ctr">
              <a:buNone/>
            </a:pPr>
            <a:r>
              <a:rPr lang="de-DE" dirty="0"/>
              <a:t>Louis		Bruno				Fabio			Robin</a:t>
            </a:r>
          </a:p>
          <a:p>
            <a:pPr marL="0" indent="0" fontAlgn="ctr">
              <a:buNone/>
            </a:pPr>
            <a:r>
              <a:rPr lang="de-DE" dirty="0"/>
              <a:t>Arthur 	Andreas			Jakob		 	Paul</a:t>
            </a:r>
          </a:p>
        </p:txBody>
      </p:sp>
    </p:spTree>
    <p:extLst>
      <p:ext uri="{BB962C8B-B14F-4D97-AF65-F5344CB8AC3E}">
        <p14:creationId xmlns:p14="http://schemas.microsoft.com/office/powerpoint/2010/main" val="33355604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 descr="Ein Bild, das Text, Papier, Brief, Origami enthält.&#10;&#10;KI-generierte Inhalte können fehlerhaft sein.">
            <a:extLst>
              <a:ext uri="{FF2B5EF4-FFF2-40B4-BE49-F238E27FC236}">
                <a16:creationId xmlns:a16="http://schemas.microsoft.com/office/drawing/2014/main" id="{A4BE09B9-6415-6507-A377-A5DAD30E29A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8743"/>
          <a:stretch>
            <a:fillRect/>
          </a:stretch>
        </p:blipFill>
        <p:spPr>
          <a:xfrm>
            <a:off x="0" y="468441"/>
            <a:ext cx="5924918" cy="5448926"/>
          </a:xfrm>
          <a:prstGeom prst="rect">
            <a:avLst/>
          </a:prstGeom>
        </p:spPr>
      </p:pic>
      <p:pic>
        <p:nvPicPr>
          <p:cNvPr id="12" name="Grafik 11" descr="Ein Bild, das Text, Schrift, Reihe, Diagramm enthält.&#10;&#10;KI-generierte Inhalte können fehlerhaft sein.">
            <a:extLst>
              <a:ext uri="{FF2B5EF4-FFF2-40B4-BE49-F238E27FC236}">
                <a16:creationId xmlns:a16="http://schemas.microsoft.com/office/drawing/2014/main" id="{E2B21C04-4E69-2ACA-5B47-6F85E6498F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762532"/>
            <a:ext cx="6048117" cy="1244184"/>
          </a:xfrm>
          <a:prstGeom prst="rect">
            <a:avLst/>
          </a:prstGeom>
        </p:spPr>
      </p:pic>
      <p:pic>
        <p:nvPicPr>
          <p:cNvPr id="15" name="Grafik 14" descr="Ein Bild, das Text, Papier, Brief, Origami enthält.&#10;&#10;KI-generierte Inhalte können fehlerhaft sein.">
            <a:extLst>
              <a:ext uri="{FF2B5EF4-FFF2-40B4-BE49-F238E27FC236}">
                <a16:creationId xmlns:a16="http://schemas.microsoft.com/office/drawing/2014/main" id="{721158B0-DCA0-18E3-E2BB-A2D9AF0126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1257"/>
          <a:stretch>
            <a:fillRect/>
          </a:stretch>
        </p:blipFill>
        <p:spPr>
          <a:xfrm>
            <a:off x="6096000" y="1499016"/>
            <a:ext cx="6101642" cy="2263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369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 descr="Ein Bild, das Text, Screenshot, Schrift, Brief enthält.&#10;&#10;KI-generierte Inhalte können fehlerhaft sein.">
            <a:extLst>
              <a:ext uri="{FF2B5EF4-FFF2-40B4-BE49-F238E27FC236}">
                <a16:creationId xmlns:a16="http://schemas.microsoft.com/office/drawing/2014/main" id="{1530B3CA-E079-015A-6244-3B16165C6F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7856" y="-1863"/>
            <a:ext cx="5666282" cy="687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3778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BA140C9D-1408-E733-FF1E-44847D93BFFB}"/>
              </a:ext>
            </a:extLst>
          </p:cNvPr>
          <p:cNvSpPr txBox="1">
            <a:spLocks/>
          </p:cNvSpPr>
          <p:nvPr/>
        </p:nvSpPr>
        <p:spPr>
          <a:xfrm>
            <a:off x="193623" y="425086"/>
            <a:ext cx="11768528" cy="549275"/>
          </a:xfrm>
          <a:prstGeom prst="rect">
            <a:avLst/>
          </a:prstGeom>
        </p:spPr>
        <p:txBody>
          <a:bodyPr>
            <a:normAutofit fontScale="9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dirty="0">
                <a:latin typeface="ADLaM Display" panose="02010000000000000000" pitchFamily="2" charset="77"/>
                <a:ea typeface="ADLaM Display" panose="02010000000000000000" pitchFamily="2" charset="77"/>
                <a:cs typeface="ADLaM Display" panose="02010000000000000000" pitchFamily="2" charset="77"/>
              </a:rPr>
              <a:t>Wiederholung: Achsenspiegelung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584FD70A-0EC3-02CD-02E6-2F0482628609}"/>
              </a:ext>
            </a:extLst>
          </p:cNvPr>
          <p:cNvSpPr/>
          <p:nvPr/>
        </p:nvSpPr>
        <p:spPr>
          <a:xfrm>
            <a:off x="193623" y="1240970"/>
            <a:ext cx="11768527" cy="5382251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D1B812B5-42BF-7EF8-4EF2-953E9E589C6F}"/>
              </a:ext>
            </a:extLst>
          </p:cNvPr>
          <p:cNvSpPr txBox="1">
            <a:spLocks/>
          </p:cNvSpPr>
          <p:nvPr/>
        </p:nvSpPr>
        <p:spPr>
          <a:xfrm>
            <a:off x="423472" y="1559658"/>
            <a:ext cx="11327804" cy="439629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de-DE" b="1" dirty="0"/>
              <a:t>Aufgabe 1</a:t>
            </a:r>
          </a:p>
          <a:p>
            <a:pPr marL="0" indent="0" algn="just">
              <a:buNone/>
            </a:pPr>
            <a:r>
              <a:rPr lang="de-DE" dirty="0"/>
              <a:t>Zeichne das Dreieck ABC mit den Eckpunkten A(2/3), B(8,5/1) und C(5/4) sowie die </a:t>
            </a:r>
            <a:r>
              <a:rPr lang="de-DE" dirty="0" err="1"/>
              <a:t>Berade</a:t>
            </a:r>
            <a:r>
              <a:rPr lang="de-DE" dirty="0"/>
              <a:t> CD durch die Punkte C und D(3/0). Spiegele dann das Dreieck ABC an der Geraden CD.</a:t>
            </a:r>
          </a:p>
          <a:p>
            <a:pPr marL="0" indent="0" algn="just">
              <a:buNone/>
            </a:pPr>
            <a:endParaRPr lang="de-DE" dirty="0"/>
          </a:p>
          <a:p>
            <a:pPr marL="0" indent="0" algn="just">
              <a:buNone/>
            </a:pPr>
            <a:r>
              <a:rPr lang="de-DE" b="1" dirty="0"/>
              <a:t>Aufgabe 2</a:t>
            </a:r>
          </a:p>
          <a:p>
            <a:pPr marL="0" indent="0" algn="just">
              <a:buNone/>
            </a:pPr>
            <a:r>
              <a:rPr lang="de-DE" dirty="0"/>
              <a:t>Schreibe einen Text der folgende Begriffe beinhaltet:</a:t>
            </a:r>
          </a:p>
          <a:p>
            <a:pPr marL="0" indent="0" algn="just">
              <a:buNone/>
            </a:pPr>
            <a:r>
              <a:rPr lang="de-DE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Cavolini" panose="03000502040302020204" pitchFamily="66" charset="0"/>
                <a:ea typeface="ADLaM Display" panose="02010000000000000000" pitchFamily="2" charset="77"/>
                <a:cs typeface="Cavolini" panose="03000502040302020204" pitchFamily="66" charset="0"/>
              </a:rPr>
              <a:t>Originalpunkt, Spiegelachse, parallel, Abstand, Bildpunkt, P, verschiedene Seiten, denselben, P‘, Fixpunkt, Achsenspiegelung, Mittellinie, Geodreieck</a:t>
            </a:r>
          </a:p>
        </p:txBody>
      </p:sp>
    </p:spTree>
    <p:extLst>
      <p:ext uri="{BB962C8B-B14F-4D97-AF65-F5344CB8AC3E}">
        <p14:creationId xmlns:p14="http://schemas.microsoft.com/office/powerpoint/2010/main" val="31781812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A4012-513C-1652-41DD-76A8CF12A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DA84CAF6-1015-5B92-11EB-B7C4A9A15ABB}"/>
              </a:ext>
            </a:extLst>
          </p:cNvPr>
          <p:cNvSpPr txBox="1">
            <a:spLocks/>
          </p:cNvSpPr>
          <p:nvPr/>
        </p:nvSpPr>
        <p:spPr>
          <a:xfrm>
            <a:off x="193623" y="425086"/>
            <a:ext cx="11768528" cy="549275"/>
          </a:xfrm>
          <a:prstGeom prst="rect">
            <a:avLst/>
          </a:prstGeom>
        </p:spPr>
        <p:txBody>
          <a:bodyPr>
            <a:normAutofit fontScale="9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dirty="0">
                <a:latin typeface="ADLaM Display" panose="02010000000000000000" pitchFamily="2" charset="77"/>
                <a:ea typeface="ADLaM Display" panose="02010000000000000000" pitchFamily="2" charset="77"/>
                <a:cs typeface="ADLaM Display" panose="02010000000000000000" pitchFamily="2" charset="77"/>
              </a:rPr>
              <a:t>Wiederholung: Achsenspiegelung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E4979463-21F0-7B46-6790-38104BDD00F1}"/>
              </a:ext>
            </a:extLst>
          </p:cNvPr>
          <p:cNvSpPr/>
          <p:nvPr/>
        </p:nvSpPr>
        <p:spPr>
          <a:xfrm>
            <a:off x="193623" y="1240970"/>
            <a:ext cx="11768527" cy="5382251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FDCFFAF8-DA45-C902-D19F-089239CD514F}"/>
              </a:ext>
            </a:extLst>
          </p:cNvPr>
          <p:cNvSpPr txBox="1">
            <a:spLocks/>
          </p:cNvSpPr>
          <p:nvPr/>
        </p:nvSpPr>
        <p:spPr>
          <a:xfrm>
            <a:off x="423472" y="1559658"/>
            <a:ext cx="11327804" cy="439629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de-DE" b="1" dirty="0"/>
              <a:t>Aufgabe 3</a:t>
            </a:r>
          </a:p>
          <a:p>
            <a:pPr marL="0" indent="0" algn="just">
              <a:buNone/>
            </a:pPr>
            <a:r>
              <a:rPr lang="de-DE" dirty="0"/>
              <a:t>Schreibe in dein Heft. Fülle die 6 Lücken!</a:t>
            </a:r>
          </a:p>
        </p:txBody>
      </p:sp>
      <p:pic>
        <p:nvPicPr>
          <p:cNvPr id="2" name="Grafik 1" descr="Ein Bild, das Text, Schrift, Reihe, Origami enthält.&#10;&#10;KI-generierte Inhalte können fehlerhaft sein.">
            <a:extLst>
              <a:ext uri="{FF2B5EF4-FFF2-40B4-BE49-F238E27FC236}">
                <a16:creationId xmlns:a16="http://schemas.microsoft.com/office/drawing/2014/main" id="{331837AE-C8B3-8928-BB35-E7247ED0A9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471" y="2637246"/>
            <a:ext cx="11509575" cy="3318711"/>
          </a:xfrm>
          <a:prstGeom prst="rect">
            <a:avLst/>
          </a:prstGeom>
        </p:spPr>
      </p:pic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46F8BD7F-7D7F-B58C-B9E3-8DBC8159D4FF}"/>
              </a:ext>
            </a:extLst>
          </p:cNvPr>
          <p:cNvSpPr/>
          <p:nvPr/>
        </p:nvSpPr>
        <p:spPr>
          <a:xfrm>
            <a:off x="3632886" y="3404286"/>
            <a:ext cx="1655806" cy="327454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C7FBD1C8-1651-4EC9-2CA3-BBB8CDD4146C}"/>
              </a:ext>
            </a:extLst>
          </p:cNvPr>
          <p:cNvSpPr/>
          <p:nvPr/>
        </p:nvSpPr>
        <p:spPr>
          <a:xfrm>
            <a:off x="4522452" y="4072489"/>
            <a:ext cx="1655806" cy="327454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EDC435BC-AE7B-0526-CC3E-FEEFB08078B1}"/>
              </a:ext>
            </a:extLst>
          </p:cNvPr>
          <p:cNvSpPr/>
          <p:nvPr/>
        </p:nvSpPr>
        <p:spPr>
          <a:xfrm>
            <a:off x="2684876" y="4481874"/>
            <a:ext cx="1269286" cy="327454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Abgerundetes Rechteck 11">
            <a:extLst>
              <a:ext uri="{FF2B5EF4-FFF2-40B4-BE49-F238E27FC236}">
                <a16:creationId xmlns:a16="http://schemas.microsoft.com/office/drawing/2014/main" id="{91913AB1-81E9-73D3-C48B-D3E9F7E6ABBD}"/>
              </a:ext>
            </a:extLst>
          </p:cNvPr>
          <p:cNvSpPr/>
          <p:nvPr/>
        </p:nvSpPr>
        <p:spPr>
          <a:xfrm>
            <a:off x="10909793" y="3027874"/>
            <a:ext cx="717915" cy="327454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Abgerundetes Rechteck 12">
            <a:extLst>
              <a:ext uri="{FF2B5EF4-FFF2-40B4-BE49-F238E27FC236}">
                <a16:creationId xmlns:a16="http://schemas.microsoft.com/office/drawing/2014/main" id="{726401B0-3904-7849-D7C4-26FA6AC37A1A}"/>
              </a:ext>
            </a:extLst>
          </p:cNvPr>
          <p:cNvSpPr/>
          <p:nvPr/>
        </p:nvSpPr>
        <p:spPr>
          <a:xfrm>
            <a:off x="9497658" y="4989509"/>
            <a:ext cx="412461" cy="327454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763467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5ABEF-EAD6-B274-68D7-4D6B7BC5E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7D303FE4-2650-BC88-E38F-38D50E4A1B78}"/>
              </a:ext>
            </a:extLst>
          </p:cNvPr>
          <p:cNvSpPr txBox="1">
            <a:spLocks/>
          </p:cNvSpPr>
          <p:nvPr/>
        </p:nvSpPr>
        <p:spPr>
          <a:xfrm>
            <a:off x="193623" y="425086"/>
            <a:ext cx="11768528" cy="549275"/>
          </a:xfrm>
          <a:prstGeom prst="rect">
            <a:avLst/>
          </a:prstGeom>
        </p:spPr>
        <p:txBody>
          <a:bodyPr>
            <a:normAutofit fontScale="9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dirty="0">
                <a:latin typeface="ADLaM Display" panose="02010000000000000000" pitchFamily="2" charset="77"/>
                <a:ea typeface="ADLaM Display" panose="02010000000000000000" pitchFamily="2" charset="77"/>
                <a:cs typeface="ADLaM Display" panose="02010000000000000000" pitchFamily="2" charset="77"/>
              </a:rPr>
              <a:t>Wiederholung: Achsenspiegelung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3798D7EF-FB23-8DEC-03C9-5B9BE1EA1201}"/>
              </a:ext>
            </a:extLst>
          </p:cNvPr>
          <p:cNvSpPr/>
          <p:nvPr/>
        </p:nvSpPr>
        <p:spPr>
          <a:xfrm>
            <a:off x="193623" y="1240970"/>
            <a:ext cx="11768527" cy="5382251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3DBAED53-E2B0-B64F-FE8C-E9F34EE5905D}"/>
              </a:ext>
            </a:extLst>
          </p:cNvPr>
          <p:cNvSpPr txBox="1">
            <a:spLocks/>
          </p:cNvSpPr>
          <p:nvPr/>
        </p:nvSpPr>
        <p:spPr>
          <a:xfrm>
            <a:off x="423472" y="1559658"/>
            <a:ext cx="11327804" cy="439629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de-DE" b="1" dirty="0"/>
              <a:t>Aufgabe 4</a:t>
            </a:r>
          </a:p>
          <a:p>
            <a:pPr marL="0" indent="0" algn="just">
              <a:buNone/>
            </a:pPr>
            <a:r>
              <a:rPr lang="de-DE" dirty="0"/>
              <a:t>Schreibe in dein Heft. Fülle die 7 Lücken!</a:t>
            </a:r>
          </a:p>
        </p:txBody>
      </p:sp>
      <p:pic>
        <p:nvPicPr>
          <p:cNvPr id="7" name="Grafik 6" descr="Ein Bild, das Text, Screenshot, Schrift, Reihe enthält.&#10;&#10;KI-generierte Inhalte können fehlerhaft sein.">
            <a:extLst>
              <a:ext uri="{FF2B5EF4-FFF2-40B4-BE49-F238E27FC236}">
                <a16:creationId xmlns:a16="http://schemas.microsoft.com/office/drawing/2014/main" id="{95072C44-CAFF-CD38-B399-577106DB52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2363"/>
          <a:stretch>
            <a:fillRect/>
          </a:stretch>
        </p:blipFill>
        <p:spPr>
          <a:xfrm>
            <a:off x="564292" y="2445501"/>
            <a:ext cx="10975972" cy="2033255"/>
          </a:xfrm>
          <a:prstGeom prst="rect">
            <a:avLst/>
          </a:prstGeom>
        </p:spPr>
      </p:pic>
      <p:sp>
        <p:nvSpPr>
          <p:cNvPr id="12" name="Abgerundetes Rechteck 11">
            <a:extLst>
              <a:ext uri="{FF2B5EF4-FFF2-40B4-BE49-F238E27FC236}">
                <a16:creationId xmlns:a16="http://schemas.microsoft.com/office/drawing/2014/main" id="{61032D45-22C8-27E2-88FA-E300E574CFAC}"/>
              </a:ext>
            </a:extLst>
          </p:cNvPr>
          <p:cNvSpPr/>
          <p:nvPr/>
        </p:nvSpPr>
        <p:spPr>
          <a:xfrm>
            <a:off x="7448816" y="3310758"/>
            <a:ext cx="978492" cy="327454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0" name="Grafik 9" descr="Ein Bild, das Text, Screenshot, Schrift, Reihe enthält.&#10;&#10;KI-generierte Inhalte können fehlerhaft sein.">
            <a:extLst>
              <a:ext uri="{FF2B5EF4-FFF2-40B4-BE49-F238E27FC236}">
                <a16:creationId xmlns:a16="http://schemas.microsoft.com/office/drawing/2014/main" id="{CC7B0C13-CB69-8F75-79F8-5847E228B42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2363"/>
          <a:stretch>
            <a:fillRect/>
          </a:stretch>
        </p:blipFill>
        <p:spPr>
          <a:xfrm>
            <a:off x="564291" y="4399659"/>
            <a:ext cx="10975971" cy="2033255"/>
          </a:xfrm>
          <a:prstGeom prst="rect">
            <a:avLst/>
          </a:prstGeom>
        </p:spPr>
      </p:pic>
      <p:sp>
        <p:nvSpPr>
          <p:cNvPr id="14" name="Abgerundetes Rechteck 13">
            <a:extLst>
              <a:ext uri="{FF2B5EF4-FFF2-40B4-BE49-F238E27FC236}">
                <a16:creationId xmlns:a16="http://schemas.microsoft.com/office/drawing/2014/main" id="{37CFF0AB-ED10-CC82-2819-D1DE8CEE3E6E}"/>
              </a:ext>
            </a:extLst>
          </p:cNvPr>
          <p:cNvSpPr/>
          <p:nvPr/>
        </p:nvSpPr>
        <p:spPr>
          <a:xfrm>
            <a:off x="4203907" y="3301766"/>
            <a:ext cx="1257779" cy="327454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Abgerundetes Rechteck 14">
            <a:extLst>
              <a:ext uri="{FF2B5EF4-FFF2-40B4-BE49-F238E27FC236}">
                <a16:creationId xmlns:a16="http://schemas.microsoft.com/office/drawing/2014/main" id="{A9450A1F-1F29-A887-1578-3D556CA1F316}"/>
              </a:ext>
            </a:extLst>
          </p:cNvPr>
          <p:cNvSpPr/>
          <p:nvPr/>
        </p:nvSpPr>
        <p:spPr>
          <a:xfrm>
            <a:off x="1163389" y="3904035"/>
            <a:ext cx="1209108" cy="40847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Abgerundetes Rechteck 15">
            <a:extLst>
              <a:ext uri="{FF2B5EF4-FFF2-40B4-BE49-F238E27FC236}">
                <a16:creationId xmlns:a16="http://schemas.microsoft.com/office/drawing/2014/main" id="{E7F67A79-8933-3ED0-7220-5395C2C2A1FF}"/>
              </a:ext>
            </a:extLst>
          </p:cNvPr>
          <p:cNvSpPr/>
          <p:nvPr/>
        </p:nvSpPr>
        <p:spPr>
          <a:xfrm>
            <a:off x="5202289" y="3625554"/>
            <a:ext cx="400217" cy="327454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Abgerundetes Rechteck 16">
            <a:extLst>
              <a:ext uri="{FF2B5EF4-FFF2-40B4-BE49-F238E27FC236}">
                <a16:creationId xmlns:a16="http://schemas.microsoft.com/office/drawing/2014/main" id="{A767E334-5E4D-C372-5BF2-0196170565D6}"/>
              </a:ext>
            </a:extLst>
          </p:cNvPr>
          <p:cNvSpPr/>
          <p:nvPr/>
        </p:nvSpPr>
        <p:spPr>
          <a:xfrm>
            <a:off x="2782768" y="5364599"/>
            <a:ext cx="1542097" cy="25243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Abgerundetes Rechteck 17">
            <a:extLst>
              <a:ext uri="{FF2B5EF4-FFF2-40B4-BE49-F238E27FC236}">
                <a16:creationId xmlns:a16="http://schemas.microsoft.com/office/drawing/2014/main" id="{05AB492E-296C-4064-5F48-B2653F6FDCF0}"/>
              </a:ext>
            </a:extLst>
          </p:cNvPr>
          <p:cNvSpPr/>
          <p:nvPr/>
        </p:nvSpPr>
        <p:spPr>
          <a:xfrm>
            <a:off x="10063876" y="5069943"/>
            <a:ext cx="1054549" cy="358504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Abgerundetes Rechteck 18">
            <a:extLst>
              <a:ext uri="{FF2B5EF4-FFF2-40B4-BE49-F238E27FC236}">
                <a16:creationId xmlns:a16="http://schemas.microsoft.com/office/drawing/2014/main" id="{2C185F5F-F40F-6013-3ACF-1161A30CE81C}"/>
              </a:ext>
            </a:extLst>
          </p:cNvPr>
          <p:cNvSpPr/>
          <p:nvPr/>
        </p:nvSpPr>
        <p:spPr>
          <a:xfrm>
            <a:off x="9844433" y="5487673"/>
            <a:ext cx="219443" cy="207383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92130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02AC3-C9C7-9CE6-4F7F-A97EAF4EF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D3D9F893-A311-C558-12E3-F45F6034819D}"/>
              </a:ext>
            </a:extLst>
          </p:cNvPr>
          <p:cNvSpPr txBox="1">
            <a:spLocks/>
          </p:cNvSpPr>
          <p:nvPr/>
        </p:nvSpPr>
        <p:spPr>
          <a:xfrm>
            <a:off x="193623" y="425086"/>
            <a:ext cx="11768528" cy="549275"/>
          </a:xfrm>
          <a:prstGeom prst="rect">
            <a:avLst/>
          </a:prstGeom>
        </p:spPr>
        <p:txBody>
          <a:bodyPr>
            <a:normAutofit fontScale="9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dirty="0">
                <a:latin typeface="ADLaM Display" panose="02010000000000000000" pitchFamily="2" charset="77"/>
                <a:ea typeface="ADLaM Display" panose="02010000000000000000" pitchFamily="2" charset="77"/>
                <a:cs typeface="ADLaM Display" panose="02010000000000000000" pitchFamily="2" charset="77"/>
              </a:rPr>
              <a:t>Wiederholung: Achsenspiegelung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B19C94F8-25D8-B250-2A9D-ED79DFBE7943}"/>
              </a:ext>
            </a:extLst>
          </p:cNvPr>
          <p:cNvSpPr/>
          <p:nvPr/>
        </p:nvSpPr>
        <p:spPr>
          <a:xfrm>
            <a:off x="193623" y="1240970"/>
            <a:ext cx="11768527" cy="5382251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b="1" dirty="0"/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F3CC78CB-074C-7C1B-F1D4-56E0B3AEAB72}"/>
              </a:ext>
            </a:extLst>
          </p:cNvPr>
          <p:cNvSpPr txBox="1">
            <a:spLocks/>
          </p:cNvSpPr>
          <p:nvPr/>
        </p:nvSpPr>
        <p:spPr>
          <a:xfrm>
            <a:off x="423472" y="1559658"/>
            <a:ext cx="11327804" cy="439629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de-DE" b="1" dirty="0"/>
              <a:t>Übungsaufgaben &amp; HA</a:t>
            </a:r>
          </a:p>
          <a:p>
            <a:pPr algn="just"/>
            <a:r>
              <a:rPr lang="de-DE" dirty="0"/>
              <a:t>Buch S. 94, Nr. 9 bis 12</a:t>
            </a:r>
          </a:p>
          <a:p>
            <a:pPr algn="just"/>
            <a:r>
              <a:rPr lang="de-DE" dirty="0"/>
              <a:t>Arbeitsheft S.29</a:t>
            </a:r>
          </a:p>
          <a:p>
            <a:pPr marL="0" indent="0" algn="just">
              <a:buNone/>
            </a:pPr>
            <a:endParaRPr lang="de-DE" dirty="0"/>
          </a:p>
        </p:txBody>
      </p:sp>
      <p:pic>
        <p:nvPicPr>
          <p:cNvPr id="2" name="Grafik 1" descr="Ein Bild, das Text, Origami enthält.&#10;&#10;KI-generierte Inhalte können fehlerhaft sein.">
            <a:extLst>
              <a:ext uri="{FF2B5EF4-FFF2-40B4-BE49-F238E27FC236}">
                <a16:creationId xmlns:a16="http://schemas.microsoft.com/office/drawing/2014/main" id="{ED81C1C3-1B7F-1B08-B6A6-1661A19FC1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1558" y="1556801"/>
            <a:ext cx="6428096" cy="4949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09756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076A2-4E39-F17E-5863-B9953E6B7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DFAA0DE8-76AE-B16E-694F-B1EB7A6407D7}"/>
              </a:ext>
            </a:extLst>
          </p:cNvPr>
          <p:cNvSpPr txBox="1">
            <a:spLocks/>
          </p:cNvSpPr>
          <p:nvPr/>
        </p:nvSpPr>
        <p:spPr>
          <a:xfrm>
            <a:off x="193623" y="425086"/>
            <a:ext cx="11768528" cy="549275"/>
          </a:xfrm>
          <a:prstGeom prst="rect">
            <a:avLst/>
          </a:prstGeom>
        </p:spPr>
        <p:txBody>
          <a:bodyPr>
            <a:normAutofit fontScale="9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dirty="0">
                <a:latin typeface="ADLaM Display" panose="02010000000000000000" pitchFamily="2" charset="77"/>
                <a:ea typeface="ADLaM Display" panose="02010000000000000000" pitchFamily="2" charset="77"/>
                <a:cs typeface="ADLaM Display" panose="02010000000000000000" pitchFamily="2" charset="77"/>
              </a:rPr>
              <a:t>Wiederholung: Achsenspiegelung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A4413ECE-BED0-D2A0-6D41-846E970DD14A}"/>
              </a:ext>
            </a:extLst>
          </p:cNvPr>
          <p:cNvSpPr/>
          <p:nvPr/>
        </p:nvSpPr>
        <p:spPr>
          <a:xfrm>
            <a:off x="193623" y="1240970"/>
            <a:ext cx="11768527" cy="5382251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b="1" dirty="0"/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C6D8DCA1-9362-872F-1CAF-10437B85BA4D}"/>
              </a:ext>
            </a:extLst>
          </p:cNvPr>
          <p:cNvSpPr txBox="1">
            <a:spLocks/>
          </p:cNvSpPr>
          <p:nvPr/>
        </p:nvSpPr>
        <p:spPr>
          <a:xfrm>
            <a:off x="423472" y="1559658"/>
            <a:ext cx="11327804" cy="439629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de-DE" b="1" dirty="0"/>
              <a:t>Aufgabe </a:t>
            </a:r>
          </a:p>
        </p:txBody>
      </p:sp>
      <p:pic>
        <p:nvPicPr>
          <p:cNvPr id="5" name="Grafik 4" descr="Ein Bild, das Text, Screenshot, Cartoon enthält.&#10;&#10;KI-generierte Inhalte können fehlerhaft sein.">
            <a:extLst>
              <a:ext uri="{FF2B5EF4-FFF2-40B4-BE49-F238E27FC236}">
                <a16:creationId xmlns:a16="http://schemas.microsoft.com/office/drawing/2014/main" id="{C0F004F6-8F3D-C1B9-51DC-5329CA3F82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71" y="2214562"/>
            <a:ext cx="10887898" cy="3402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6531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59FFA-CB53-2E41-B295-6995E33AE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E5C95B1E-543F-86D6-A505-7DAC962D4EE4}"/>
              </a:ext>
            </a:extLst>
          </p:cNvPr>
          <p:cNvSpPr txBox="1">
            <a:spLocks/>
          </p:cNvSpPr>
          <p:nvPr/>
        </p:nvSpPr>
        <p:spPr>
          <a:xfrm>
            <a:off x="193623" y="425086"/>
            <a:ext cx="11768528" cy="549275"/>
          </a:xfrm>
          <a:prstGeom prst="rect">
            <a:avLst/>
          </a:prstGeom>
        </p:spPr>
        <p:txBody>
          <a:bodyPr>
            <a:normAutofit fontScale="9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dirty="0">
                <a:latin typeface="ADLaM Display" panose="02010000000000000000" pitchFamily="2" charset="77"/>
                <a:ea typeface="ADLaM Display" panose="02010000000000000000" pitchFamily="2" charset="77"/>
                <a:cs typeface="ADLaM Display" panose="02010000000000000000" pitchFamily="2" charset="77"/>
              </a:rPr>
              <a:t>Wiederholung: Achsenspiegelung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21030813-6EB7-A10E-6DF4-C20A6368813F}"/>
              </a:ext>
            </a:extLst>
          </p:cNvPr>
          <p:cNvSpPr/>
          <p:nvPr/>
        </p:nvSpPr>
        <p:spPr>
          <a:xfrm>
            <a:off x="193623" y="1240970"/>
            <a:ext cx="11768527" cy="5382251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b="1" dirty="0"/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51CD4DA6-533A-1C11-CF38-30C2128D053A}"/>
              </a:ext>
            </a:extLst>
          </p:cNvPr>
          <p:cNvSpPr txBox="1">
            <a:spLocks/>
          </p:cNvSpPr>
          <p:nvPr/>
        </p:nvSpPr>
        <p:spPr>
          <a:xfrm>
            <a:off x="423472" y="1559658"/>
            <a:ext cx="11327804" cy="439629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de-DE" b="1" dirty="0"/>
              <a:t>Übungsaufgaben &amp; HA </a:t>
            </a:r>
          </a:p>
          <a:p>
            <a:pPr algn="just"/>
            <a:r>
              <a:rPr lang="de-DE" dirty="0"/>
              <a:t>Buch S.97, Nr. 3</a:t>
            </a:r>
          </a:p>
          <a:p>
            <a:pPr algn="just"/>
            <a:r>
              <a:rPr lang="de-DE" dirty="0"/>
              <a:t>Arbeitsheft S.30</a:t>
            </a:r>
          </a:p>
          <a:p>
            <a:pPr algn="just"/>
            <a:r>
              <a:rPr lang="de-DE" b="1" dirty="0"/>
              <a:t>Bonus</a:t>
            </a:r>
            <a:r>
              <a:rPr lang="de-DE" dirty="0"/>
              <a:t>: Nr. 4</a:t>
            </a:r>
          </a:p>
          <a:p>
            <a:pPr algn="just"/>
            <a:endParaRPr lang="de-DE" b="1" dirty="0"/>
          </a:p>
          <a:p>
            <a:pPr algn="just"/>
            <a:endParaRPr lang="de-DE" b="1" dirty="0"/>
          </a:p>
        </p:txBody>
      </p:sp>
      <p:pic>
        <p:nvPicPr>
          <p:cNvPr id="10" name="Grafik 9" descr="Ein Bild, das Text, Screenshot enthält.&#10;&#10;KI-generierte Inhalte können fehlerhaft sein.">
            <a:extLst>
              <a:ext uri="{FF2B5EF4-FFF2-40B4-BE49-F238E27FC236}">
                <a16:creationId xmlns:a16="http://schemas.microsoft.com/office/drawing/2014/main" id="{5EEBACB8-7346-AD53-4754-4D335152D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228" y="2010230"/>
            <a:ext cx="6972300" cy="360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25475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9E721-EB3B-BCB5-BE3B-CA6255C50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68D2655B-9794-C641-BFA5-6367C8865A9C}"/>
              </a:ext>
            </a:extLst>
          </p:cNvPr>
          <p:cNvSpPr txBox="1">
            <a:spLocks/>
          </p:cNvSpPr>
          <p:nvPr/>
        </p:nvSpPr>
        <p:spPr>
          <a:xfrm>
            <a:off x="193623" y="425086"/>
            <a:ext cx="11768528" cy="549275"/>
          </a:xfrm>
          <a:prstGeom prst="rect">
            <a:avLst/>
          </a:prstGeom>
        </p:spPr>
        <p:txBody>
          <a:bodyPr>
            <a:normAutofit fontScale="9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dirty="0">
                <a:latin typeface="ADLaM Display" panose="02010000000000000000" pitchFamily="2" charset="77"/>
                <a:ea typeface="ADLaM Display" panose="02010000000000000000" pitchFamily="2" charset="77"/>
                <a:cs typeface="ADLaM Display" panose="02010000000000000000" pitchFamily="2" charset="77"/>
              </a:rPr>
              <a:t>Wiederholung: Zirkel &amp; Punkspiegelung</a:t>
            </a:r>
          </a:p>
        </p:txBody>
      </p:sp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42FC0499-C856-06B5-5E9F-6DB0ABE3E14F}"/>
              </a:ext>
            </a:extLst>
          </p:cNvPr>
          <p:cNvSpPr txBox="1">
            <a:spLocks/>
          </p:cNvSpPr>
          <p:nvPr/>
        </p:nvSpPr>
        <p:spPr>
          <a:xfrm>
            <a:off x="193623" y="5078627"/>
            <a:ext cx="11768528" cy="153416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b="1" dirty="0"/>
              <a:t>HA</a:t>
            </a:r>
            <a:r>
              <a:rPr lang="de-DE" dirty="0"/>
              <a:t> - Arbeitsheft</a:t>
            </a:r>
          </a:p>
          <a:p>
            <a:r>
              <a:rPr lang="de-DE" dirty="0"/>
              <a:t>S. 31 – Zirkel				-- WDH</a:t>
            </a:r>
          </a:p>
          <a:p>
            <a:r>
              <a:rPr lang="de-DE" dirty="0"/>
              <a:t>S. 32 – Punktspiegelung		-- WDH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193602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2C1B5-FD3F-140B-0240-6286CB108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9EC30369-1B87-EE63-02B2-F5EE2C8932EA}"/>
              </a:ext>
            </a:extLst>
          </p:cNvPr>
          <p:cNvSpPr txBox="1">
            <a:spLocks/>
          </p:cNvSpPr>
          <p:nvPr/>
        </p:nvSpPr>
        <p:spPr>
          <a:xfrm>
            <a:off x="193623" y="425086"/>
            <a:ext cx="11768528" cy="549275"/>
          </a:xfrm>
          <a:prstGeom prst="rect">
            <a:avLst/>
          </a:prstGeom>
        </p:spPr>
        <p:txBody>
          <a:bodyPr>
            <a:normAutofit fontScale="9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dirty="0">
                <a:latin typeface="ADLaM Display" panose="02010000000000000000" pitchFamily="2" charset="77"/>
                <a:ea typeface="ADLaM Display" panose="02010000000000000000" pitchFamily="2" charset="77"/>
                <a:cs typeface="ADLaM Display" panose="02010000000000000000" pitchFamily="2" charset="77"/>
              </a:rPr>
              <a:t>Grundbegriffe</a:t>
            </a:r>
          </a:p>
        </p:txBody>
      </p:sp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28678534-CDB9-14A7-825C-F99236BE0A48}"/>
              </a:ext>
            </a:extLst>
          </p:cNvPr>
          <p:cNvSpPr txBox="1">
            <a:spLocks/>
          </p:cNvSpPr>
          <p:nvPr/>
        </p:nvSpPr>
        <p:spPr>
          <a:xfrm>
            <a:off x="193623" y="5577840"/>
            <a:ext cx="11768528" cy="103495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b="1" dirty="0"/>
              <a:t>HA - </a:t>
            </a:r>
            <a:r>
              <a:rPr lang="de-DE" dirty="0"/>
              <a:t>Arbeitsheft </a:t>
            </a:r>
          </a:p>
          <a:p>
            <a:r>
              <a:rPr lang="de-DE" dirty="0"/>
              <a:t>S. 33 bis 37 - Doppelspiegelung</a:t>
            </a:r>
          </a:p>
        </p:txBody>
      </p:sp>
    </p:spTree>
    <p:extLst>
      <p:ext uri="{BB962C8B-B14F-4D97-AF65-F5344CB8AC3E}">
        <p14:creationId xmlns:p14="http://schemas.microsoft.com/office/powerpoint/2010/main" val="26118202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331</Words>
  <Application>Microsoft Macintosh PowerPoint</Application>
  <PresentationFormat>Breitbild</PresentationFormat>
  <Paragraphs>56</Paragraphs>
  <Slides>12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8" baseType="lpstr">
      <vt:lpstr>ADLaM Display</vt:lpstr>
      <vt:lpstr>Aptos</vt:lpstr>
      <vt:lpstr>Aptos Display</vt:lpstr>
      <vt:lpstr>Arial</vt:lpstr>
      <vt:lpstr>Cavolini</vt:lpstr>
      <vt:lpstr>Office</vt:lpstr>
      <vt:lpstr>Reihenplan (5 Std. + Hü)</vt:lpstr>
      <vt:lpstr>Sitzordnung Computerraum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 Vera</dc:creator>
  <cp:lastModifiedBy>Christ Vera</cp:lastModifiedBy>
  <cp:revision>16</cp:revision>
  <dcterms:created xsi:type="dcterms:W3CDTF">2025-09-16T19:00:14Z</dcterms:created>
  <dcterms:modified xsi:type="dcterms:W3CDTF">2026-01-04T08:18:12Z</dcterms:modified>
</cp:coreProperties>
</file>