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62" r:id="rId3"/>
    <p:sldId id="257" r:id="rId4"/>
    <p:sldId id="258" r:id="rId5"/>
    <p:sldId id="260" r:id="rId6"/>
    <p:sldId id="275" r:id="rId7"/>
    <p:sldId id="276" r:id="rId8"/>
    <p:sldId id="273" r:id="rId9"/>
    <p:sldId id="267" r:id="rId10"/>
    <p:sldId id="261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69"/>
    <p:restoredTop sz="89263"/>
  </p:normalViewPr>
  <p:slideViewPr>
    <p:cSldViewPr snapToGrid="0">
      <p:cViewPr>
        <p:scale>
          <a:sx n="88" d="100"/>
          <a:sy n="88" d="100"/>
        </p:scale>
        <p:origin x="856" y="384"/>
      </p:cViewPr>
      <p:guideLst/>
    </p:cSldViewPr>
  </p:slideViewPr>
  <p:notesTextViewPr>
    <p:cViewPr>
      <p:scale>
        <a:sx n="65" d="100"/>
        <a:sy n="6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0E92E-5F19-834A-AA97-53FA2D660DCB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4360D-A3AE-044F-B6E9-FC0C70EEF3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42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4360D-A3AE-044F-B6E9-FC0C70EEF33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618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4360D-A3AE-044F-B6E9-FC0C70EEF33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2277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05096-8626-F7C9-A510-DEE6C10FB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C7B601-BC46-65F0-4FFE-27CBC3FB0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5FDF686-C7F0-5367-989C-849DBB13B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31D57F-E3DF-F64C-D61C-A085756B8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4360D-A3AE-044F-B6E9-FC0C70EEF33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250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BF736-41BD-BCEF-C219-DB89ADFB9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1F4E5B4-638B-A9CE-C065-BB4FD5C1F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6484DE-5A55-288D-D3F5-79F54F94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BE8696-C210-0ED6-4481-C24D127EC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B035B2-094A-74B8-4BA8-F2CFB547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578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21BEBB-06F3-7C8B-124C-CE7A8D72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CB5495-68D0-CA8A-49E8-9AAD963A5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4B9263-8475-084F-4C01-74298FD4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34B102-27AF-A170-C86E-9FAA222B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2E69E5-7C57-B850-E027-0004BD7B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52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EA727D-D698-07A3-B9F8-7521AC68F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8DB37-97F8-F745-2E85-EAAC02A70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7E0751-8F80-9C08-9EE5-C03D4AD7F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BF7F2A-7443-14F5-5E05-D8B04049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CB6BA2-CAC3-EB8A-4EF9-04991433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9463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AF22-A112-32CC-F2BC-81EF570D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4860AF-9EC0-9CCF-AECA-A48EEFA31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DF91C7-22B0-594A-7516-E3D5A8101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3FA6D1-F566-7454-3585-DA6F1E1A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3138BB-508C-388C-DD92-EAF7D667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F59079-8D2B-5F98-26DE-071E12CF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37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C456E-DAD2-2BD2-004E-E3E88F24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56420C-FE79-B9C0-37E5-86D4BF2DA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180F3B-A1AA-32FB-B865-9677A7E0F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6F9BCB9-123A-4973-E443-9F3304A00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D0C55B1-18AF-922D-350A-525A0447F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1D4E357-60DC-C276-F273-A00DE098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C0CF131-5A7F-0FB1-F9A3-4AFF7F6CD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D3467A2-C749-0601-317B-7EAD8B22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895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62272E-A944-D6EB-C123-EFDDC942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A6B042-480A-CC09-7327-511F726C9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E436B8-004D-4CF9-21F0-9D5C7089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7FEDFB-A328-8285-63A4-3AD990C9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289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0BE9DB1-E321-7C8F-FA03-95C8C0C4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5FB211-C664-093B-A77B-CEE7B2A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44603E-C3F0-E3F9-9EB4-B8FFC256D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43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FE973-D53B-E72C-A330-579F85EF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6840F5-E3D4-3CB4-8DB1-6184F9E2B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A23824-8F92-8B9C-47C1-57A4E7D9E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8D4F8C-EB62-A0A5-6C24-FAF471F7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A974A1-5037-D1DE-90C5-29AD8C33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1BF734-6330-5774-6A8B-44731660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8883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ABFDF-4ECA-603C-180B-6528A1352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30261A1-4DF2-83FD-5CC8-DC68074E8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E76610-49A4-31D0-ECC1-8F3817371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E5CFD1-3027-AA9F-49BC-6D804B6F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43EA0B-BA7C-2E89-7AB1-90CCDFA5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940004-D81D-C9D7-29C7-6444043E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209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E6FE0D-34D0-4E90-49CE-EDD930FBF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2EE0B9-62B5-9540-38F0-E2013D7D2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952F39-546A-3EBD-5B35-051675A2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9797B6-7119-4DAA-7287-7D9CFACE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0E1780-AC04-3270-A3A0-98AE495C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070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69A708F-5C4D-4852-6000-2BB7D60BD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570D46-0568-77A4-5043-CB0734381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5399F4-C353-7D95-6BE8-668F8025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9A3EFA-690C-B2A9-BF19-9A524F2E9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6D5A00-BC7D-543E-3C1B-5D6E40F6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10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CB71F9F-E182-22BA-803A-43C6531F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298C84-4450-4F09-B087-4768B33E9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208B6B-E1A7-24F4-1317-2E47C53EC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C0E08-E80E-9141-9781-077B3A888FD3}" type="datetimeFigureOut">
              <a:rPr lang="de-DE" smtClean="0"/>
              <a:t>08.01.26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3798C9-4CBC-F600-381A-841BFCF77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A1FC8C-30C9-8012-4B62-9894B73DB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01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D937D-D946-48E9-9FC0-D4D9E3ED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23" y="425086"/>
            <a:ext cx="11768528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Reihenplan (5 Std. + </a:t>
            </a:r>
            <a:r>
              <a:rPr lang="de-DE" b="1" dirty="0">
                <a:solidFill>
                  <a:srgbClr val="7030A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Hü</a:t>
            </a:r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8CF567-B171-A96A-6C87-F5C31E583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3623" y="1497496"/>
            <a:ext cx="11768528" cy="511529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Grundbegriffe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Verschieben &amp; Drehen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Doppelspiegelung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Doppelspiegelung Teil 2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Gemischtes Üben</a:t>
            </a:r>
            <a:endParaRPr lang="de-DE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b="1" dirty="0">
                <a:solidFill>
                  <a:srgbClr val="7030A0"/>
                </a:solidFill>
              </a:rPr>
              <a:t>HÜ </a:t>
            </a:r>
            <a:r>
              <a:rPr lang="de-DE" dirty="0"/>
              <a:t>und Übungs- bzw. Knobelspiel</a:t>
            </a:r>
            <a:endParaRPr lang="de-DE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Arbeitsheft S.29 bis 37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4893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F5F4C-102E-2FAA-E0F6-EAC29427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C2F80-0867-583C-AC58-8829AB16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23" y="425086"/>
            <a:ext cx="11768528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Sitzordnung Computerraum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5C29FB-88F6-4809-15BC-1B0316BD3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3623" y="1497496"/>
            <a:ext cx="11768528" cy="5115299"/>
          </a:xfrm>
        </p:spPr>
        <p:txBody>
          <a:bodyPr>
            <a:normAutofit fontScale="92500" lnSpcReduction="20000"/>
          </a:bodyPr>
          <a:lstStyle/>
          <a:p>
            <a:pPr marL="0" indent="0" fontAlgn="ctr">
              <a:buNone/>
            </a:pPr>
            <a:r>
              <a:rPr lang="de-DE" dirty="0"/>
              <a:t>Louisa					Marlene K.		 Adela</a:t>
            </a:r>
          </a:p>
          <a:p>
            <a:pPr marL="0" indent="0" fontAlgn="ctr">
              <a:buNone/>
            </a:pPr>
            <a:r>
              <a:rPr lang="de-DE" dirty="0"/>
              <a:t>Julia		Marlene G.		 	Jasmin 		Friederike</a:t>
            </a:r>
          </a:p>
          <a:p>
            <a:pPr marL="0" indent="0" fontAlgn="ctr">
              <a:buNone/>
            </a:pPr>
            <a:endParaRPr lang="de-DE" dirty="0"/>
          </a:p>
          <a:p>
            <a:pPr marL="0" indent="0" fontAlgn="ctr">
              <a:buNone/>
            </a:pPr>
            <a:r>
              <a:rPr lang="de-DE" dirty="0"/>
              <a:t>Jonas		Samuel			Dennis		Luise</a:t>
            </a:r>
          </a:p>
          <a:p>
            <a:pPr marL="0" indent="0" algn="just" fontAlgn="ctr">
              <a:buNone/>
            </a:pPr>
            <a:r>
              <a:rPr lang="de-DE" dirty="0"/>
              <a:t>Kilian 		Jan				Vincent 		Hannah</a:t>
            </a:r>
          </a:p>
          <a:p>
            <a:pPr marL="0" indent="0" fontAlgn="ctr">
              <a:buNone/>
            </a:pPr>
            <a:endParaRPr lang="de-DE" dirty="0"/>
          </a:p>
          <a:p>
            <a:pPr marL="0" indent="0" fontAlgn="ctr">
              <a:buNone/>
            </a:pPr>
            <a:endParaRPr lang="de-DE" dirty="0"/>
          </a:p>
          <a:p>
            <a:pPr marL="0" indent="0" fontAlgn="ctr">
              <a:buNone/>
            </a:pPr>
            <a:r>
              <a:rPr lang="de-DE" dirty="0"/>
              <a:t>Miró 		Freya				Felix			Niklas</a:t>
            </a:r>
          </a:p>
          <a:p>
            <a:pPr marL="0" indent="0" fontAlgn="ctr">
              <a:buNone/>
            </a:pPr>
            <a:r>
              <a:rPr lang="de-DE" dirty="0"/>
              <a:t>Jonathan 	Josefine			</a:t>
            </a:r>
            <a:r>
              <a:rPr lang="de-DE" dirty="0" err="1"/>
              <a:t>Lennas</a:t>
            </a:r>
            <a:r>
              <a:rPr lang="de-DE" dirty="0"/>
              <a:t>		Nils</a:t>
            </a:r>
          </a:p>
          <a:p>
            <a:pPr marL="0" indent="0" fontAlgn="ctr">
              <a:buNone/>
            </a:pPr>
            <a:endParaRPr lang="de-DE" dirty="0"/>
          </a:p>
          <a:p>
            <a:pPr marL="0" indent="0" fontAlgn="ctr">
              <a:buNone/>
            </a:pPr>
            <a:r>
              <a:rPr lang="de-DE" dirty="0"/>
              <a:t>Louis		Bruno				Fabio			Robin</a:t>
            </a:r>
          </a:p>
          <a:p>
            <a:pPr marL="0" indent="0" fontAlgn="ctr">
              <a:buNone/>
            </a:pPr>
            <a:r>
              <a:rPr lang="de-DE" dirty="0"/>
              <a:t>Arthur 	Andreas			Jakob		 	Paul</a:t>
            </a:r>
          </a:p>
        </p:txBody>
      </p:sp>
    </p:spTree>
    <p:extLst>
      <p:ext uri="{BB962C8B-B14F-4D97-AF65-F5344CB8AC3E}">
        <p14:creationId xmlns:p14="http://schemas.microsoft.com/office/powerpoint/2010/main" val="3335560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Text, Papier, Brief, Origami enthält.&#10;&#10;KI-generierte Inhalte können fehlerhaft sein.">
            <a:extLst>
              <a:ext uri="{FF2B5EF4-FFF2-40B4-BE49-F238E27FC236}">
                <a16:creationId xmlns:a16="http://schemas.microsoft.com/office/drawing/2014/main" id="{A4BE09B9-6415-6507-A377-A5DAD30E29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743"/>
          <a:stretch>
            <a:fillRect/>
          </a:stretch>
        </p:blipFill>
        <p:spPr>
          <a:xfrm>
            <a:off x="0" y="468441"/>
            <a:ext cx="5924918" cy="5448926"/>
          </a:xfrm>
          <a:prstGeom prst="rect">
            <a:avLst/>
          </a:prstGeom>
        </p:spPr>
      </p:pic>
      <p:pic>
        <p:nvPicPr>
          <p:cNvPr id="12" name="Grafik 11" descr="Ein Bild, das Text, Schrif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E2B21C04-4E69-2ACA-5B47-6F85E6498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62532"/>
            <a:ext cx="6048117" cy="1244184"/>
          </a:xfrm>
          <a:prstGeom prst="rect">
            <a:avLst/>
          </a:prstGeom>
        </p:spPr>
      </p:pic>
      <p:pic>
        <p:nvPicPr>
          <p:cNvPr id="15" name="Grafik 14" descr="Ein Bild, das Text, Papier, Brief, Origami enthält.&#10;&#10;KI-generierte Inhalte können fehlerhaft sein.">
            <a:extLst>
              <a:ext uri="{FF2B5EF4-FFF2-40B4-BE49-F238E27FC236}">
                <a16:creationId xmlns:a16="http://schemas.microsoft.com/office/drawing/2014/main" id="{721158B0-DCA0-18E3-E2BB-A2D9AF0126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257"/>
          <a:stretch>
            <a:fillRect/>
          </a:stretch>
        </p:blipFill>
        <p:spPr>
          <a:xfrm>
            <a:off x="6096000" y="1499016"/>
            <a:ext cx="6101642" cy="226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Text, Screenshot, Schrift, Brief enthält.&#10;&#10;KI-generierte Inhalte können fehlerhaft sein.">
            <a:extLst>
              <a:ext uri="{FF2B5EF4-FFF2-40B4-BE49-F238E27FC236}">
                <a16:creationId xmlns:a16="http://schemas.microsoft.com/office/drawing/2014/main" id="{1530B3CA-E079-015A-6244-3B16165C6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856" y="-1863"/>
            <a:ext cx="5666282" cy="687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77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Text, Schrift, Reihe, Origami enthält.&#10;&#10;KI-generierte Inhalte können fehlerhaft sein.">
            <a:extLst>
              <a:ext uri="{FF2B5EF4-FFF2-40B4-BE49-F238E27FC236}">
                <a16:creationId xmlns:a16="http://schemas.microsoft.com/office/drawing/2014/main" id="{B861861D-BCA9-26B9-DCB6-C80CD54D5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98" y="4218535"/>
            <a:ext cx="7970721" cy="2298305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BA140C9D-1408-E733-FF1E-44847D93BFFB}"/>
              </a:ext>
            </a:extLst>
          </p:cNvPr>
          <p:cNvSpPr txBox="1">
            <a:spLocks/>
          </p:cNvSpPr>
          <p:nvPr/>
        </p:nvSpPr>
        <p:spPr>
          <a:xfrm>
            <a:off x="211736" y="141622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Wiederholung: Achsenspiegelung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D1B812B5-42BF-7EF8-4EF2-953E9E589C6F}"/>
              </a:ext>
            </a:extLst>
          </p:cNvPr>
          <p:cNvSpPr txBox="1">
            <a:spLocks/>
          </p:cNvSpPr>
          <p:nvPr/>
        </p:nvSpPr>
        <p:spPr>
          <a:xfrm>
            <a:off x="432098" y="919579"/>
            <a:ext cx="11327804" cy="26008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de-DE" sz="2000" b="1" dirty="0"/>
              <a:t>Aufgabe 1</a:t>
            </a:r>
          </a:p>
          <a:p>
            <a:pPr marL="0" indent="0" algn="just">
              <a:buNone/>
            </a:pPr>
            <a:r>
              <a:rPr lang="de-DE" sz="2000" dirty="0"/>
              <a:t>Zeichne das Dreieck ABC mit den Eckpunkten A(2/3), B(8,5/1) und C(5/4) sowie die Gerade CD durch die Punkte C und D(3/0). Spiegele dann das Dreieck ABC an der Geraden CD.</a:t>
            </a:r>
          </a:p>
          <a:p>
            <a:pPr marL="0" indent="0" algn="just">
              <a:buNone/>
            </a:pPr>
            <a:r>
              <a:rPr lang="de-DE" sz="2000" b="1" dirty="0"/>
              <a:t>Aufgabe 2</a:t>
            </a:r>
          </a:p>
          <a:p>
            <a:pPr marL="0" indent="0" algn="just">
              <a:buNone/>
            </a:pPr>
            <a:r>
              <a:rPr lang="de-DE" sz="2000" dirty="0"/>
              <a:t>Schreibe einen Text der folgende Begriffe beinhaltet:</a:t>
            </a:r>
          </a:p>
          <a:p>
            <a:pPr marL="0" indent="0" algn="just">
              <a:buNone/>
            </a:pPr>
            <a:r>
              <a:rPr lang="de-DE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Cavolini" panose="03000502040302020204" pitchFamily="66" charset="0"/>
                <a:ea typeface="ADLaM Display" panose="02010000000000000000" pitchFamily="2" charset="77"/>
                <a:cs typeface="Cavolini" panose="03000502040302020204" pitchFamily="66" charset="0"/>
              </a:rPr>
              <a:t>Originalpunkt, Spiegelachse, parallel, Abstand, Bildpunkt, P, verschiedene Seiten, denselben, P‘, Fixpunkt, Achsenspiegelung, Mittellinie, Geodreieck</a:t>
            </a:r>
          </a:p>
          <a:p>
            <a:pPr marL="0" indent="0" algn="just">
              <a:buNone/>
            </a:pPr>
            <a:r>
              <a:rPr lang="de-DE" sz="1800" b="1" dirty="0"/>
              <a:t>Aufgabe 3</a:t>
            </a:r>
          </a:p>
          <a:p>
            <a:pPr marL="0" indent="0" algn="just">
              <a:buNone/>
            </a:pPr>
            <a:r>
              <a:rPr lang="de-DE" sz="1800" dirty="0"/>
              <a:t>Schreibe in dein Heft. Fülle die 5 Lücken!</a:t>
            </a:r>
          </a:p>
          <a:p>
            <a:pPr marL="0" indent="0" algn="just">
              <a:buNone/>
            </a:pPr>
            <a:endParaRPr lang="de-DE" sz="1800" dirty="0">
              <a:solidFill>
                <a:schemeClr val="tx2">
                  <a:lumMod val="75000"/>
                  <a:lumOff val="25000"/>
                </a:schemeClr>
              </a:solidFill>
              <a:latin typeface="Cavolini" panose="03000502040302020204" pitchFamily="66" charset="0"/>
              <a:ea typeface="ADLaM Display" panose="02010000000000000000" pitchFamily="2" charset="77"/>
              <a:cs typeface="Cavolini" panose="03000502040302020204" pitchFamily="66" charset="0"/>
            </a:endParaRP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B6DCCC7E-20F0-289F-2793-F4B96F42B2A8}"/>
              </a:ext>
            </a:extLst>
          </p:cNvPr>
          <p:cNvSpPr/>
          <p:nvPr/>
        </p:nvSpPr>
        <p:spPr>
          <a:xfrm>
            <a:off x="2649291" y="4733105"/>
            <a:ext cx="1154613" cy="22791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7AD7AD1C-F1E6-B229-1865-3325B3626DB3}"/>
              </a:ext>
            </a:extLst>
          </p:cNvPr>
          <p:cNvSpPr/>
          <p:nvPr/>
        </p:nvSpPr>
        <p:spPr>
          <a:xfrm>
            <a:off x="3278868" y="5229409"/>
            <a:ext cx="899572" cy="25328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35BEB63-3444-7293-A9BA-C749865B0DEE}"/>
              </a:ext>
            </a:extLst>
          </p:cNvPr>
          <p:cNvSpPr/>
          <p:nvPr/>
        </p:nvSpPr>
        <p:spPr>
          <a:xfrm>
            <a:off x="1962500" y="5482694"/>
            <a:ext cx="899572" cy="20487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105D1C43-F261-11EF-566C-98049B5E033E}"/>
              </a:ext>
            </a:extLst>
          </p:cNvPr>
          <p:cNvSpPr/>
          <p:nvPr/>
        </p:nvSpPr>
        <p:spPr>
          <a:xfrm>
            <a:off x="7750459" y="4466088"/>
            <a:ext cx="471766" cy="26701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43E74064-7903-448D-E415-AB4B6B6BA2B5}"/>
              </a:ext>
            </a:extLst>
          </p:cNvPr>
          <p:cNvSpPr/>
          <p:nvPr/>
        </p:nvSpPr>
        <p:spPr>
          <a:xfrm>
            <a:off x="6727027" y="5847717"/>
            <a:ext cx="249846" cy="27335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</p:spTree>
    <p:extLst>
      <p:ext uri="{BB962C8B-B14F-4D97-AF65-F5344CB8AC3E}">
        <p14:creationId xmlns:p14="http://schemas.microsoft.com/office/powerpoint/2010/main" val="3178181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743F-1585-79F3-1290-17ED8D695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DD2BFBEF-8E72-C63A-15AB-AD1B850F0F62}"/>
              </a:ext>
            </a:extLst>
          </p:cNvPr>
          <p:cNvSpPr txBox="1">
            <a:spLocks/>
          </p:cNvSpPr>
          <p:nvPr/>
        </p:nvSpPr>
        <p:spPr>
          <a:xfrm>
            <a:off x="211736" y="141622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Wiederholung: Achsenspiegelung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1780EC57-1D70-8A7C-72FB-802D33F64CB9}"/>
              </a:ext>
            </a:extLst>
          </p:cNvPr>
          <p:cNvSpPr txBox="1">
            <a:spLocks/>
          </p:cNvSpPr>
          <p:nvPr/>
        </p:nvSpPr>
        <p:spPr>
          <a:xfrm>
            <a:off x="186090" y="778049"/>
            <a:ext cx="11327804" cy="53565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de-DE" sz="2000" b="1" dirty="0"/>
              <a:t>Aufgabe 4</a:t>
            </a:r>
          </a:p>
          <a:p>
            <a:pPr marL="0" indent="0" algn="just">
              <a:buNone/>
            </a:pPr>
            <a:r>
              <a:rPr lang="de-DE" sz="2000" dirty="0"/>
              <a:t>Schreibe in dein Heft. Fülle die 7 Lücken!</a:t>
            </a:r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r>
              <a:rPr lang="de-DE" sz="2000" b="1" dirty="0"/>
              <a:t>Übungsaufgaben &amp; HA</a:t>
            </a:r>
          </a:p>
          <a:p>
            <a:pPr algn="just"/>
            <a:r>
              <a:rPr lang="de-DE" sz="2000" dirty="0"/>
              <a:t>Buch S. 94, Nr. 9 bis 12</a:t>
            </a:r>
          </a:p>
          <a:p>
            <a:pPr algn="just"/>
            <a:r>
              <a:rPr lang="de-DE" sz="2000" dirty="0"/>
              <a:t>Arbeitsheft S.29</a:t>
            </a:r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</p:txBody>
      </p:sp>
      <p:pic>
        <p:nvPicPr>
          <p:cNvPr id="13" name="Grafik 12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7116A367-2B22-F5BC-2861-BAC0839DB0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363"/>
          <a:stretch>
            <a:fillRect/>
          </a:stretch>
        </p:blipFill>
        <p:spPr>
          <a:xfrm>
            <a:off x="211736" y="1514700"/>
            <a:ext cx="8811494" cy="1632294"/>
          </a:xfrm>
          <a:prstGeom prst="rect">
            <a:avLst/>
          </a:prstGeom>
        </p:spPr>
      </p:pic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755C27E3-4A05-0F1F-EA55-F5DEABF896B9}"/>
              </a:ext>
            </a:extLst>
          </p:cNvPr>
          <p:cNvSpPr/>
          <p:nvPr/>
        </p:nvSpPr>
        <p:spPr>
          <a:xfrm>
            <a:off x="7448816" y="3310758"/>
            <a:ext cx="978492" cy="32745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5A43414C-B395-59E0-BEDD-24CA434921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363"/>
          <a:stretch>
            <a:fillRect/>
          </a:stretch>
        </p:blipFill>
        <p:spPr>
          <a:xfrm>
            <a:off x="362006" y="3138144"/>
            <a:ext cx="8811493" cy="1632294"/>
          </a:xfrm>
          <a:prstGeom prst="rect">
            <a:avLst/>
          </a:prstGeom>
        </p:spPr>
      </p:pic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70341C1A-CB06-F378-6637-1B73E318EEE6}"/>
              </a:ext>
            </a:extLst>
          </p:cNvPr>
          <p:cNvSpPr/>
          <p:nvPr/>
        </p:nvSpPr>
        <p:spPr>
          <a:xfrm>
            <a:off x="3160111" y="2259600"/>
            <a:ext cx="963315" cy="1903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8C345699-248A-C645-9948-E4F33AED3479}"/>
              </a:ext>
            </a:extLst>
          </p:cNvPr>
          <p:cNvSpPr/>
          <p:nvPr/>
        </p:nvSpPr>
        <p:spPr>
          <a:xfrm>
            <a:off x="678106" y="2713408"/>
            <a:ext cx="745252" cy="23448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3EED6E10-F4DC-5A09-08EC-217293252565}"/>
              </a:ext>
            </a:extLst>
          </p:cNvPr>
          <p:cNvSpPr/>
          <p:nvPr/>
        </p:nvSpPr>
        <p:spPr>
          <a:xfrm>
            <a:off x="3971517" y="2442838"/>
            <a:ext cx="267184" cy="27057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4484FBDB-0575-6BE8-AA81-730E0F74C724}"/>
              </a:ext>
            </a:extLst>
          </p:cNvPr>
          <p:cNvSpPr/>
          <p:nvPr/>
        </p:nvSpPr>
        <p:spPr>
          <a:xfrm>
            <a:off x="5744643" y="2228535"/>
            <a:ext cx="820060" cy="25243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5260007D-C4EC-14F3-084E-C13C6A47C698}"/>
              </a:ext>
            </a:extLst>
          </p:cNvPr>
          <p:cNvSpPr/>
          <p:nvPr/>
        </p:nvSpPr>
        <p:spPr>
          <a:xfrm>
            <a:off x="8015307" y="3638212"/>
            <a:ext cx="844021" cy="34301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11924946-D785-6487-9D12-3FD9AB500349}"/>
              </a:ext>
            </a:extLst>
          </p:cNvPr>
          <p:cNvSpPr/>
          <p:nvPr/>
        </p:nvSpPr>
        <p:spPr>
          <a:xfrm>
            <a:off x="7828340" y="4025738"/>
            <a:ext cx="219443" cy="20738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5B2D5E35-14E6-C5D4-A4C6-5C7C15FEC671}"/>
              </a:ext>
            </a:extLst>
          </p:cNvPr>
          <p:cNvSpPr/>
          <p:nvPr/>
        </p:nvSpPr>
        <p:spPr>
          <a:xfrm>
            <a:off x="2130692" y="3939126"/>
            <a:ext cx="844021" cy="20738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 descr="Ein Bild, das Text, Origami enthält.&#10;&#10;KI-generierte Inhalte können fehlerhaft sein.">
            <a:extLst>
              <a:ext uri="{FF2B5EF4-FFF2-40B4-BE49-F238E27FC236}">
                <a16:creationId xmlns:a16="http://schemas.microsoft.com/office/drawing/2014/main" id="{CC976162-BFC8-A7B2-904D-8291B4C5F7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22" b="56020"/>
          <a:stretch>
            <a:fillRect/>
          </a:stretch>
        </p:blipFill>
        <p:spPr>
          <a:xfrm>
            <a:off x="3641768" y="4877854"/>
            <a:ext cx="3161775" cy="13386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Grafik 24" descr="Ein Bild, das Text, Origami enthält.&#10;&#10;KI-generierte Inhalte können fehlerhaft sein.">
            <a:extLst>
              <a:ext uri="{FF2B5EF4-FFF2-40B4-BE49-F238E27FC236}">
                <a16:creationId xmlns:a16="http://schemas.microsoft.com/office/drawing/2014/main" id="{F20FCD64-9804-FC14-B941-93512B1632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828"/>
          <a:stretch>
            <a:fillRect/>
          </a:stretch>
        </p:blipFill>
        <p:spPr>
          <a:xfrm>
            <a:off x="6997967" y="4877854"/>
            <a:ext cx="4235358" cy="17664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290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D9A79-4F64-6AF1-CEBD-0A216DEA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FE22BE25-984B-7AF3-4C01-F0B3633F00DC}"/>
              </a:ext>
            </a:extLst>
          </p:cNvPr>
          <p:cNvSpPr txBox="1">
            <a:spLocks/>
          </p:cNvSpPr>
          <p:nvPr/>
        </p:nvSpPr>
        <p:spPr>
          <a:xfrm>
            <a:off x="211736" y="141622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Wiederholung: Achsenspiegelung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B605FC50-ADA1-0E6A-2CC3-4E7AF5CBAD91}"/>
              </a:ext>
            </a:extLst>
          </p:cNvPr>
          <p:cNvSpPr txBox="1">
            <a:spLocks/>
          </p:cNvSpPr>
          <p:nvPr/>
        </p:nvSpPr>
        <p:spPr>
          <a:xfrm>
            <a:off x="148465" y="690897"/>
            <a:ext cx="11327804" cy="43962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de-DE" sz="2000" b="1" dirty="0"/>
              <a:t>Aufgabe </a:t>
            </a:r>
          </a:p>
        </p:txBody>
      </p:sp>
      <p:pic>
        <p:nvPicPr>
          <p:cNvPr id="4" name="Grafik 3" descr="Ein Bild, das Text, Screenshot, Cartoon enthält.&#10;&#10;KI-generierte Inhalte können fehlerhaft sein.">
            <a:extLst>
              <a:ext uri="{FF2B5EF4-FFF2-40B4-BE49-F238E27FC236}">
                <a16:creationId xmlns:a16="http://schemas.microsoft.com/office/drawing/2014/main" id="{E39361E8-78AB-BC2C-08DB-E072014FB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71" y="1187812"/>
            <a:ext cx="10887898" cy="340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126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59FFA-CB53-2E41-B295-6995E33AE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E5C95B1E-543F-86D6-A505-7DAC962D4EE4}"/>
              </a:ext>
            </a:extLst>
          </p:cNvPr>
          <p:cNvSpPr txBox="1">
            <a:spLocks/>
          </p:cNvSpPr>
          <p:nvPr/>
        </p:nvSpPr>
        <p:spPr>
          <a:xfrm>
            <a:off x="193623" y="425086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Wiederholung: Achsenspiegelung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21030813-6EB7-A10E-6DF4-C20A6368813F}"/>
              </a:ext>
            </a:extLst>
          </p:cNvPr>
          <p:cNvSpPr/>
          <p:nvPr/>
        </p:nvSpPr>
        <p:spPr>
          <a:xfrm>
            <a:off x="193623" y="1240970"/>
            <a:ext cx="11768527" cy="538225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b="1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1CD4DA6-533A-1C11-CF38-30C2128D053A}"/>
              </a:ext>
            </a:extLst>
          </p:cNvPr>
          <p:cNvSpPr txBox="1">
            <a:spLocks/>
          </p:cNvSpPr>
          <p:nvPr/>
        </p:nvSpPr>
        <p:spPr>
          <a:xfrm>
            <a:off x="423472" y="1559658"/>
            <a:ext cx="11327804" cy="43962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de-DE" sz="2000" b="1" dirty="0"/>
              <a:t>Übungsaufgaben &amp; HA </a:t>
            </a:r>
          </a:p>
          <a:p>
            <a:pPr algn="just"/>
            <a:r>
              <a:rPr lang="de-DE" sz="2000" dirty="0"/>
              <a:t>Buch S.97, Nr. 3</a:t>
            </a:r>
          </a:p>
          <a:p>
            <a:pPr algn="just"/>
            <a:r>
              <a:rPr lang="de-DE" sz="2000" dirty="0"/>
              <a:t>Arbeitsheft S.30</a:t>
            </a:r>
          </a:p>
          <a:p>
            <a:pPr algn="just"/>
            <a:r>
              <a:rPr lang="de-DE" sz="2000" b="1" dirty="0"/>
              <a:t>Bonus</a:t>
            </a:r>
            <a:r>
              <a:rPr lang="de-DE" sz="2000" dirty="0"/>
              <a:t>: Nr. 4</a:t>
            </a:r>
          </a:p>
          <a:p>
            <a:pPr algn="just"/>
            <a:endParaRPr lang="de-DE" sz="2000" b="1" dirty="0"/>
          </a:p>
          <a:p>
            <a:pPr algn="just"/>
            <a:endParaRPr lang="de-DE" sz="2000" b="1" dirty="0"/>
          </a:p>
        </p:txBody>
      </p:sp>
      <p:pic>
        <p:nvPicPr>
          <p:cNvPr id="10" name="Grafik 9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5EEBACB8-7346-AD53-4754-4D335152D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485" y="1559658"/>
            <a:ext cx="6972300" cy="3606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254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9E721-EB3B-BCB5-BE3B-CA6255C50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8D2655B-9794-C641-BFA5-6367C8865A9C}"/>
              </a:ext>
            </a:extLst>
          </p:cNvPr>
          <p:cNvSpPr txBox="1">
            <a:spLocks/>
          </p:cNvSpPr>
          <p:nvPr/>
        </p:nvSpPr>
        <p:spPr>
          <a:xfrm>
            <a:off x="193623" y="425086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Wiederholung: Zirkel &amp; Punkspiegelung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42FC0499-C856-06B5-5E9F-6DB0ABE3E14F}"/>
              </a:ext>
            </a:extLst>
          </p:cNvPr>
          <p:cNvSpPr txBox="1">
            <a:spLocks/>
          </p:cNvSpPr>
          <p:nvPr/>
        </p:nvSpPr>
        <p:spPr>
          <a:xfrm>
            <a:off x="193623" y="5078627"/>
            <a:ext cx="11768528" cy="15341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HA</a:t>
            </a:r>
            <a:r>
              <a:rPr lang="de-DE" dirty="0"/>
              <a:t> - Arbeitsheft</a:t>
            </a:r>
          </a:p>
          <a:p>
            <a:r>
              <a:rPr lang="de-DE" dirty="0"/>
              <a:t>S. 31 – Zirkel				-- WDH</a:t>
            </a:r>
          </a:p>
          <a:p>
            <a:r>
              <a:rPr lang="de-DE" dirty="0"/>
              <a:t>S. 32 – Punktspiegelung		-- WDH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9360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2C1B5-FD3F-140B-0240-6286CB10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9EC30369-1B87-EE63-02B2-F5EE2C8932EA}"/>
              </a:ext>
            </a:extLst>
          </p:cNvPr>
          <p:cNvSpPr txBox="1">
            <a:spLocks/>
          </p:cNvSpPr>
          <p:nvPr/>
        </p:nvSpPr>
        <p:spPr>
          <a:xfrm>
            <a:off x="193623" y="425086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Grundbegriffe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28678534-CDB9-14A7-825C-F99236BE0A48}"/>
              </a:ext>
            </a:extLst>
          </p:cNvPr>
          <p:cNvSpPr txBox="1">
            <a:spLocks/>
          </p:cNvSpPr>
          <p:nvPr/>
        </p:nvSpPr>
        <p:spPr>
          <a:xfrm>
            <a:off x="193623" y="5577840"/>
            <a:ext cx="11768528" cy="1034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HA - </a:t>
            </a:r>
            <a:r>
              <a:rPr lang="de-DE" dirty="0"/>
              <a:t>Arbeitsheft </a:t>
            </a:r>
          </a:p>
          <a:p>
            <a:r>
              <a:rPr lang="de-DE" dirty="0"/>
              <a:t>S. 33 bis 37 - Doppelspiegelung</a:t>
            </a:r>
          </a:p>
        </p:txBody>
      </p:sp>
    </p:spTree>
    <p:extLst>
      <p:ext uri="{BB962C8B-B14F-4D97-AF65-F5344CB8AC3E}">
        <p14:creationId xmlns:p14="http://schemas.microsoft.com/office/powerpoint/2010/main" val="2611820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Macintosh PowerPoint</Application>
  <PresentationFormat>Breitbild</PresentationFormat>
  <Paragraphs>63</Paragraphs>
  <Slides>10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ADLaM Display</vt:lpstr>
      <vt:lpstr>Aptos</vt:lpstr>
      <vt:lpstr>Aptos Display</vt:lpstr>
      <vt:lpstr>Arial</vt:lpstr>
      <vt:lpstr>Cavolini</vt:lpstr>
      <vt:lpstr>Office</vt:lpstr>
      <vt:lpstr>Reihenplan (5 Std. + Hü)</vt:lpstr>
      <vt:lpstr>Sitzordnung Computerraum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 Vera</dc:creator>
  <cp:lastModifiedBy>Christ Vera</cp:lastModifiedBy>
  <cp:revision>19</cp:revision>
  <dcterms:created xsi:type="dcterms:W3CDTF">2025-09-16T19:00:14Z</dcterms:created>
  <dcterms:modified xsi:type="dcterms:W3CDTF">2026-01-08T08:44:42Z</dcterms:modified>
</cp:coreProperties>
</file>